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6858000" cx="12192000"/>
  <p:notesSz cx="6858000" cy="12192000"/>
  <p:embeddedFontLst>
    <p:embeddedFont>
      <p:font typeface="Quattrocento Sans"/>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AFFE216-A6BE-4F68-9A93-46C4BCCC0CEF}">
  <a:tblStyle styleId="{7AFFE216-A6BE-4F68-9A93-46C4BCCC0CEF}"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QuattrocentoSans-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QuattrocentoSans-regular.fntdata"/><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QuattrocentoSans-italic.fntdata"/><Relationship Id="rId6" Type="http://schemas.openxmlformats.org/officeDocument/2006/relationships/slide" Target="slides/slide1.xml"/><Relationship Id="rId18" Type="http://schemas.openxmlformats.org/officeDocument/2006/relationships/font" Target="fonts/QuattrocentoSans-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Quattrocento Sans"/>
                <a:ea typeface="Quattrocento Sans"/>
                <a:cs typeface="Quattrocento Sans"/>
                <a:sym typeface="Quattrocento Sans"/>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Quattrocento Sans"/>
                <a:ea typeface="Quattrocento Sans"/>
                <a:cs typeface="Quattrocento Sans"/>
                <a:sym typeface="Quattrocento Sans"/>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Quattrocento Sans"/>
                <a:ea typeface="Quattrocento Sans"/>
                <a:cs typeface="Quattrocento Sans"/>
                <a:sym typeface="Quattrocento Sans"/>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Quattrocento Sans"/>
                <a:ea typeface="Quattrocento Sans"/>
                <a:cs typeface="Quattrocento Sans"/>
                <a:sym typeface="Quattrocento Sans"/>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Quattrocento Sans"/>
                <a:ea typeface="Quattrocento Sans"/>
                <a:cs typeface="Quattrocento Sans"/>
                <a:sym typeface="Quattrocento Sans"/>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Quattrocento Sans"/>
                <a:ea typeface="Quattrocento Sans"/>
                <a:cs typeface="Quattrocento Sans"/>
                <a:sym typeface="Quattrocento Sans"/>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Quattrocento Sans"/>
                <a:ea typeface="Quattrocento Sans"/>
                <a:cs typeface="Quattrocento Sans"/>
                <a:sym typeface="Quattrocento Sans"/>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Quattrocento Sans"/>
                <a:ea typeface="Quattrocento Sans"/>
                <a:cs typeface="Quattrocento Sans"/>
                <a:sym typeface="Quattrocento Sans"/>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Quattrocento Sans"/>
                <a:ea typeface="Quattrocento Sans"/>
                <a:cs typeface="Quattrocento Sans"/>
                <a:sym typeface="Quattrocento Sans"/>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Quattrocento Sans"/>
                <a:ea typeface="Quattrocento Sans"/>
                <a:cs typeface="Quattrocento Sans"/>
                <a:sym typeface="Quattrocento Sans"/>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Quattrocento Sans"/>
                <a:ea typeface="Quattrocento Sans"/>
                <a:cs typeface="Quattrocento Sans"/>
                <a:sym typeface="Quattrocento Sans"/>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Quattrocento Sans"/>
                <a:ea typeface="Quattrocento Sans"/>
                <a:cs typeface="Quattrocento Sans"/>
                <a:sym typeface="Quattrocento Sans"/>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Quattrocento Sans"/>
                <a:ea typeface="Quattrocento Sans"/>
                <a:cs typeface="Quattrocento Sans"/>
                <a:sym typeface="Quattrocento Sans"/>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Quattrocento Sans"/>
                <a:ea typeface="Quattrocento Sans"/>
                <a:cs typeface="Quattrocento Sans"/>
                <a:sym typeface="Quattrocento Sans"/>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Quattrocento Sans"/>
                <a:ea typeface="Quattrocento Sans"/>
                <a:cs typeface="Quattrocento Sans"/>
                <a:sym typeface="Quattrocento Sans"/>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Quattrocento Sans"/>
                <a:ea typeface="Quattrocento Sans"/>
                <a:cs typeface="Quattrocento Sans"/>
                <a:sym typeface="Quattrocento Sans"/>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Quattrocento Sans"/>
                <a:ea typeface="Quattrocento Sans"/>
                <a:cs typeface="Quattrocento Sans"/>
                <a:sym typeface="Quattrocento Sans"/>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Quattrocento Sans"/>
                <a:ea typeface="Quattrocento Sans"/>
                <a:cs typeface="Quattrocento Sans"/>
                <a:sym typeface="Quattrocento Sans"/>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Quattrocento Sans"/>
                <a:ea typeface="Quattrocento Sans"/>
                <a:cs typeface="Quattrocento Sans"/>
                <a:sym typeface="Quattrocento Sans"/>
              </a:defRPr>
            </a:lvl1pPr>
            <a:lvl2pPr indent="-228600" lvl="1" marL="9144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Quattrocento Sans"/>
                <a:ea typeface="Quattrocento Sans"/>
                <a:cs typeface="Quattrocento Sans"/>
                <a:sym typeface="Quattrocento Sans"/>
              </a:defRPr>
            </a:lvl2pPr>
            <a:lvl3pPr indent="-228600" lvl="2" marL="13716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Quattrocento Sans"/>
                <a:ea typeface="Quattrocento Sans"/>
                <a:cs typeface="Quattrocento Sans"/>
                <a:sym typeface="Quattrocento Sans"/>
              </a:defRPr>
            </a:lvl3pPr>
            <a:lvl4pPr indent="-228600" lvl="3" marL="18288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Quattrocento Sans"/>
                <a:ea typeface="Quattrocento Sans"/>
                <a:cs typeface="Quattrocento Sans"/>
                <a:sym typeface="Quattrocento Sans"/>
              </a:defRPr>
            </a:lvl4pPr>
            <a:lvl5pPr indent="-228600" lvl="4" marL="22860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Quattrocento Sans"/>
                <a:ea typeface="Quattrocento Sans"/>
                <a:cs typeface="Quattrocento Sans"/>
                <a:sym typeface="Quattrocento Sans"/>
              </a:defRPr>
            </a:lvl5pPr>
            <a:lvl6pPr indent="-228600" lvl="5" marL="27432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Quattrocento Sans"/>
                <a:ea typeface="Quattrocento Sans"/>
                <a:cs typeface="Quattrocento Sans"/>
                <a:sym typeface="Quattrocento Sans"/>
              </a:defRPr>
            </a:lvl6pPr>
            <a:lvl7pPr indent="-228600" lvl="6" marL="32004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Quattrocento Sans"/>
                <a:ea typeface="Quattrocento Sans"/>
                <a:cs typeface="Quattrocento Sans"/>
                <a:sym typeface="Quattrocento Sans"/>
              </a:defRPr>
            </a:lvl7pPr>
            <a:lvl8pPr indent="-228600" lvl="7" marL="36576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Quattrocento Sans"/>
                <a:ea typeface="Quattrocento Sans"/>
                <a:cs typeface="Quattrocento Sans"/>
                <a:sym typeface="Quattrocento Sans"/>
              </a:defRPr>
            </a:lvl8pPr>
            <a:lvl9pPr indent="-228600" lvl="8" marL="41148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Quattrocento Sans"/>
                <a:ea typeface="Quattrocento Sans"/>
                <a:cs typeface="Quattrocento Sans"/>
                <a:sym typeface="Quattrocento Sans"/>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Quattrocento Sans"/>
                <a:ea typeface="Quattrocento Sans"/>
                <a:cs typeface="Quattrocento Sans"/>
                <a:sym typeface="Quattrocento Sans"/>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Quattrocento Sans"/>
                <a:ea typeface="Quattrocento Sans"/>
                <a:cs typeface="Quattrocento Sans"/>
                <a:sym typeface="Quattrocento Sans"/>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Quattrocento Sans"/>
                <a:ea typeface="Quattrocento Sans"/>
                <a:cs typeface="Quattrocento Sans"/>
                <a:sym typeface="Quattrocento Sans"/>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Quattrocento Sans"/>
                <a:ea typeface="Quattrocento Sans"/>
                <a:cs typeface="Quattrocento Sans"/>
                <a:sym typeface="Quattrocento Sans"/>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Quattrocento Sans"/>
                <a:ea typeface="Quattrocento Sans"/>
                <a:cs typeface="Quattrocento Sans"/>
                <a:sym typeface="Quattrocento Sans"/>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Quattrocento Sans"/>
                <a:ea typeface="Quattrocento Sans"/>
                <a:cs typeface="Quattrocento Sans"/>
                <a:sym typeface="Quattrocento Sans"/>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Quattrocento Sans"/>
                <a:ea typeface="Quattrocento Sans"/>
                <a:cs typeface="Quattrocento Sans"/>
                <a:sym typeface="Quattrocento Sans"/>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Quattrocento Sans"/>
                <a:ea typeface="Quattrocento Sans"/>
                <a:cs typeface="Quattrocento Sans"/>
                <a:sym typeface="Quattrocento Sans"/>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Quattrocento Sans"/>
                <a:ea typeface="Quattrocento Sans"/>
                <a:cs typeface="Quattrocento Sans"/>
                <a:sym typeface="Quattrocento Sans"/>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pc="0" sz="1200" u="none" cap="none" strike="noStrike">
                <a:solidFill>
                  <a:schemeClr val="dk1"/>
                </a:solidFill>
                <a:latin typeface="Quattrocento Sans"/>
                <a:ea typeface="Quattrocento Sans"/>
                <a:cs typeface="Quattrocento Sans"/>
                <a:sym typeface="Quattrocento Sans"/>
              </a:rPr>
              <a:t>‹#›</a:t>
            </a:fld>
            <a:endParaRPr b="0" i="0" spc="0" sz="1200" u="none" cap="none" strike="noStrike">
              <a:solidFill>
                <a:schemeClr val="dk1"/>
              </a:solidFill>
              <a:latin typeface="Quattrocento Sans"/>
              <a:ea typeface="Quattrocento Sans"/>
              <a:cs typeface="Quattrocento Sans"/>
              <a:sym typeface="Quattrocento Sans"/>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 name="Shape 20"/>
        <p:cNvGrpSpPr/>
        <p:nvPr/>
      </p:nvGrpSpPr>
      <p:grpSpPr>
        <a:xfrm>
          <a:off x="0" y="0"/>
          <a:ext cx="0" cy="0"/>
          <a:chOff x="0" y="0"/>
          <a:chExt cx="0" cy="0"/>
        </a:xfrm>
      </p:grpSpPr>
      <p:sp>
        <p:nvSpPr>
          <p:cNvPr id="21" name="Google Shape;21;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 name="Google Shape;22;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Personne 1. Nous présentons ETICS au démarrage du projet : le besoin, la solution que nous prévoyons de construire, et les étapes de développement.</a:t>
            </a:r>
            <a:endParaRPr/>
          </a:p>
        </p:txBody>
      </p:sp>
      <p:sp>
        <p:nvSpPr>
          <p:cNvPr id="23" name="Google Shape;23;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 name="Shape 30"/>
        <p:cNvGrpSpPr/>
        <p:nvPr/>
      </p:nvGrpSpPr>
      <p:grpSpPr>
        <a:xfrm>
          <a:off x="0" y="0"/>
          <a:ext cx="0" cy="0"/>
          <a:chOff x="0" y="0"/>
          <a:chExt cx="0" cy="0"/>
        </a:xfrm>
      </p:grpSpPr>
      <p:sp>
        <p:nvSpPr>
          <p:cNvPr id="31" name="Google Shape;3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 name="Google Shape;3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Personne 1. Les rapports RSE sont longs, leurs chiffres sont dispersés et leur discours peut être critiquable sans être illégal. ETICS devra produire deux livrables. Contrainte forte : tout doit fonctionner en local.</a:t>
            </a:r>
            <a:endParaRPr/>
          </a:p>
        </p:txBody>
      </p:sp>
      <p:sp>
        <p:nvSpPr>
          <p:cNvPr id="33" name="Google Shape;33;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 name="Google Shape;7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Personne 2. Nous prévoyons d'accepter les formats courants des rapports, et les images par OCR pour les extraits courts. Chaque document sera lu, nettoyé puis découpé en passages, qui serviront de base à tout le reste.</a:t>
            </a:r>
            <a:endParaRPr/>
          </a:p>
        </p:txBody>
      </p:sp>
      <p:sp>
        <p:nvSpPr>
          <p:cNvPr id="72" name="Google Shape;72;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 name="Google Shape;11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Personne 2. Les 26 champs viennent du cahier des charges. Notre principe : aucune valeur sans preuve. Chaque valeur gardera la phrase du rapport qui la justifie, pour pouvoir être vérifiée.</a:t>
            </a:r>
            <a:endParaRPr/>
          </a:p>
        </p:txBody>
      </p:sp>
      <p:sp>
        <p:nvSpPr>
          <p:cNvPr id="120" name="Google Shape;120;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 name="Google Shape;14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Personne 3. Nous ne voulons pas d'un avis libre du LLM : la détection partira des dimensions éthiques du cahier des charges, que nous traduisons en 7 catégories (proposition de l'équipe) avec définition, exemple et lexique. Trois sources : le discours, les preuves données dans le texte et la cohérence des chiffres.</a:t>
            </a:r>
            <a:endParaRPr/>
          </a:p>
        </p:txBody>
      </p:sp>
      <p:sp>
        <p:nvSpPr>
          <p:cNvPr id="141" name="Google Shape;141;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 name="Google Shape;16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Personne 3. Le lexique servira à trier, pas à décider. Le LLM jugera avec une réponse structurée et devra citer sa preuve. Des règles déterministes vérifieront les cas où le LLM se trompe souvent. Les poids du score seront fixés après l'évaluation.</a:t>
            </a:r>
            <a:endParaRPr/>
          </a:p>
        </p:txBody>
      </p:sp>
      <p:sp>
        <p:nvSpPr>
          <p:cNvPr id="170" name="Google Shape;170;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 name="Google Shape;21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Personne 4. L'utilisateur déposera un rapport dans l'interface Streamlit, qui lancera le traitement Python. Le traitement interrogera le LLM local par HTTP et écrira tout dans SQLite ; l'interface affichera ensuite les résultats. Côté vocabulaire de l'énoncé : le LLM extrait et juge ; le principe du RAG (recherche BM25 puis réponse à partir des passages) sert à l'extraction et à l'assistant questions-réponses, qui joue le rôle de chatbot ; il n'y a pas d'agent autonome, seulement un agent de rattrapage prévu en perspective.</a:t>
            </a:r>
            <a:endParaRPr/>
          </a:p>
        </p:txBody>
      </p:sp>
      <p:sp>
        <p:nvSpPr>
          <p:cNvPr id="217" name="Google Shape;217;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 name="Google Shape;229;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Personne 4. Toutes les étapes partageront une seule base. Deux tables centrales : documents et passages. Chaque valeur et chaque jugement pointeront vers leur passage source : c'est ce qui rendra le système traçable.</a:t>
            </a:r>
            <a:endParaRPr/>
          </a:p>
        </p:txBody>
      </p:sp>
      <p:sp>
        <p:nvSpPr>
          <p:cNvPr id="230" name="Google Shape;230;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5" name="Google Shape;25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Personne 5. Le diagramme de classes décrit le modèle de données que nous allons implémenter : chaque boîte est une table, avec ses colonnes et ses clés, et les traits indiquent les relations.</a:t>
            </a:r>
            <a:endParaRPr/>
          </a:p>
        </p:txBody>
      </p:sp>
      <p:sp>
        <p:nvSpPr>
          <p:cNvPr id="256" name="Google Shape;256;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7" name="Google Shape;26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Personne 5. Le parcours prévu : déposer, laisser le traitement tourner en arrière-plan, consulter les résultats. L'évaluation se fera par une annotation humaine en aveugle, sans voir la réponse du système.</a:t>
            </a:r>
            <a:endParaRPr/>
          </a:p>
        </p:txBody>
      </p:sp>
      <p:sp>
        <p:nvSpPr>
          <p:cNvPr id="268" name="Google Shape;268;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5" name="Google Shape;305;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Personne 6. Le projet est en phase de conception. Les prochaines étapes suivent la chaîne de traitement : lecture, extraction, détection, interface, puis évaluation humaine. Nous avons identifié les risques principaux : la sévérité possible du LLM, la lenteur du calcul local et l'hétérogénéité des rapports.</a:t>
            </a:r>
            <a:endParaRPr/>
          </a:p>
        </p:txBody>
      </p:sp>
      <p:sp>
        <p:nvSpPr>
          <p:cNvPr id="306" name="Google Shape;306;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p:cSld name="TITRE">
    <p:bg>
      <p:bgPr>
        <a:solidFill>
          <a:srgbClr val="1D2E5C"/>
        </a:solidFill>
      </p:bgPr>
    </p:bg>
    <p:spTree>
      <p:nvGrpSpPr>
        <p:cNvPr id="11" name="Shape 11"/>
        <p:cNvGrpSpPr/>
        <p:nvPr/>
      </p:nvGrpSpPr>
      <p:grpSpPr>
        <a:xfrm>
          <a:off x="0" y="0"/>
          <a:ext cx="0" cy="0"/>
          <a:chOff x="0" y="0"/>
          <a:chExt cx="0" cy="0"/>
        </a:xfrm>
      </p:grpSpPr>
      <p:sp>
        <p:nvSpPr>
          <p:cNvPr id="12" name="Google Shape;12;p2"/>
          <p:cNvSpPr txBox="1"/>
          <p:nvPr>
            <p:ph type="title"/>
          </p:nvPr>
        </p:nvSpPr>
        <p:spPr>
          <a:xfrm>
            <a:off x="548640" y="2148840"/>
            <a:ext cx="10515600" cy="173736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lt1"/>
              </a:buClr>
              <a:buSzPts val="4000"/>
              <a:buFont typeface="Quattrocento Sans"/>
              <a:buNone/>
              <a:defRPr b="1" i="0" spc="0" sz="4000" u="none" cap="none" strike="noStrike">
                <a:solidFill>
                  <a:schemeClr val="lt1"/>
                </a:solidFill>
                <a:latin typeface="Quattrocento Sans"/>
                <a:ea typeface="Quattrocento Sans"/>
                <a:cs typeface="Quattrocento Sans"/>
                <a:sym typeface="Quattrocento Sans"/>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9pPr>
          </a:lstStyle>
          <a:p/>
        </p:txBody>
      </p:sp>
      <p:sp>
        <p:nvSpPr>
          <p:cNvPr id="13" name="Google Shape;13;p2"/>
          <p:cNvSpPr txBox="1"/>
          <p:nvPr>
            <p:ph idx="1" type="body"/>
          </p:nvPr>
        </p:nvSpPr>
        <p:spPr>
          <a:xfrm>
            <a:off x="548640" y="4160520"/>
            <a:ext cx="10515600" cy="173736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360"/>
              </a:spcBef>
              <a:spcAft>
                <a:spcPts val="0"/>
              </a:spcAft>
              <a:buClr>
                <a:schemeClr val="accent3"/>
              </a:buClr>
              <a:buSzPts val="1800"/>
              <a:buFont typeface="Arial"/>
              <a:buNone/>
              <a:defRPr b="0" i="0" spc="0" sz="1800" u="none" cap="none" strike="noStrike">
                <a:solidFill>
                  <a:schemeClr val="accent3"/>
                </a:solidFill>
                <a:latin typeface="Quattrocento Sans"/>
                <a:ea typeface="Quattrocento Sans"/>
                <a:cs typeface="Quattrocento Sans"/>
                <a:sym typeface="Quattrocento Sans"/>
              </a:defRPr>
            </a:lvl1pPr>
            <a:lvl2pPr indent="-406400" lvl="1" marL="914400" marR="0" rtl="0" algn="l">
              <a:lnSpc>
                <a:spcPct val="100000"/>
              </a:lnSpc>
              <a:spcBef>
                <a:spcPts val="560"/>
              </a:spcBef>
              <a:spcAft>
                <a:spcPts val="0"/>
              </a:spcAft>
              <a:buClr>
                <a:schemeClr val="dk1"/>
              </a:buClr>
              <a:buSzPts val="2800"/>
              <a:buFont typeface="Arial"/>
              <a:buChar char="–"/>
              <a:defRPr b="0" i="0" spc="0" sz="2800" u="none" cap="none" strike="noStrike">
                <a:solidFill>
                  <a:schemeClr val="dk1"/>
                </a:solidFill>
                <a:latin typeface="Quattrocento Sans"/>
                <a:ea typeface="Quattrocento Sans"/>
                <a:cs typeface="Quattrocento Sans"/>
                <a:sym typeface="Quattrocento Sans"/>
              </a:defRPr>
            </a:lvl2pPr>
            <a:lvl3pPr indent="-381000" lvl="2" marL="1371600" marR="0" rtl="0" algn="l">
              <a:lnSpc>
                <a:spcPct val="100000"/>
              </a:lnSpc>
              <a:spcBef>
                <a:spcPts val="480"/>
              </a:spcBef>
              <a:spcAft>
                <a:spcPts val="0"/>
              </a:spcAft>
              <a:buClr>
                <a:schemeClr val="dk1"/>
              </a:buClr>
              <a:buSzPts val="2400"/>
              <a:buFont typeface="Arial"/>
              <a:buChar char="•"/>
              <a:defRPr b="0" i="0" spc="0" sz="2400" u="none" cap="none" strike="noStrike">
                <a:solidFill>
                  <a:schemeClr val="dk1"/>
                </a:solidFill>
                <a:latin typeface="Quattrocento Sans"/>
                <a:ea typeface="Quattrocento Sans"/>
                <a:cs typeface="Quattrocento Sans"/>
                <a:sym typeface="Quattrocento Sans"/>
              </a:defRPr>
            </a:lvl3pPr>
            <a:lvl4pPr indent="-355600" lvl="3" marL="18288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Quattrocento Sans"/>
                <a:ea typeface="Quattrocento Sans"/>
                <a:cs typeface="Quattrocento Sans"/>
                <a:sym typeface="Quattrocento Sans"/>
              </a:defRPr>
            </a:lvl4pPr>
            <a:lvl5pPr indent="-355600" lvl="4" marL="22860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Quattrocento Sans"/>
                <a:ea typeface="Quattrocento Sans"/>
                <a:cs typeface="Quattrocento Sans"/>
                <a:sym typeface="Quattrocento Sans"/>
              </a:defRPr>
            </a:lvl5pPr>
            <a:lvl6pPr indent="-355600" lvl="5" marL="27432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Quattrocento Sans"/>
                <a:ea typeface="Quattrocento Sans"/>
                <a:cs typeface="Quattrocento Sans"/>
                <a:sym typeface="Quattrocento Sans"/>
              </a:defRPr>
            </a:lvl6pPr>
            <a:lvl7pPr indent="-355600" lvl="6" marL="32004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Quattrocento Sans"/>
                <a:ea typeface="Quattrocento Sans"/>
                <a:cs typeface="Quattrocento Sans"/>
                <a:sym typeface="Quattrocento Sans"/>
              </a:defRPr>
            </a:lvl7pPr>
            <a:lvl8pPr indent="-355600" lvl="7" marL="36576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Quattrocento Sans"/>
                <a:ea typeface="Quattrocento Sans"/>
                <a:cs typeface="Quattrocento Sans"/>
                <a:sym typeface="Quattrocento Sans"/>
              </a:defRPr>
            </a:lvl8pPr>
            <a:lvl9pPr indent="-355600" lvl="8" marL="41148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Quattrocento Sans"/>
                <a:ea typeface="Quattrocento Sans"/>
                <a:cs typeface="Quattrocento Sans"/>
                <a:sym typeface="Quattrocento Sans"/>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
  <p:cSld name="CONTENU">
    <p:bg>
      <p:bgPr>
        <a:solidFill>
          <a:srgbClr val="FFFFFF"/>
        </a:solidFill>
      </p:bgPr>
    </p:bg>
    <p:spTree>
      <p:nvGrpSpPr>
        <p:cNvPr id="14" name="Shape 14"/>
        <p:cNvGrpSpPr/>
        <p:nvPr/>
      </p:nvGrpSpPr>
      <p:grpSpPr>
        <a:xfrm>
          <a:off x="0" y="0"/>
          <a:ext cx="0" cy="0"/>
          <a:chOff x="0" y="0"/>
          <a:chExt cx="0" cy="0"/>
        </a:xfrm>
      </p:grpSpPr>
      <p:sp>
        <p:nvSpPr>
          <p:cNvPr id="15" name="Google Shape;15;p3"/>
          <p:cNvSpPr/>
          <p:nvPr/>
        </p:nvSpPr>
        <p:spPr>
          <a:xfrm>
            <a:off x="0" y="0"/>
            <a:ext cx="12191695" cy="109728"/>
          </a:xfrm>
          <a:prstGeom prst="rect">
            <a:avLst/>
          </a:prstGeom>
          <a:solidFill>
            <a:srgbClr val="1D2E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6" name="Google Shape;16;p3"/>
          <p:cNvSpPr txBox="1"/>
          <p:nvPr>
            <p:ph type="title"/>
          </p:nvPr>
        </p:nvSpPr>
        <p:spPr>
          <a:xfrm>
            <a:off x="548640" y="566928"/>
            <a:ext cx="11094415" cy="77724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dk2"/>
              </a:buClr>
              <a:buSzPts val="2800"/>
              <a:buFont typeface="Quattrocento Sans"/>
              <a:buNone/>
              <a:defRPr b="1" i="0" spc="0" sz="2800" u="none" cap="none" strike="noStrike">
                <a:solidFill>
                  <a:schemeClr val="dk2"/>
                </a:solidFill>
                <a:latin typeface="Quattrocento Sans"/>
                <a:ea typeface="Quattrocento Sans"/>
                <a:cs typeface="Quattrocento Sans"/>
                <a:sym typeface="Quattrocento Sans"/>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9pPr>
          </a:lstStyle>
          <a:p/>
        </p:txBody>
      </p:sp>
      <p:sp>
        <p:nvSpPr>
          <p:cNvPr id="17" name="Google Shape;17;p3"/>
          <p:cNvSpPr/>
          <p:nvPr/>
        </p:nvSpPr>
        <p:spPr>
          <a:xfrm>
            <a:off x="548640" y="6446520"/>
            <a:ext cx="64008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2636C"/>
              </a:buClr>
              <a:buSzPts val="1100"/>
              <a:buFont typeface="Quattrocento Sans"/>
              <a:buNone/>
            </a:pPr>
            <a:r>
              <a:rPr b="0" i="0" lang="en-US" spc="0" sz="1100" u="none" cap="none" strike="noStrike">
                <a:solidFill>
                  <a:srgbClr val="62636C"/>
                </a:solidFill>
                <a:latin typeface="Quattrocento Sans"/>
                <a:ea typeface="Quattrocento Sans"/>
                <a:cs typeface="Quattrocento Sans"/>
                <a:sym typeface="Quattrocento Sans"/>
              </a:rPr>
              <a:t>ETICS · Projet annuel Data · M2 EID2 · USPN</a:t>
            </a:r>
            <a:endParaRPr b="0" i="0" spc="0" sz="1100" u="none" cap="none" strike="noStrike">
              <a:solidFill>
                <a:schemeClr val="dk1"/>
              </a:solidFill>
              <a:latin typeface="Quattrocento Sans"/>
              <a:ea typeface="Quattrocento Sans"/>
              <a:cs typeface="Quattrocento Sans"/>
              <a:sym typeface="Quattrocento Sans"/>
            </a:endParaRPr>
          </a:p>
        </p:txBody>
      </p:sp>
      <p:sp>
        <p:nvSpPr>
          <p:cNvPr id="18" name="Google Shape;18;p3"/>
          <p:cNvSpPr txBox="1"/>
          <p:nvPr>
            <p:ph idx="12" type="sldNum"/>
          </p:nvPr>
        </p:nvSpPr>
        <p:spPr>
          <a:xfrm>
            <a:off x="11185855" y="6428232"/>
            <a:ext cx="457200" cy="27432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100"/>
              <a:buFont typeface="Arial"/>
              <a:buNone/>
              <a:defRPr b="0" i="0" spc="0" sz="1100" u="none" cap="none" strike="noStrike">
                <a:solidFill>
                  <a:schemeClr val="accent4"/>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100"/>
              <a:buFont typeface="Arial"/>
              <a:buNone/>
              <a:defRPr b="0" i="0" spc="0" sz="1100" u="none" cap="none" strike="noStrike">
                <a:solidFill>
                  <a:schemeClr val="accent4"/>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100"/>
              <a:buFont typeface="Arial"/>
              <a:buNone/>
              <a:defRPr b="0" i="0" spc="0" sz="1100" u="none" cap="none" strike="noStrike">
                <a:solidFill>
                  <a:schemeClr val="accent4"/>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100"/>
              <a:buFont typeface="Arial"/>
              <a:buNone/>
              <a:defRPr b="0" i="0" spc="0" sz="1100" u="none" cap="none" strike="noStrike">
                <a:solidFill>
                  <a:schemeClr val="accent4"/>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100"/>
              <a:buFont typeface="Arial"/>
              <a:buNone/>
              <a:defRPr b="0" i="0" spc="0" sz="1100" u="none" cap="none" strike="noStrike">
                <a:solidFill>
                  <a:schemeClr val="accent4"/>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100"/>
              <a:buFont typeface="Arial"/>
              <a:buNone/>
              <a:defRPr b="0" i="0" spc="0" sz="1100" u="none" cap="none" strike="noStrike">
                <a:solidFill>
                  <a:schemeClr val="accent4"/>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100"/>
              <a:buFont typeface="Arial"/>
              <a:buNone/>
              <a:defRPr b="0" i="0" spc="0" sz="1100" u="none" cap="none" strike="noStrike">
                <a:solidFill>
                  <a:schemeClr val="accent4"/>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100"/>
              <a:buFont typeface="Arial"/>
              <a:buNone/>
              <a:defRPr b="0" i="0" spc="0" sz="1100" u="none" cap="none" strike="noStrike">
                <a:solidFill>
                  <a:schemeClr val="accent4"/>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100"/>
              <a:buFont typeface="Arial"/>
              <a:buNone/>
              <a:defRPr b="0" i="0" spc="0" sz="1100" u="none" cap="none" strike="noStrike">
                <a:solidFill>
                  <a:schemeClr val="accent4"/>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9" name="Shape 19"/>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
        <p:nvSpPr>
          <p:cNvPr id="10" name="Google Shape;10;p1"/>
          <p:cNvSpPr txBox="1"/>
          <p:nvPr>
            <p:ph idx="12" type="sldNum"/>
          </p:nvPr>
        </p:nvSpPr>
        <p:spPr>
          <a:xfrm>
            <a:off x="11185855" y="6428232"/>
            <a:ext cx="457200" cy="27432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100"/>
              <a:buFont typeface="Arial"/>
              <a:buNone/>
              <a:defRPr b="0" i="0" spc="0" sz="1100" u="none" cap="none" strike="noStrike">
                <a:solidFill>
                  <a:schemeClr val="accent4"/>
                </a:solidFill>
                <a:latin typeface="Quattrocento Sans"/>
                <a:ea typeface="Quattrocento Sans"/>
                <a:cs typeface="Quattrocento Sans"/>
                <a:sym typeface="Quattrocento Sans"/>
              </a:defRPr>
            </a:lvl1pPr>
            <a:lvl2pPr indent="0" lvl="1" marL="0" marR="0" rtl="0" algn="r">
              <a:lnSpc>
                <a:spcPct val="100000"/>
              </a:lnSpc>
              <a:spcBef>
                <a:spcPts val="0"/>
              </a:spcBef>
              <a:spcAft>
                <a:spcPts val="0"/>
              </a:spcAft>
              <a:buClr>
                <a:srgbClr val="000000"/>
              </a:buClr>
              <a:buSzPts val="1100"/>
              <a:buFont typeface="Arial"/>
              <a:buNone/>
              <a:defRPr b="0" i="0" spc="0" sz="1100" u="none" cap="none" strike="noStrike">
                <a:solidFill>
                  <a:schemeClr val="accent4"/>
                </a:solidFill>
                <a:latin typeface="Quattrocento Sans"/>
                <a:ea typeface="Quattrocento Sans"/>
                <a:cs typeface="Quattrocento Sans"/>
                <a:sym typeface="Quattrocento Sans"/>
              </a:defRPr>
            </a:lvl2pPr>
            <a:lvl3pPr indent="0" lvl="2" marL="0" marR="0" rtl="0" algn="r">
              <a:lnSpc>
                <a:spcPct val="100000"/>
              </a:lnSpc>
              <a:spcBef>
                <a:spcPts val="0"/>
              </a:spcBef>
              <a:spcAft>
                <a:spcPts val="0"/>
              </a:spcAft>
              <a:buClr>
                <a:srgbClr val="000000"/>
              </a:buClr>
              <a:buSzPts val="1100"/>
              <a:buFont typeface="Arial"/>
              <a:buNone/>
              <a:defRPr b="0" i="0" spc="0" sz="1100" u="none" cap="none" strike="noStrike">
                <a:solidFill>
                  <a:schemeClr val="accent4"/>
                </a:solidFill>
                <a:latin typeface="Quattrocento Sans"/>
                <a:ea typeface="Quattrocento Sans"/>
                <a:cs typeface="Quattrocento Sans"/>
                <a:sym typeface="Quattrocento Sans"/>
              </a:defRPr>
            </a:lvl3pPr>
            <a:lvl4pPr indent="0" lvl="3" marL="0" marR="0" rtl="0" algn="r">
              <a:lnSpc>
                <a:spcPct val="100000"/>
              </a:lnSpc>
              <a:spcBef>
                <a:spcPts val="0"/>
              </a:spcBef>
              <a:spcAft>
                <a:spcPts val="0"/>
              </a:spcAft>
              <a:buClr>
                <a:srgbClr val="000000"/>
              </a:buClr>
              <a:buSzPts val="1100"/>
              <a:buFont typeface="Arial"/>
              <a:buNone/>
              <a:defRPr b="0" i="0" spc="0" sz="1100" u="none" cap="none" strike="noStrike">
                <a:solidFill>
                  <a:schemeClr val="accent4"/>
                </a:solidFill>
                <a:latin typeface="Quattrocento Sans"/>
                <a:ea typeface="Quattrocento Sans"/>
                <a:cs typeface="Quattrocento Sans"/>
                <a:sym typeface="Quattrocento Sans"/>
              </a:defRPr>
            </a:lvl4pPr>
            <a:lvl5pPr indent="0" lvl="4" marL="0" marR="0" rtl="0" algn="r">
              <a:lnSpc>
                <a:spcPct val="100000"/>
              </a:lnSpc>
              <a:spcBef>
                <a:spcPts val="0"/>
              </a:spcBef>
              <a:spcAft>
                <a:spcPts val="0"/>
              </a:spcAft>
              <a:buClr>
                <a:srgbClr val="000000"/>
              </a:buClr>
              <a:buSzPts val="1100"/>
              <a:buFont typeface="Arial"/>
              <a:buNone/>
              <a:defRPr b="0" i="0" spc="0" sz="1100" u="none" cap="none" strike="noStrike">
                <a:solidFill>
                  <a:schemeClr val="accent4"/>
                </a:solidFill>
                <a:latin typeface="Quattrocento Sans"/>
                <a:ea typeface="Quattrocento Sans"/>
                <a:cs typeface="Quattrocento Sans"/>
                <a:sym typeface="Quattrocento Sans"/>
              </a:defRPr>
            </a:lvl5pPr>
            <a:lvl6pPr indent="0" lvl="5" marL="0" marR="0" rtl="0" algn="r">
              <a:lnSpc>
                <a:spcPct val="100000"/>
              </a:lnSpc>
              <a:spcBef>
                <a:spcPts val="0"/>
              </a:spcBef>
              <a:spcAft>
                <a:spcPts val="0"/>
              </a:spcAft>
              <a:buClr>
                <a:srgbClr val="000000"/>
              </a:buClr>
              <a:buSzPts val="1100"/>
              <a:buFont typeface="Arial"/>
              <a:buNone/>
              <a:defRPr b="0" i="0" spc="0" sz="1100" u="none" cap="none" strike="noStrike">
                <a:solidFill>
                  <a:schemeClr val="accent4"/>
                </a:solidFill>
                <a:latin typeface="Quattrocento Sans"/>
                <a:ea typeface="Quattrocento Sans"/>
                <a:cs typeface="Quattrocento Sans"/>
                <a:sym typeface="Quattrocento Sans"/>
              </a:defRPr>
            </a:lvl6pPr>
            <a:lvl7pPr indent="0" lvl="6" marL="0" marR="0" rtl="0" algn="r">
              <a:lnSpc>
                <a:spcPct val="100000"/>
              </a:lnSpc>
              <a:spcBef>
                <a:spcPts val="0"/>
              </a:spcBef>
              <a:spcAft>
                <a:spcPts val="0"/>
              </a:spcAft>
              <a:buClr>
                <a:srgbClr val="000000"/>
              </a:buClr>
              <a:buSzPts val="1100"/>
              <a:buFont typeface="Arial"/>
              <a:buNone/>
              <a:defRPr b="0" i="0" spc="0" sz="1100" u="none" cap="none" strike="noStrike">
                <a:solidFill>
                  <a:schemeClr val="accent4"/>
                </a:solidFill>
                <a:latin typeface="Quattrocento Sans"/>
                <a:ea typeface="Quattrocento Sans"/>
                <a:cs typeface="Quattrocento Sans"/>
                <a:sym typeface="Quattrocento Sans"/>
              </a:defRPr>
            </a:lvl7pPr>
            <a:lvl8pPr indent="0" lvl="7" marL="0" marR="0" rtl="0" algn="r">
              <a:lnSpc>
                <a:spcPct val="100000"/>
              </a:lnSpc>
              <a:spcBef>
                <a:spcPts val="0"/>
              </a:spcBef>
              <a:spcAft>
                <a:spcPts val="0"/>
              </a:spcAft>
              <a:buClr>
                <a:srgbClr val="000000"/>
              </a:buClr>
              <a:buSzPts val="1100"/>
              <a:buFont typeface="Arial"/>
              <a:buNone/>
              <a:defRPr b="0" i="0" spc="0" sz="1100" u="none" cap="none" strike="noStrike">
                <a:solidFill>
                  <a:schemeClr val="accent4"/>
                </a:solidFill>
                <a:latin typeface="Quattrocento Sans"/>
                <a:ea typeface="Quattrocento Sans"/>
                <a:cs typeface="Quattrocento Sans"/>
                <a:sym typeface="Quattrocento Sans"/>
              </a:defRPr>
            </a:lvl8pPr>
            <a:lvl9pPr indent="0" lvl="8" marL="0" marR="0" rtl="0" algn="r">
              <a:lnSpc>
                <a:spcPct val="100000"/>
              </a:lnSpc>
              <a:spcBef>
                <a:spcPts val="0"/>
              </a:spcBef>
              <a:spcAft>
                <a:spcPts val="0"/>
              </a:spcAft>
              <a:buClr>
                <a:srgbClr val="000000"/>
              </a:buClr>
              <a:buSzPts val="1100"/>
              <a:buFont typeface="Arial"/>
              <a:buNone/>
              <a:defRPr b="0" i="0" spc="0" sz="1100" u="none" cap="none" strike="noStrike">
                <a:solidFill>
                  <a:schemeClr val="accent4"/>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6.jpg"/><Relationship Id="rId4" Type="http://schemas.openxmlformats.org/officeDocument/2006/relationships/image" Target="../media/image27.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4.png"/><Relationship Id="rId5" Type="http://schemas.openxmlformats.org/officeDocument/2006/relationships/image" Target="../media/image5.png"/><Relationship Id="rId6" Type="http://schemas.openxmlformats.org/officeDocument/2006/relationships/image" Target="../media/image2.png"/><Relationship Id="rId7" Type="http://schemas.openxmlformats.org/officeDocument/2006/relationships/image" Target="../media/image2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14.png"/><Relationship Id="rId5" Type="http://schemas.openxmlformats.org/officeDocument/2006/relationships/image" Target="../media/image4.png"/><Relationship Id="rId6" Type="http://schemas.openxmlformats.org/officeDocument/2006/relationships/image" Target="../media/image13.png"/><Relationship Id="rId7"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6.png"/><Relationship Id="rId5" Type="http://schemas.openxmlformats.org/officeDocument/2006/relationships/image" Target="../media/image12.png"/><Relationship Id="rId6" Type="http://schemas.openxmlformats.org/officeDocument/2006/relationships/image" Target="../media/image8.png"/><Relationship Id="rId7" Type="http://schemas.openxmlformats.org/officeDocument/2006/relationships/image" Target="../media/image1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2.png"/><Relationship Id="rId4" Type="http://schemas.openxmlformats.org/officeDocument/2006/relationships/image" Target="../media/image15.png"/><Relationship Id="rId5" Type="http://schemas.openxmlformats.org/officeDocument/2006/relationships/image" Target="../media/image2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0.png"/><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 name="Shape 24"/>
        <p:cNvGrpSpPr/>
        <p:nvPr/>
      </p:nvGrpSpPr>
      <p:grpSpPr>
        <a:xfrm>
          <a:off x="0" y="0"/>
          <a:ext cx="0" cy="0"/>
          <a:chOff x="0" y="0"/>
          <a:chExt cx="0" cy="0"/>
        </a:xfrm>
      </p:grpSpPr>
      <p:sp>
        <p:nvSpPr>
          <p:cNvPr id="25" name="Google Shape;25;p5"/>
          <p:cNvSpPr txBox="1"/>
          <p:nvPr>
            <p:ph type="title"/>
          </p:nvPr>
        </p:nvSpPr>
        <p:spPr>
          <a:xfrm>
            <a:off x="423390" y="1647790"/>
            <a:ext cx="10515600" cy="17373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chemeClr val="lt1"/>
              </a:buClr>
              <a:buSzPts val="5400"/>
              <a:buFont typeface="Quattrocento Sans"/>
              <a:buNone/>
            </a:pPr>
            <a:r>
              <a:rPr b="1" lang="en-US" sz="5400">
                <a:solidFill>
                  <a:schemeClr val="lt1"/>
                </a:solidFill>
              </a:rPr>
              <a:t>ETICS</a:t>
            </a:r>
            <a:endParaRPr sz="4000"/>
          </a:p>
          <a:p>
            <a:pPr indent="0" lvl="0" marL="0" rtl="0" algn="l">
              <a:lnSpc>
                <a:spcPct val="100000"/>
              </a:lnSpc>
              <a:spcBef>
                <a:spcPts val="0"/>
              </a:spcBef>
              <a:spcAft>
                <a:spcPts val="0"/>
              </a:spcAft>
              <a:buClr>
                <a:schemeClr val="lt1"/>
              </a:buClr>
              <a:buSzPts val="2600"/>
              <a:buFont typeface="Quattrocento Sans"/>
              <a:buNone/>
            </a:pPr>
            <a:r>
              <a:rPr b="1" lang="en-US" sz="2600">
                <a:solidFill>
                  <a:schemeClr val="lt1"/>
                </a:solidFill>
              </a:rPr>
              <a:t>Extraction et détection automatisée de la toxicité éthique dans les rapports RSE</a:t>
            </a:r>
            <a:r>
              <a:rPr lang="en-US" sz="2600"/>
              <a:t> ( phase de conception)</a:t>
            </a:r>
            <a:endParaRPr sz="2600"/>
          </a:p>
        </p:txBody>
      </p:sp>
      <p:sp>
        <p:nvSpPr>
          <p:cNvPr id="26" name="Google Shape;26;p5"/>
          <p:cNvSpPr txBox="1"/>
          <p:nvPr>
            <p:ph idx="1" type="body"/>
          </p:nvPr>
        </p:nvSpPr>
        <p:spPr>
          <a:xfrm>
            <a:off x="2466575" y="3385100"/>
            <a:ext cx="7009500" cy="7479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accent3"/>
              </a:buClr>
              <a:buSzPts val="1800"/>
              <a:buNone/>
            </a:pPr>
            <a:r>
              <a:t/>
            </a:r>
            <a:endParaRPr sz="1800"/>
          </a:p>
          <a:p>
            <a:pPr indent="0" lvl="0" marL="0" rtl="0" algn="l">
              <a:lnSpc>
                <a:spcPct val="100000"/>
              </a:lnSpc>
              <a:spcBef>
                <a:spcPts val="360"/>
              </a:spcBef>
              <a:spcAft>
                <a:spcPts val="0"/>
              </a:spcAft>
              <a:buClr>
                <a:schemeClr val="accent3"/>
              </a:buClr>
              <a:buSzPts val="1800"/>
              <a:buNone/>
            </a:pPr>
            <a:r>
              <a:rPr lang="en-US" sz="1800">
                <a:solidFill>
                  <a:schemeClr val="accent3"/>
                </a:solidFill>
              </a:rPr>
              <a:t>Projet annuel Data · Master 2 EID2 · USPN · Encadrant : M. F. Boufarès</a:t>
            </a:r>
            <a:endParaRPr/>
          </a:p>
        </p:txBody>
      </p:sp>
      <p:sp>
        <p:nvSpPr>
          <p:cNvPr id="27" name="Google Shape;27;p5"/>
          <p:cNvSpPr/>
          <p:nvPr/>
        </p:nvSpPr>
        <p:spPr>
          <a:xfrm>
            <a:off x="1484375" y="4233800"/>
            <a:ext cx="8973900" cy="1841400"/>
          </a:xfrm>
          <a:prstGeom prst="roundRect">
            <a:avLst>
              <a:gd fmla="val 16667" name="adj"/>
            </a:avLst>
          </a:prstGeom>
          <a:solidFill>
            <a:srgbClr val="A2C4C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360"/>
              </a:spcBef>
              <a:spcAft>
                <a:spcPts val="0"/>
              </a:spcAft>
              <a:buClr>
                <a:srgbClr val="000000"/>
              </a:buClr>
              <a:buSzPts val="1800"/>
              <a:buFont typeface="Arial"/>
              <a:buNone/>
            </a:pPr>
            <a:r>
              <a:rPr b="0" i="0" lang="en-US" spc="0" sz="1800" u="none" cap="none" strike="noStrike">
                <a:solidFill>
                  <a:schemeClr val="lt1"/>
                </a:solidFill>
                <a:latin typeface="Quattrocento Sans"/>
                <a:ea typeface="Quattrocento Sans"/>
                <a:cs typeface="Quattrocento Sans"/>
                <a:sym typeface="Quattrocento Sans"/>
              </a:rPr>
              <a:t>OUDIHAT Yamina                                                        BOUKERCHI Melissa</a:t>
            </a:r>
            <a:endParaRPr b="0" i="0" spc="0" sz="1800" u="none" cap="none" strike="noStrike">
              <a:solidFill>
                <a:schemeClr val="lt1"/>
              </a:solidFill>
              <a:latin typeface="Quattrocento Sans"/>
              <a:ea typeface="Quattrocento Sans"/>
              <a:cs typeface="Quattrocento Sans"/>
              <a:sym typeface="Quattrocento Sans"/>
            </a:endParaRPr>
          </a:p>
          <a:p>
            <a:pPr indent="0" lvl="0" marL="0" marR="0" rtl="0" algn="ctr">
              <a:lnSpc>
                <a:spcPct val="100000"/>
              </a:lnSpc>
              <a:spcBef>
                <a:spcPts val="360"/>
              </a:spcBef>
              <a:spcAft>
                <a:spcPts val="0"/>
              </a:spcAft>
              <a:buClr>
                <a:srgbClr val="000000"/>
              </a:buClr>
              <a:buSzPts val="1800"/>
              <a:buFont typeface="Arial"/>
              <a:buNone/>
            </a:pPr>
            <a:r>
              <a:rPr b="0" i="0" lang="en-US" spc="0" sz="1800" u="none" cap="none" strike="noStrike">
                <a:solidFill>
                  <a:schemeClr val="lt1"/>
                </a:solidFill>
                <a:latin typeface="Quattrocento Sans"/>
                <a:ea typeface="Quattrocento Sans"/>
                <a:cs typeface="Quattrocento Sans"/>
                <a:sym typeface="Quattrocento Sans"/>
              </a:rPr>
              <a:t>ADAMOU MOUSSA Hassane                                     DIAWARA Mohamed Idrissa</a:t>
            </a:r>
            <a:endParaRPr b="0" i="0" spc="0" sz="1800" u="none" cap="none" strike="noStrike">
              <a:solidFill>
                <a:schemeClr val="lt1"/>
              </a:solidFill>
              <a:latin typeface="Quattrocento Sans"/>
              <a:ea typeface="Quattrocento Sans"/>
              <a:cs typeface="Quattrocento Sans"/>
              <a:sym typeface="Quattrocento Sans"/>
            </a:endParaRPr>
          </a:p>
          <a:p>
            <a:pPr indent="0" lvl="0" marL="0" marR="0" rtl="0" algn="ctr">
              <a:lnSpc>
                <a:spcPct val="100000"/>
              </a:lnSpc>
              <a:spcBef>
                <a:spcPts val="360"/>
              </a:spcBef>
              <a:spcAft>
                <a:spcPts val="0"/>
              </a:spcAft>
              <a:buClr>
                <a:srgbClr val="000000"/>
              </a:buClr>
              <a:buSzPts val="1800"/>
              <a:buFont typeface="Arial"/>
              <a:buNone/>
            </a:pPr>
            <a:r>
              <a:rPr b="0" i="0" lang="en-US" spc="0" sz="1800" u="none" cap="none" strike="noStrike">
                <a:solidFill>
                  <a:schemeClr val="lt1"/>
                </a:solidFill>
                <a:latin typeface="Quattrocento Sans"/>
                <a:ea typeface="Quattrocento Sans"/>
                <a:cs typeface="Quattrocento Sans"/>
                <a:sym typeface="Quattrocento Sans"/>
              </a:rPr>
              <a:t>DIABIRA Issa                                                                 SIDIBE Mamoudou</a:t>
            </a:r>
            <a:endParaRPr b="0" i="0" spc="0" sz="1400" u="none" cap="none" strike="noStrike">
              <a:solidFill>
                <a:schemeClr val="lt1"/>
              </a:solidFill>
              <a:latin typeface="Arial"/>
              <a:ea typeface="Arial"/>
              <a:cs typeface="Arial"/>
              <a:sym typeface="Arial"/>
            </a:endParaRPr>
          </a:p>
        </p:txBody>
      </p:sp>
      <p:pic>
        <p:nvPicPr>
          <p:cNvPr id="28" name="Google Shape;28;p5" title="logoUSPN_avec-marges.jpg"/>
          <p:cNvPicPr preferRelativeResize="0"/>
          <p:nvPr/>
        </p:nvPicPr>
        <p:blipFill>
          <a:blip r:embed="rId3">
            <a:alphaModFix/>
          </a:blip>
          <a:stretch>
            <a:fillRect/>
          </a:stretch>
        </p:blipFill>
        <p:spPr>
          <a:xfrm>
            <a:off x="423400" y="207200"/>
            <a:ext cx="2084449" cy="1104900"/>
          </a:xfrm>
          <a:prstGeom prst="rect">
            <a:avLst/>
          </a:prstGeom>
          <a:noFill/>
          <a:ln>
            <a:noFill/>
          </a:ln>
        </p:spPr>
      </p:pic>
      <p:pic>
        <p:nvPicPr>
          <p:cNvPr id="29" name="Google Shape;29;p5" title="logo-ig-ipad.jpg"/>
          <p:cNvPicPr preferRelativeResize="0"/>
          <p:nvPr/>
        </p:nvPicPr>
        <p:blipFill>
          <a:blip r:embed="rId4">
            <a:alphaModFix/>
          </a:blip>
          <a:stretch>
            <a:fillRect/>
          </a:stretch>
        </p:blipFill>
        <p:spPr>
          <a:xfrm>
            <a:off x="9764525" y="207200"/>
            <a:ext cx="2084450" cy="11049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 name="Shape 34"/>
        <p:cNvGrpSpPr/>
        <p:nvPr/>
      </p:nvGrpSpPr>
      <p:grpSpPr>
        <a:xfrm>
          <a:off x="0" y="0"/>
          <a:ext cx="0" cy="0"/>
          <a:chOff x="0" y="0"/>
          <a:chExt cx="0" cy="0"/>
        </a:xfrm>
      </p:grpSpPr>
      <p:sp>
        <p:nvSpPr>
          <p:cNvPr id="35" name="Google Shape;35;p6"/>
          <p:cNvSpPr txBox="1"/>
          <p:nvPr/>
        </p:nvSpPr>
        <p:spPr>
          <a:xfrm>
            <a:off x="548640" y="274320"/>
            <a:ext cx="73152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200"/>
              <a:buFont typeface="Quattrocento Sans"/>
              <a:buNone/>
            </a:pPr>
            <a:r>
              <a:rPr b="1" i="0" lang="en-US" spc="200" sz="1200" u="none" cap="none" strike="noStrike">
                <a:solidFill>
                  <a:schemeClr val="accent1"/>
                </a:solidFill>
                <a:latin typeface="Quattrocento Sans"/>
                <a:ea typeface="Quattrocento Sans"/>
                <a:cs typeface="Quattrocento Sans"/>
                <a:sym typeface="Quattrocento Sans"/>
              </a:rPr>
              <a:t>CONTEXTE ET OBJECTIF</a:t>
            </a:r>
            <a:endParaRPr b="0" i="0" spc="0" sz="1200" u="none" cap="none" strike="noStrike">
              <a:solidFill>
                <a:schemeClr val="dk1"/>
              </a:solidFill>
              <a:latin typeface="Quattrocento Sans"/>
              <a:ea typeface="Quattrocento Sans"/>
              <a:cs typeface="Quattrocento Sans"/>
              <a:sym typeface="Quattrocento Sans"/>
            </a:endParaRPr>
          </a:p>
        </p:txBody>
      </p:sp>
      <p:sp>
        <p:nvSpPr>
          <p:cNvPr id="36" name="Google Shape;36;p6"/>
          <p:cNvSpPr txBox="1"/>
          <p:nvPr>
            <p:ph type="title"/>
          </p:nvPr>
        </p:nvSpPr>
        <p:spPr>
          <a:xfrm>
            <a:off x="548640" y="566928"/>
            <a:ext cx="11094415" cy="7772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2"/>
              </a:buClr>
              <a:buSzPts val="2800"/>
              <a:buFont typeface="Quattrocento Sans"/>
              <a:buNone/>
            </a:pPr>
            <a:r>
              <a:rPr b="1" lang="en-US" sz="2800">
                <a:solidFill>
                  <a:schemeClr val="dk2"/>
                </a:solidFill>
              </a:rPr>
              <a:t>Rendre les rapports RSE vérifiables et repérer leurs dérives</a:t>
            </a:r>
            <a:endParaRPr sz="2800"/>
          </a:p>
        </p:txBody>
      </p:sp>
      <p:sp>
        <p:nvSpPr>
          <p:cNvPr id="37" name="Google Shape;37;p6"/>
          <p:cNvSpPr/>
          <p:nvPr/>
        </p:nvSpPr>
        <p:spPr>
          <a:xfrm>
            <a:off x="8991295" y="219456"/>
            <a:ext cx="2651760" cy="329184"/>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8" name="Google Shape;38;p6"/>
          <p:cNvSpPr txBox="1"/>
          <p:nvPr/>
        </p:nvSpPr>
        <p:spPr>
          <a:xfrm>
            <a:off x="8991295" y="219456"/>
            <a:ext cx="2651760" cy="32918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2"/>
              </a:buClr>
              <a:buSzPts val="1150"/>
              <a:buFont typeface="Quattrocento Sans"/>
              <a:buNone/>
            </a:pPr>
            <a:r>
              <a:rPr b="1" i="0" lang="en-US" spc="0" sz="1150" u="none" cap="none" strike="noStrike">
                <a:solidFill>
                  <a:schemeClr val="dk2"/>
                </a:solidFill>
                <a:latin typeface="Quattrocento Sans"/>
                <a:ea typeface="Quattrocento Sans"/>
                <a:cs typeface="Quattrocento Sans"/>
                <a:sym typeface="Quattrocento Sans"/>
              </a:rPr>
              <a:t>Personne 1 · Introduction</a:t>
            </a:r>
            <a:endParaRPr b="0" i="0" spc="0" sz="1150" u="none" cap="none" strike="noStrike">
              <a:solidFill>
                <a:schemeClr val="dk1"/>
              </a:solidFill>
              <a:latin typeface="Quattrocento Sans"/>
              <a:ea typeface="Quattrocento Sans"/>
              <a:cs typeface="Quattrocento Sans"/>
              <a:sym typeface="Quattrocento Sans"/>
            </a:endParaRPr>
          </a:p>
        </p:txBody>
      </p:sp>
      <p:sp>
        <p:nvSpPr>
          <p:cNvPr id="39" name="Google Shape;39;p6"/>
          <p:cNvSpPr txBox="1"/>
          <p:nvPr/>
        </p:nvSpPr>
        <p:spPr>
          <a:xfrm>
            <a:off x="548640" y="1536192"/>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4"/>
              </a:buClr>
              <a:buSzPts val="1200"/>
              <a:buFont typeface="Quattrocento Sans"/>
              <a:buNone/>
            </a:pPr>
            <a:r>
              <a:rPr b="1" i="0" lang="en-US" spc="200" sz="1200" u="none" cap="none" strike="noStrike">
                <a:solidFill>
                  <a:schemeClr val="accent4"/>
                </a:solidFill>
                <a:latin typeface="Quattrocento Sans"/>
                <a:ea typeface="Quattrocento Sans"/>
                <a:cs typeface="Quattrocento Sans"/>
                <a:sym typeface="Quattrocento Sans"/>
              </a:rPr>
              <a:t>LE PROBLÈME</a:t>
            </a:r>
            <a:endParaRPr b="0" i="0" spc="0" sz="1200" u="none" cap="none" strike="noStrike">
              <a:solidFill>
                <a:schemeClr val="dk1"/>
              </a:solidFill>
              <a:latin typeface="Quattrocento Sans"/>
              <a:ea typeface="Quattrocento Sans"/>
              <a:cs typeface="Quattrocento Sans"/>
              <a:sym typeface="Quattrocento Sans"/>
            </a:endParaRPr>
          </a:p>
        </p:txBody>
      </p:sp>
      <p:sp>
        <p:nvSpPr>
          <p:cNvPr id="40" name="Google Shape;40;p6"/>
          <p:cNvSpPr/>
          <p:nvPr/>
        </p:nvSpPr>
        <p:spPr>
          <a:xfrm>
            <a:off x="548640" y="1874520"/>
            <a:ext cx="5394960" cy="960120"/>
          </a:xfrm>
          <a:prstGeom prst="roundRect">
            <a:avLst>
              <a:gd fmla="val 9524" name="adj"/>
            </a:avLst>
          </a:prstGeom>
          <a:solidFill>
            <a:srgbClr val="F9F9FB"/>
          </a:solidFill>
          <a:ln cap="flat" cmpd="sng" w="9525">
            <a:solidFill>
              <a:srgbClr val="E0E1E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1" name="Google Shape;41;p6"/>
          <p:cNvSpPr/>
          <p:nvPr/>
        </p:nvSpPr>
        <p:spPr>
          <a:xfrm>
            <a:off x="749808" y="2075688"/>
            <a:ext cx="566928" cy="566928"/>
          </a:xfrm>
          <a:prstGeom prst="ellipse">
            <a:avLst/>
          </a:prstGeom>
          <a:solidFill>
            <a:srgbClr val="3657C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42" name="Google Shape;42;p6"/>
          <p:cNvPicPr preferRelativeResize="0"/>
          <p:nvPr/>
        </p:nvPicPr>
        <p:blipFill rotWithShape="1">
          <a:blip r:embed="rId3">
            <a:alphaModFix/>
          </a:blip>
          <a:srcRect b="0" l="0" r="0" t="0"/>
          <a:stretch/>
        </p:blipFill>
        <p:spPr>
          <a:xfrm>
            <a:off x="877824" y="2203704"/>
            <a:ext cx="310896" cy="310896"/>
          </a:xfrm>
          <a:prstGeom prst="rect">
            <a:avLst/>
          </a:prstGeom>
          <a:noFill/>
          <a:ln>
            <a:noFill/>
          </a:ln>
        </p:spPr>
      </p:pic>
      <p:sp>
        <p:nvSpPr>
          <p:cNvPr id="43" name="Google Shape;43;p6"/>
          <p:cNvSpPr txBox="1"/>
          <p:nvPr/>
        </p:nvSpPr>
        <p:spPr>
          <a:xfrm>
            <a:off x="1463040" y="2057400"/>
            <a:ext cx="429768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2"/>
              </a:buClr>
              <a:buSzPts val="1600"/>
              <a:buFont typeface="Quattrocento Sans"/>
              <a:buNone/>
            </a:pPr>
            <a:r>
              <a:rPr b="1" i="0" lang="en-US" spc="0" sz="1600" u="none" cap="none" strike="noStrike">
                <a:solidFill>
                  <a:schemeClr val="dk2"/>
                </a:solidFill>
                <a:latin typeface="Quattrocento Sans"/>
                <a:ea typeface="Quattrocento Sans"/>
                <a:cs typeface="Quattrocento Sans"/>
                <a:sym typeface="Quattrocento Sans"/>
              </a:rPr>
              <a:t>Volume</a:t>
            </a:r>
            <a:endParaRPr b="0" i="0" spc="0" sz="1600" u="none" cap="none" strike="noStrike">
              <a:solidFill>
                <a:schemeClr val="dk1"/>
              </a:solidFill>
              <a:latin typeface="Quattrocento Sans"/>
              <a:ea typeface="Quattrocento Sans"/>
              <a:cs typeface="Quattrocento Sans"/>
              <a:sym typeface="Quattrocento Sans"/>
            </a:endParaRPr>
          </a:p>
        </p:txBody>
      </p:sp>
      <p:sp>
        <p:nvSpPr>
          <p:cNvPr id="44" name="Google Shape;44;p6"/>
          <p:cNvSpPr txBox="1"/>
          <p:nvPr/>
        </p:nvSpPr>
        <p:spPr>
          <a:xfrm>
            <a:off x="1463040" y="2532888"/>
            <a:ext cx="429768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300"/>
              <a:buFont typeface="Quattrocento Sans"/>
              <a:buNone/>
            </a:pPr>
            <a:r>
              <a:rPr b="0" i="0" lang="en-US" spc="0" sz="1300" u="none" cap="none" strike="noStrike">
                <a:solidFill>
                  <a:schemeClr val="dk1"/>
                </a:solidFill>
                <a:latin typeface="Quattrocento Sans"/>
                <a:ea typeface="Quattrocento Sans"/>
                <a:cs typeface="Quattrocento Sans"/>
                <a:sym typeface="Quattrocento Sans"/>
              </a:rPr>
              <a:t>des rapports de plusieurs centaines de pages</a:t>
            </a:r>
            <a:endParaRPr b="0" i="0" spc="0" sz="1300" u="none" cap="none" strike="noStrike">
              <a:solidFill>
                <a:schemeClr val="dk1"/>
              </a:solidFill>
              <a:latin typeface="Quattrocento Sans"/>
              <a:ea typeface="Quattrocento Sans"/>
              <a:cs typeface="Quattrocento Sans"/>
              <a:sym typeface="Quattrocento Sans"/>
            </a:endParaRPr>
          </a:p>
        </p:txBody>
      </p:sp>
      <p:sp>
        <p:nvSpPr>
          <p:cNvPr id="45" name="Google Shape;45;p6"/>
          <p:cNvSpPr/>
          <p:nvPr/>
        </p:nvSpPr>
        <p:spPr>
          <a:xfrm>
            <a:off x="548640" y="2953512"/>
            <a:ext cx="5394960" cy="960120"/>
          </a:xfrm>
          <a:prstGeom prst="roundRect">
            <a:avLst>
              <a:gd fmla="val 9524" name="adj"/>
            </a:avLst>
          </a:prstGeom>
          <a:solidFill>
            <a:srgbClr val="F9F9FB"/>
          </a:solidFill>
          <a:ln cap="flat" cmpd="sng" w="9525">
            <a:solidFill>
              <a:srgbClr val="E0E1E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6" name="Google Shape;46;p6"/>
          <p:cNvSpPr/>
          <p:nvPr/>
        </p:nvSpPr>
        <p:spPr>
          <a:xfrm>
            <a:off x="749808" y="3154680"/>
            <a:ext cx="566928" cy="566928"/>
          </a:xfrm>
          <a:prstGeom prst="ellipse">
            <a:avLst/>
          </a:prstGeom>
          <a:solidFill>
            <a:srgbClr val="3657C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47" name="Google Shape;47;p6"/>
          <p:cNvPicPr preferRelativeResize="0"/>
          <p:nvPr/>
        </p:nvPicPr>
        <p:blipFill rotWithShape="1">
          <a:blip r:embed="rId4">
            <a:alphaModFix/>
          </a:blip>
          <a:srcRect b="0" l="0" r="0" t="0"/>
          <a:stretch/>
        </p:blipFill>
        <p:spPr>
          <a:xfrm>
            <a:off x="877824" y="3282696"/>
            <a:ext cx="310896" cy="310896"/>
          </a:xfrm>
          <a:prstGeom prst="rect">
            <a:avLst/>
          </a:prstGeom>
          <a:noFill/>
          <a:ln>
            <a:noFill/>
          </a:ln>
        </p:spPr>
      </p:pic>
      <p:sp>
        <p:nvSpPr>
          <p:cNvPr id="48" name="Google Shape;48;p6"/>
          <p:cNvSpPr txBox="1"/>
          <p:nvPr/>
        </p:nvSpPr>
        <p:spPr>
          <a:xfrm>
            <a:off x="1463040" y="3136392"/>
            <a:ext cx="429768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2"/>
              </a:buClr>
              <a:buSzPts val="1600"/>
              <a:buFont typeface="Quattrocento Sans"/>
              <a:buNone/>
            </a:pPr>
            <a:r>
              <a:rPr b="1" i="0" lang="en-US" spc="0" sz="1600" u="none" cap="none" strike="noStrike">
                <a:solidFill>
                  <a:schemeClr val="dk2"/>
                </a:solidFill>
                <a:latin typeface="Quattrocento Sans"/>
                <a:ea typeface="Quattrocento Sans"/>
                <a:cs typeface="Quattrocento Sans"/>
                <a:sym typeface="Quattrocento Sans"/>
              </a:rPr>
              <a:t>Dispersion</a:t>
            </a:r>
            <a:endParaRPr b="0" i="0" spc="0" sz="1600" u="none" cap="none" strike="noStrike">
              <a:solidFill>
                <a:schemeClr val="dk1"/>
              </a:solidFill>
              <a:latin typeface="Quattrocento Sans"/>
              <a:ea typeface="Quattrocento Sans"/>
              <a:cs typeface="Quattrocento Sans"/>
              <a:sym typeface="Quattrocento Sans"/>
            </a:endParaRPr>
          </a:p>
        </p:txBody>
      </p:sp>
      <p:sp>
        <p:nvSpPr>
          <p:cNvPr id="49" name="Google Shape;49;p6"/>
          <p:cNvSpPr txBox="1"/>
          <p:nvPr/>
        </p:nvSpPr>
        <p:spPr>
          <a:xfrm>
            <a:off x="1463040" y="3611880"/>
            <a:ext cx="429768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300"/>
              <a:buFont typeface="Quattrocento Sans"/>
              <a:buNone/>
            </a:pPr>
            <a:r>
              <a:rPr b="0" i="0" lang="en-US" spc="0" sz="1300" u="none" cap="none" strike="noStrike">
                <a:solidFill>
                  <a:schemeClr val="dk1"/>
                </a:solidFill>
                <a:latin typeface="Quattrocento Sans"/>
                <a:ea typeface="Quattrocento Sans"/>
                <a:cs typeface="Quattrocento Sans"/>
                <a:sym typeface="Quattrocento Sans"/>
              </a:rPr>
              <a:t>chiffres dans des tableaux, unités variables</a:t>
            </a:r>
            <a:endParaRPr b="0" i="0" spc="0" sz="1300" u="none" cap="none" strike="noStrike">
              <a:solidFill>
                <a:schemeClr val="dk1"/>
              </a:solidFill>
              <a:latin typeface="Quattrocento Sans"/>
              <a:ea typeface="Quattrocento Sans"/>
              <a:cs typeface="Quattrocento Sans"/>
              <a:sym typeface="Quattrocento Sans"/>
            </a:endParaRPr>
          </a:p>
        </p:txBody>
      </p:sp>
      <p:sp>
        <p:nvSpPr>
          <p:cNvPr id="50" name="Google Shape;50;p6"/>
          <p:cNvSpPr/>
          <p:nvPr/>
        </p:nvSpPr>
        <p:spPr>
          <a:xfrm>
            <a:off x="548640" y="4032504"/>
            <a:ext cx="5394960" cy="960120"/>
          </a:xfrm>
          <a:prstGeom prst="roundRect">
            <a:avLst>
              <a:gd fmla="val 9524" name="adj"/>
            </a:avLst>
          </a:prstGeom>
          <a:solidFill>
            <a:srgbClr val="F9F9FB"/>
          </a:solidFill>
          <a:ln cap="flat" cmpd="sng" w="9525">
            <a:solidFill>
              <a:srgbClr val="E0E1E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1" name="Google Shape;51;p6"/>
          <p:cNvSpPr/>
          <p:nvPr/>
        </p:nvSpPr>
        <p:spPr>
          <a:xfrm>
            <a:off x="749808" y="4233672"/>
            <a:ext cx="566928" cy="566928"/>
          </a:xfrm>
          <a:prstGeom prst="ellipse">
            <a:avLst/>
          </a:prstGeom>
          <a:solidFill>
            <a:srgbClr val="3657C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52" name="Google Shape;52;p6"/>
          <p:cNvPicPr preferRelativeResize="0"/>
          <p:nvPr/>
        </p:nvPicPr>
        <p:blipFill rotWithShape="1">
          <a:blip r:embed="rId5">
            <a:alphaModFix/>
          </a:blip>
          <a:srcRect b="0" l="0" r="0" t="0"/>
          <a:stretch/>
        </p:blipFill>
        <p:spPr>
          <a:xfrm>
            <a:off x="877824" y="4361688"/>
            <a:ext cx="310896" cy="310896"/>
          </a:xfrm>
          <a:prstGeom prst="rect">
            <a:avLst/>
          </a:prstGeom>
          <a:noFill/>
          <a:ln>
            <a:noFill/>
          </a:ln>
        </p:spPr>
      </p:pic>
      <p:sp>
        <p:nvSpPr>
          <p:cNvPr id="53" name="Google Shape;53;p6"/>
          <p:cNvSpPr txBox="1"/>
          <p:nvPr/>
        </p:nvSpPr>
        <p:spPr>
          <a:xfrm>
            <a:off x="1463040" y="4215384"/>
            <a:ext cx="429768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2"/>
              </a:buClr>
              <a:buSzPts val="1600"/>
              <a:buFont typeface="Quattrocento Sans"/>
              <a:buNone/>
            </a:pPr>
            <a:r>
              <a:rPr b="1" i="0" lang="en-US" spc="0" sz="1600" u="none" cap="none" strike="noStrike">
                <a:solidFill>
                  <a:schemeClr val="dk2"/>
                </a:solidFill>
                <a:latin typeface="Quattrocento Sans"/>
                <a:ea typeface="Quattrocento Sans"/>
                <a:cs typeface="Quattrocento Sans"/>
                <a:sym typeface="Quattrocento Sans"/>
              </a:rPr>
              <a:t>Éthique</a:t>
            </a:r>
            <a:endParaRPr b="0" i="0" spc="0" sz="1600" u="none" cap="none" strike="noStrike">
              <a:solidFill>
                <a:schemeClr val="dk1"/>
              </a:solidFill>
              <a:latin typeface="Quattrocento Sans"/>
              <a:ea typeface="Quattrocento Sans"/>
              <a:cs typeface="Quattrocento Sans"/>
              <a:sym typeface="Quattrocento Sans"/>
            </a:endParaRPr>
          </a:p>
        </p:txBody>
      </p:sp>
      <p:sp>
        <p:nvSpPr>
          <p:cNvPr id="54" name="Google Shape;54;p6"/>
          <p:cNvSpPr txBox="1"/>
          <p:nvPr/>
        </p:nvSpPr>
        <p:spPr>
          <a:xfrm>
            <a:off x="1463040" y="4690872"/>
            <a:ext cx="429768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300"/>
              <a:buFont typeface="Quattrocento Sans"/>
              <a:buNone/>
            </a:pPr>
            <a:r>
              <a:rPr b="0" i="0" lang="en-US" spc="0" sz="1300" u="none" cap="none" strike="noStrike">
                <a:solidFill>
                  <a:schemeClr val="dk1"/>
                </a:solidFill>
                <a:latin typeface="Quattrocento Sans"/>
                <a:ea typeface="Quattrocento Sans"/>
                <a:cs typeface="Quattrocento Sans"/>
                <a:sym typeface="Quattrocento Sans"/>
              </a:rPr>
              <a:t>un discours peut être légal mais trompeur ou invérifiable</a:t>
            </a:r>
            <a:endParaRPr b="0" i="0" spc="0" sz="1300" u="none" cap="none" strike="noStrike">
              <a:solidFill>
                <a:schemeClr val="dk1"/>
              </a:solidFill>
              <a:latin typeface="Quattrocento Sans"/>
              <a:ea typeface="Quattrocento Sans"/>
              <a:cs typeface="Quattrocento Sans"/>
              <a:sym typeface="Quattrocento Sans"/>
            </a:endParaRPr>
          </a:p>
        </p:txBody>
      </p:sp>
      <p:sp>
        <p:nvSpPr>
          <p:cNvPr id="55" name="Google Shape;55;p6"/>
          <p:cNvSpPr txBox="1"/>
          <p:nvPr/>
        </p:nvSpPr>
        <p:spPr>
          <a:xfrm>
            <a:off x="6263640" y="1536192"/>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4"/>
              </a:buClr>
              <a:buSzPts val="1200"/>
              <a:buFont typeface="Quattrocento Sans"/>
              <a:buNone/>
            </a:pPr>
            <a:r>
              <a:rPr b="1" i="0" lang="en-US" spc="200" sz="1200" u="none" cap="none" strike="noStrike">
                <a:solidFill>
                  <a:schemeClr val="accent4"/>
                </a:solidFill>
                <a:latin typeface="Quattrocento Sans"/>
                <a:ea typeface="Quattrocento Sans"/>
                <a:cs typeface="Quattrocento Sans"/>
                <a:sym typeface="Quattrocento Sans"/>
              </a:rPr>
              <a:t>CE QU'ETICS DEVRA PRODUIRE</a:t>
            </a:r>
            <a:endParaRPr b="0" i="0" spc="0" sz="1200" u="none" cap="none" strike="noStrike">
              <a:solidFill>
                <a:schemeClr val="dk1"/>
              </a:solidFill>
              <a:latin typeface="Quattrocento Sans"/>
              <a:ea typeface="Quattrocento Sans"/>
              <a:cs typeface="Quattrocento Sans"/>
              <a:sym typeface="Quattrocento Sans"/>
            </a:endParaRPr>
          </a:p>
        </p:txBody>
      </p:sp>
      <p:sp>
        <p:nvSpPr>
          <p:cNvPr id="56" name="Google Shape;56;p6"/>
          <p:cNvSpPr/>
          <p:nvPr/>
        </p:nvSpPr>
        <p:spPr>
          <a:xfrm>
            <a:off x="6263640" y="1874520"/>
            <a:ext cx="5376672" cy="1463040"/>
          </a:xfrm>
          <a:prstGeom prst="roundRect">
            <a:avLst>
              <a:gd fmla="val 6250" name="adj"/>
            </a:avLst>
          </a:prstGeom>
          <a:solidFill>
            <a:srgbClr val="F9F9FB"/>
          </a:solidFill>
          <a:ln cap="flat" cmpd="sng" w="9525">
            <a:solidFill>
              <a:srgbClr val="E0E1E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7" name="Google Shape;57;p6"/>
          <p:cNvSpPr/>
          <p:nvPr/>
        </p:nvSpPr>
        <p:spPr>
          <a:xfrm>
            <a:off x="6464808" y="2075688"/>
            <a:ext cx="566928" cy="566928"/>
          </a:xfrm>
          <a:prstGeom prst="ellipse">
            <a:avLst/>
          </a:prstGeom>
          <a:solidFill>
            <a:srgbClr val="3657C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58" name="Google Shape;58;p6"/>
          <p:cNvPicPr preferRelativeResize="0"/>
          <p:nvPr/>
        </p:nvPicPr>
        <p:blipFill rotWithShape="1">
          <a:blip r:embed="rId6">
            <a:alphaModFix/>
          </a:blip>
          <a:srcRect b="0" l="0" r="0" t="0"/>
          <a:stretch/>
        </p:blipFill>
        <p:spPr>
          <a:xfrm>
            <a:off x="6592824" y="2203704"/>
            <a:ext cx="310896" cy="310896"/>
          </a:xfrm>
          <a:prstGeom prst="rect">
            <a:avLst/>
          </a:prstGeom>
          <a:noFill/>
          <a:ln>
            <a:noFill/>
          </a:ln>
        </p:spPr>
      </p:pic>
      <p:sp>
        <p:nvSpPr>
          <p:cNvPr id="59" name="Google Shape;59;p6"/>
          <p:cNvSpPr txBox="1"/>
          <p:nvPr/>
        </p:nvSpPr>
        <p:spPr>
          <a:xfrm>
            <a:off x="7178040" y="2057400"/>
            <a:ext cx="4279392"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2"/>
              </a:buClr>
              <a:buSzPts val="1600"/>
              <a:buFont typeface="Quattrocento Sans"/>
              <a:buNone/>
            </a:pPr>
            <a:r>
              <a:rPr b="1" i="0" lang="en-US" spc="0" sz="1600" u="none" cap="none" strike="noStrike">
                <a:solidFill>
                  <a:schemeClr val="dk2"/>
                </a:solidFill>
                <a:latin typeface="Quattrocento Sans"/>
                <a:ea typeface="Quattrocento Sans"/>
                <a:cs typeface="Quattrocento Sans"/>
                <a:sym typeface="Quattrocento Sans"/>
              </a:rPr>
              <a:t>1 · Un dataset structuré</a:t>
            </a:r>
            <a:endParaRPr b="0" i="0" spc="0" sz="1600" u="none" cap="none" strike="noStrike">
              <a:solidFill>
                <a:schemeClr val="dk1"/>
              </a:solidFill>
              <a:latin typeface="Quattrocento Sans"/>
              <a:ea typeface="Quattrocento Sans"/>
              <a:cs typeface="Quattrocento Sans"/>
              <a:sym typeface="Quattrocento Sans"/>
            </a:endParaRPr>
          </a:p>
        </p:txBody>
      </p:sp>
      <p:sp>
        <p:nvSpPr>
          <p:cNvPr id="60" name="Google Shape;60;p6"/>
          <p:cNvSpPr txBox="1"/>
          <p:nvPr/>
        </p:nvSpPr>
        <p:spPr>
          <a:xfrm>
            <a:off x="7178040" y="2532888"/>
            <a:ext cx="4279392"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300"/>
              <a:buFont typeface="Quattrocento Sans"/>
              <a:buNone/>
            </a:pPr>
            <a:r>
              <a:rPr b="0" i="0" lang="en-US" spc="0" sz="1300" u="none" cap="none" strike="noStrike">
                <a:solidFill>
                  <a:schemeClr val="dk1"/>
                </a:solidFill>
                <a:latin typeface="Quattrocento Sans"/>
                <a:ea typeface="Quattrocento Sans"/>
                <a:cs typeface="Quattrocento Sans"/>
                <a:sym typeface="Quattrocento Sans"/>
              </a:rPr>
              <a:t>les champs du cahier des charges, chaque valeur reliée à sa page et à sa citation</a:t>
            </a:r>
            <a:endParaRPr b="0" i="0" spc="0" sz="1300" u="none" cap="none" strike="noStrike">
              <a:solidFill>
                <a:schemeClr val="dk1"/>
              </a:solidFill>
              <a:latin typeface="Quattrocento Sans"/>
              <a:ea typeface="Quattrocento Sans"/>
              <a:cs typeface="Quattrocento Sans"/>
              <a:sym typeface="Quattrocento Sans"/>
            </a:endParaRPr>
          </a:p>
        </p:txBody>
      </p:sp>
      <p:sp>
        <p:nvSpPr>
          <p:cNvPr id="61" name="Google Shape;61;p6"/>
          <p:cNvSpPr/>
          <p:nvPr/>
        </p:nvSpPr>
        <p:spPr>
          <a:xfrm>
            <a:off x="6263640" y="3474720"/>
            <a:ext cx="5376672" cy="1463040"/>
          </a:xfrm>
          <a:prstGeom prst="roundRect">
            <a:avLst>
              <a:gd fmla="val 6250" name="adj"/>
            </a:avLst>
          </a:prstGeom>
          <a:solidFill>
            <a:srgbClr val="F9F9FB"/>
          </a:solidFill>
          <a:ln cap="flat" cmpd="sng" w="9525">
            <a:solidFill>
              <a:srgbClr val="E0E1E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2" name="Google Shape;62;p6"/>
          <p:cNvSpPr/>
          <p:nvPr/>
        </p:nvSpPr>
        <p:spPr>
          <a:xfrm>
            <a:off x="6464808" y="3675888"/>
            <a:ext cx="566928" cy="566928"/>
          </a:xfrm>
          <a:prstGeom prst="ellipse">
            <a:avLst/>
          </a:prstGeom>
          <a:solidFill>
            <a:srgbClr val="B4441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63" name="Google Shape;63;p6"/>
          <p:cNvPicPr preferRelativeResize="0"/>
          <p:nvPr/>
        </p:nvPicPr>
        <p:blipFill rotWithShape="1">
          <a:blip r:embed="rId7">
            <a:alphaModFix/>
          </a:blip>
          <a:srcRect b="0" l="0" r="0" t="0"/>
          <a:stretch/>
        </p:blipFill>
        <p:spPr>
          <a:xfrm>
            <a:off x="6592824" y="3803904"/>
            <a:ext cx="310896" cy="310896"/>
          </a:xfrm>
          <a:prstGeom prst="rect">
            <a:avLst/>
          </a:prstGeom>
          <a:noFill/>
          <a:ln>
            <a:noFill/>
          </a:ln>
        </p:spPr>
      </p:pic>
      <p:sp>
        <p:nvSpPr>
          <p:cNvPr id="64" name="Google Shape;64;p6"/>
          <p:cNvSpPr txBox="1"/>
          <p:nvPr/>
        </p:nvSpPr>
        <p:spPr>
          <a:xfrm>
            <a:off x="7178040" y="3657600"/>
            <a:ext cx="4279392"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2"/>
              </a:buClr>
              <a:buSzPts val="1600"/>
              <a:buFont typeface="Quattrocento Sans"/>
              <a:buNone/>
            </a:pPr>
            <a:r>
              <a:rPr b="1" i="0" lang="en-US" spc="0" sz="1600" u="none" cap="none" strike="noStrike">
                <a:solidFill>
                  <a:schemeClr val="dk2"/>
                </a:solidFill>
                <a:latin typeface="Quattrocento Sans"/>
                <a:ea typeface="Quattrocento Sans"/>
                <a:cs typeface="Quattrocento Sans"/>
                <a:sym typeface="Quattrocento Sans"/>
              </a:rPr>
              <a:t>2 · Un verdict de toxicité</a:t>
            </a:r>
            <a:endParaRPr b="0" i="0" spc="0" sz="1600" u="none" cap="none" strike="noStrike">
              <a:solidFill>
                <a:schemeClr val="dk1"/>
              </a:solidFill>
              <a:latin typeface="Quattrocento Sans"/>
              <a:ea typeface="Quattrocento Sans"/>
              <a:cs typeface="Quattrocento Sans"/>
              <a:sym typeface="Quattrocento Sans"/>
            </a:endParaRPr>
          </a:p>
        </p:txBody>
      </p:sp>
      <p:sp>
        <p:nvSpPr>
          <p:cNvPr id="65" name="Google Shape;65;p6"/>
          <p:cNvSpPr txBox="1"/>
          <p:nvPr/>
        </p:nvSpPr>
        <p:spPr>
          <a:xfrm>
            <a:off x="7178040" y="4133088"/>
            <a:ext cx="4279392"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300"/>
              <a:buFont typeface="Quattrocento Sans"/>
              <a:buNone/>
            </a:pPr>
            <a:r>
              <a:rPr b="0" i="0" lang="en-US" spc="0" sz="1300" u="none" cap="none" strike="noStrike">
                <a:solidFill>
                  <a:schemeClr val="dk1"/>
                </a:solidFill>
                <a:latin typeface="Quattrocento Sans"/>
                <a:ea typeface="Quattrocento Sans"/>
                <a:cs typeface="Quattrocento Sans"/>
                <a:sym typeface="Quattrocento Sans"/>
              </a:rPr>
              <a:t>expliqué : passages en cause, transparence des chiffres, score</a:t>
            </a:r>
            <a:endParaRPr b="0" i="0" spc="0" sz="1300" u="none" cap="none" strike="noStrike">
              <a:solidFill>
                <a:schemeClr val="dk1"/>
              </a:solidFill>
              <a:latin typeface="Quattrocento Sans"/>
              <a:ea typeface="Quattrocento Sans"/>
              <a:cs typeface="Quattrocento Sans"/>
              <a:sym typeface="Quattrocento Sans"/>
            </a:endParaRPr>
          </a:p>
        </p:txBody>
      </p:sp>
      <p:sp>
        <p:nvSpPr>
          <p:cNvPr id="66" name="Google Shape;66;p6"/>
          <p:cNvSpPr/>
          <p:nvPr/>
        </p:nvSpPr>
        <p:spPr>
          <a:xfrm>
            <a:off x="548640" y="5230368"/>
            <a:ext cx="11094415" cy="658368"/>
          </a:xfrm>
          <a:prstGeom prst="roundRect">
            <a:avLst>
              <a:gd fmla="val 11111"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7" name="Google Shape;67;p6"/>
          <p:cNvSpPr txBox="1"/>
          <p:nvPr/>
        </p:nvSpPr>
        <p:spPr>
          <a:xfrm>
            <a:off x="822960" y="5230368"/>
            <a:ext cx="10545775" cy="6583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2"/>
              </a:buClr>
              <a:buSzPts val="1500"/>
              <a:buFont typeface="Quattrocento Sans"/>
              <a:buNone/>
            </a:pPr>
            <a:r>
              <a:rPr b="1" i="0" lang="en-US" spc="0" sz="1500" u="none" cap="none" strike="noStrike">
                <a:solidFill>
                  <a:schemeClr val="dk2"/>
                </a:solidFill>
                <a:latin typeface="Quattrocento Sans"/>
                <a:ea typeface="Quattrocento Sans"/>
                <a:cs typeface="Quattrocento Sans"/>
                <a:sym typeface="Quattrocento Sans"/>
              </a:rPr>
              <a:t>Contraintes : </a:t>
            </a:r>
            <a:r>
              <a:rPr b="0" i="0" lang="en-US" spc="0" sz="1500" u="none" cap="none" strike="noStrike">
                <a:solidFill>
                  <a:schemeClr val="dk1"/>
                </a:solidFill>
                <a:latin typeface="Quattrocento Sans"/>
                <a:ea typeface="Quattrocento Sans"/>
                <a:cs typeface="Quattrocento Sans"/>
                <a:sym typeface="Quattrocento Sans"/>
              </a:rPr>
              <a:t>traitement 100 % local (confidentialité), LLM exécuté sur un PC sans carte graphique</a:t>
            </a:r>
            <a:endParaRPr b="0" i="0" spc="0" sz="1500" u="none" cap="none" strike="noStrike">
              <a:solidFill>
                <a:schemeClr val="dk1"/>
              </a:solidFill>
              <a:latin typeface="Quattrocento Sans"/>
              <a:ea typeface="Quattrocento Sans"/>
              <a:cs typeface="Quattrocento Sans"/>
              <a:sym typeface="Quattrocento Sans"/>
            </a:endParaRPr>
          </a:p>
        </p:txBody>
      </p:sp>
      <p:sp>
        <p:nvSpPr>
          <p:cNvPr id="68" name="Google Shape;68;p6"/>
          <p:cNvSpPr txBox="1"/>
          <p:nvPr>
            <p:ph idx="4294967295" type="sldNum"/>
          </p:nvPr>
        </p:nvSpPr>
        <p:spPr>
          <a:xfrm>
            <a:off x="11185855" y="6428232"/>
            <a:ext cx="45720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100"/>
              <a:buNone/>
            </a:pPr>
            <a:fld id="{00000000-1234-1234-1234-123412341234}" type="slidenum">
              <a:rPr b="0" i="0" lang="en-US" sz="1100" u="none" cap="none" strike="noStrike">
                <a:solidFill>
                  <a:schemeClr val="accent4"/>
                </a:solidFill>
                <a:latin typeface="Quattrocento Sans"/>
                <a:ea typeface="Quattrocento Sans"/>
                <a:cs typeface="Quattrocento Sans"/>
                <a:sym typeface="Quattrocento Sans"/>
              </a:rPr>
              <a:t>‹#›</a:t>
            </a:fld>
            <a:endParaRPr b="0" i="0" sz="1100" u="none" cap="none" strike="noStrike">
              <a:solidFill>
                <a:schemeClr val="accent4"/>
              </a:solidFill>
              <a:latin typeface="Quattrocento Sans"/>
              <a:ea typeface="Quattrocento Sans"/>
              <a:cs typeface="Quattrocento Sans"/>
              <a:sym typeface="Quattrocento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7"/>
          <p:cNvSpPr txBox="1"/>
          <p:nvPr/>
        </p:nvSpPr>
        <p:spPr>
          <a:xfrm>
            <a:off x="548640" y="274320"/>
            <a:ext cx="73152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200"/>
              <a:buFont typeface="Quattrocento Sans"/>
              <a:buNone/>
            </a:pPr>
            <a:r>
              <a:rPr b="1" i="0" lang="en-US" spc="200" sz="1200" u="none" cap="none" strike="noStrike">
                <a:solidFill>
                  <a:schemeClr val="accent1"/>
                </a:solidFill>
                <a:latin typeface="Quattrocento Sans"/>
                <a:ea typeface="Quattrocento Sans"/>
                <a:cs typeface="Quattrocento Sans"/>
                <a:sym typeface="Quattrocento Sans"/>
              </a:rPr>
              <a:t>DONNÉES ET FORMATS</a:t>
            </a:r>
            <a:endParaRPr b="0" i="0" spc="0" sz="1200" u="none" cap="none" strike="noStrike">
              <a:solidFill>
                <a:schemeClr val="dk1"/>
              </a:solidFill>
              <a:latin typeface="Quattrocento Sans"/>
              <a:ea typeface="Quattrocento Sans"/>
              <a:cs typeface="Quattrocento Sans"/>
              <a:sym typeface="Quattrocento Sans"/>
            </a:endParaRPr>
          </a:p>
        </p:txBody>
      </p:sp>
      <p:sp>
        <p:nvSpPr>
          <p:cNvPr id="75" name="Google Shape;75;p7"/>
          <p:cNvSpPr txBox="1"/>
          <p:nvPr>
            <p:ph type="title"/>
          </p:nvPr>
        </p:nvSpPr>
        <p:spPr>
          <a:xfrm>
            <a:off x="548640" y="566928"/>
            <a:ext cx="11094415" cy="7772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2"/>
              </a:buClr>
              <a:buSzPts val="2800"/>
              <a:buFont typeface="Quattrocento Sans"/>
              <a:buNone/>
            </a:pPr>
            <a:r>
              <a:rPr b="1" lang="en-US" sz="2800">
                <a:solidFill>
                  <a:schemeClr val="dk2"/>
                </a:solidFill>
              </a:rPr>
              <a:t>Des rapports de tous formats, découpés en passages</a:t>
            </a:r>
            <a:endParaRPr sz="2800"/>
          </a:p>
        </p:txBody>
      </p:sp>
      <p:sp>
        <p:nvSpPr>
          <p:cNvPr id="76" name="Google Shape;76;p7"/>
          <p:cNvSpPr/>
          <p:nvPr/>
        </p:nvSpPr>
        <p:spPr>
          <a:xfrm>
            <a:off x="8991295" y="219456"/>
            <a:ext cx="2651760" cy="329184"/>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7" name="Google Shape;77;p7"/>
          <p:cNvSpPr txBox="1"/>
          <p:nvPr/>
        </p:nvSpPr>
        <p:spPr>
          <a:xfrm>
            <a:off x="8991295" y="219456"/>
            <a:ext cx="2651760" cy="32918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2"/>
              </a:buClr>
              <a:buSzPts val="1150"/>
              <a:buFont typeface="Quattrocento Sans"/>
              <a:buNone/>
            </a:pPr>
            <a:r>
              <a:rPr b="1" i="0" lang="en-US" spc="0" sz="1150" u="none" cap="none" strike="noStrike">
                <a:solidFill>
                  <a:schemeClr val="dk2"/>
                </a:solidFill>
                <a:latin typeface="Quattrocento Sans"/>
                <a:ea typeface="Quattrocento Sans"/>
                <a:cs typeface="Quattrocento Sans"/>
                <a:sym typeface="Quattrocento Sans"/>
              </a:rPr>
              <a:t>Personne 2 · Données</a:t>
            </a:r>
            <a:endParaRPr b="0" i="0" spc="0" sz="1150" u="none" cap="none" strike="noStrike">
              <a:solidFill>
                <a:schemeClr val="dk1"/>
              </a:solidFill>
              <a:latin typeface="Quattrocento Sans"/>
              <a:ea typeface="Quattrocento Sans"/>
              <a:cs typeface="Quattrocento Sans"/>
              <a:sym typeface="Quattrocento Sans"/>
            </a:endParaRPr>
          </a:p>
        </p:txBody>
      </p:sp>
      <p:sp>
        <p:nvSpPr>
          <p:cNvPr id="78" name="Google Shape;78;p7"/>
          <p:cNvSpPr txBox="1"/>
          <p:nvPr/>
        </p:nvSpPr>
        <p:spPr>
          <a:xfrm>
            <a:off x="548640" y="1536192"/>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4"/>
              </a:buClr>
              <a:buSzPts val="1200"/>
              <a:buFont typeface="Quattrocento Sans"/>
              <a:buNone/>
            </a:pPr>
            <a:r>
              <a:rPr b="1" i="0" lang="en-US" spc="200" sz="1200" u="none" cap="none" strike="noStrike">
                <a:solidFill>
                  <a:schemeClr val="accent4"/>
                </a:solidFill>
                <a:latin typeface="Quattrocento Sans"/>
                <a:ea typeface="Quattrocento Sans"/>
                <a:cs typeface="Quattrocento Sans"/>
                <a:sym typeface="Quattrocento Sans"/>
              </a:rPr>
              <a:t>FORMATS PRÉVUS</a:t>
            </a:r>
            <a:endParaRPr b="0" i="0" spc="0" sz="1200" u="none" cap="none" strike="noStrike">
              <a:solidFill>
                <a:schemeClr val="dk1"/>
              </a:solidFill>
              <a:latin typeface="Quattrocento Sans"/>
              <a:ea typeface="Quattrocento Sans"/>
              <a:cs typeface="Quattrocento Sans"/>
              <a:sym typeface="Quattrocento Sans"/>
            </a:endParaRPr>
          </a:p>
        </p:txBody>
      </p:sp>
      <p:sp>
        <p:nvSpPr>
          <p:cNvPr id="79" name="Google Shape;79;p7"/>
          <p:cNvSpPr/>
          <p:nvPr/>
        </p:nvSpPr>
        <p:spPr>
          <a:xfrm>
            <a:off x="548640" y="1874520"/>
            <a:ext cx="2011680" cy="1554480"/>
          </a:xfrm>
          <a:prstGeom prst="roundRect">
            <a:avLst>
              <a:gd fmla="val 5882" name="adj"/>
            </a:avLst>
          </a:prstGeom>
          <a:solidFill>
            <a:srgbClr val="F9F9FB"/>
          </a:solidFill>
          <a:ln cap="flat" cmpd="sng" w="9525">
            <a:solidFill>
              <a:srgbClr val="E0E1E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0" name="Google Shape;80;p7"/>
          <p:cNvSpPr/>
          <p:nvPr/>
        </p:nvSpPr>
        <p:spPr>
          <a:xfrm>
            <a:off x="777240" y="2103120"/>
            <a:ext cx="548640" cy="548640"/>
          </a:xfrm>
          <a:prstGeom prst="ellipse">
            <a:avLst/>
          </a:prstGeom>
          <a:solidFill>
            <a:srgbClr val="3657C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81" name="Google Shape;81;p7"/>
          <p:cNvPicPr preferRelativeResize="0"/>
          <p:nvPr/>
        </p:nvPicPr>
        <p:blipFill rotWithShape="1">
          <a:blip r:embed="rId3">
            <a:alphaModFix/>
          </a:blip>
          <a:srcRect b="0" l="0" r="0" t="0"/>
          <a:stretch/>
        </p:blipFill>
        <p:spPr>
          <a:xfrm>
            <a:off x="900684" y="2226564"/>
            <a:ext cx="301752" cy="301752"/>
          </a:xfrm>
          <a:prstGeom prst="rect">
            <a:avLst/>
          </a:prstGeom>
          <a:noFill/>
          <a:ln>
            <a:noFill/>
          </a:ln>
        </p:spPr>
      </p:pic>
      <p:sp>
        <p:nvSpPr>
          <p:cNvPr id="82" name="Google Shape;82;p7"/>
          <p:cNvSpPr txBox="1"/>
          <p:nvPr/>
        </p:nvSpPr>
        <p:spPr>
          <a:xfrm>
            <a:off x="777240" y="2770632"/>
            <a:ext cx="155448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2"/>
              </a:buClr>
              <a:buSzPts val="1500"/>
              <a:buFont typeface="Quattrocento Sans"/>
              <a:buNone/>
            </a:pPr>
            <a:r>
              <a:rPr b="1" i="0" lang="en-US" spc="0" sz="1500" u="none" cap="none" strike="noStrike">
                <a:solidFill>
                  <a:schemeClr val="dk2"/>
                </a:solidFill>
                <a:latin typeface="Quattrocento Sans"/>
                <a:ea typeface="Quattrocento Sans"/>
                <a:cs typeface="Quattrocento Sans"/>
                <a:sym typeface="Quattrocento Sans"/>
              </a:rPr>
              <a:t>PDF</a:t>
            </a:r>
            <a:endParaRPr b="0" i="0" spc="0" sz="1500" u="none" cap="none" strike="noStrike">
              <a:solidFill>
                <a:schemeClr val="dk1"/>
              </a:solidFill>
              <a:latin typeface="Quattrocento Sans"/>
              <a:ea typeface="Quattrocento Sans"/>
              <a:cs typeface="Quattrocento Sans"/>
              <a:sym typeface="Quattrocento Sans"/>
            </a:endParaRPr>
          </a:p>
        </p:txBody>
      </p:sp>
      <p:sp>
        <p:nvSpPr>
          <p:cNvPr id="83" name="Google Shape;83;p7"/>
          <p:cNvSpPr txBox="1"/>
          <p:nvPr/>
        </p:nvSpPr>
        <p:spPr>
          <a:xfrm>
            <a:off x="777240" y="3200400"/>
            <a:ext cx="155448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Quattrocento Sans"/>
              <a:buNone/>
            </a:pPr>
            <a:r>
              <a:rPr b="0" i="0" lang="en-US" spc="0" sz="1200" u="none" cap="none" strike="noStrike">
                <a:solidFill>
                  <a:schemeClr val="dk1"/>
                </a:solidFill>
                <a:latin typeface="Quattrocento Sans"/>
                <a:ea typeface="Quattrocento Sans"/>
                <a:cs typeface="Quattrocento Sans"/>
                <a:sym typeface="Quattrocento Sans"/>
              </a:rPr>
              <a:t>PyMuPDF</a:t>
            </a:r>
            <a:endParaRPr b="0" i="0" spc="0" sz="1200" u="none" cap="none" strike="noStrike">
              <a:solidFill>
                <a:schemeClr val="dk1"/>
              </a:solidFill>
              <a:latin typeface="Quattrocento Sans"/>
              <a:ea typeface="Quattrocento Sans"/>
              <a:cs typeface="Quattrocento Sans"/>
              <a:sym typeface="Quattrocento Sans"/>
            </a:endParaRPr>
          </a:p>
        </p:txBody>
      </p:sp>
      <p:sp>
        <p:nvSpPr>
          <p:cNvPr id="84" name="Google Shape;84;p7"/>
          <p:cNvSpPr/>
          <p:nvPr/>
        </p:nvSpPr>
        <p:spPr>
          <a:xfrm>
            <a:off x="2697480" y="1874520"/>
            <a:ext cx="2011680" cy="1554480"/>
          </a:xfrm>
          <a:prstGeom prst="roundRect">
            <a:avLst>
              <a:gd fmla="val 5882" name="adj"/>
            </a:avLst>
          </a:prstGeom>
          <a:solidFill>
            <a:srgbClr val="F9F9FB"/>
          </a:solidFill>
          <a:ln cap="flat" cmpd="sng" w="9525">
            <a:solidFill>
              <a:srgbClr val="E0E1E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5" name="Google Shape;85;p7"/>
          <p:cNvSpPr/>
          <p:nvPr/>
        </p:nvSpPr>
        <p:spPr>
          <a:xfrm>
            <a:off x="2926080" y="2103120"/>
            <a:ext cx="548640" cy="548640"/>
          </a:xfrm>
          <a:prstGeom prst="ellipse">
            <a:avLst/>
          </a:prstGeom>
          <a:solidFill>
            <a:srgbClr val="3657C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86" name="Google Shape;86;p7"/>
          <p:cNvPicPr preferRelativeResize="0"/>
          <p:nvPr/>
        </p:nvPicPr>
        <p:blipFill rotWithShape="1">
          <a:blip r:embed="rId4">
            <a:alphaModFix/>
          </a:blip>
          <a:srcRect b="0" l="0" r="0" t="0"/>
          <a:stretch/>
        </p:blipFill>
        <p:spPr>
          <a:xfrm>
            <a:off x="3049524" y="2226564"/>
            <a:ext cx="301752" cy="301752"/>
          </a:xfrm>
          <a:prstGeom prst="rect">
            <a:avLst/>
          </a:prstGeom>
          <a:noFill/>
          <a:ln>
            <a:noFill/>
          </a:ln>
        </p:spPr>
      </p:pic>
      <p:sp>
        <p:nvSpPr>
          <p:cNvPr id="87" name="Google Shape;87;p7"/>
          <p:cNvSpPr txBox="1"/>
          <p:nvPr/>
        </p:nvSpPr>
        <p:spPr>
          <a:xfrm>
            <a:off x="2926080" y="2770632"/>
            <a:ext cx="155448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2"/>
              </a:buClr>
              <a:buSzPts val="1500"/>
              <a:buFont typeface="Quattrocento Sans"/>
              <a:buNone/>
            </a:pPr>
            <a:r>
              <a:rPr b="1" i="0" lang="en-US" spc="0" sz="1500" u="none" cap="none" strike="noStrike">
                <a:solidFill>
                  <a:schemeClr val="dk2"/>
                </a:solidFill>
                <a:latin typeface="Quattrocento Sans"/>
                <a:ea typeface="Quattrocento Sans"/>
                <a:cs typeface="Quattrocento Sans"/>
                <a:sym typeface="Quattrocento Sans"/>
              </a:rPr>
              <a:t>DOCX</a:t>
            </a:r>
            <a:endParaRPr b="0" i="0" spc="0" sz="1500" u="none" cap="none" strike="noStrike">
              <a:solidFill>
                <a:schemeClr val="dk1"/>
              </a:solidFill>
              <a:latin typeface="Quattrocento Sans"/>
              <a:ea typeface="Quattrocento Sans"/>
              <a:cs typeface="Quattrocento Sans"/>
              <a:sym typeface="Quattrocento Sans"/>
            </a:endParaRPr>
          </a:p>
        </p:txBody>
      </p:sp>
      <p:sp>
        <p:nvSpPr>
          <p:cNvPr id="88" name="Google Shape;88;p7"/>
          <p:cNvSpPr txBox="1"/>
          <p:nvPr/>
        </p:nvSpPr>
        <p:spPr>
          <a:xfrm>
            <a:off x="2926080" y="3200400"/>
            <a:ext cx="155448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Quattrocento Sans"/>
              <a:buNone/>
            </a:pPr>
            <a:r>
              <a:rPr b="0" i="0" lang="en-US" spc="0" sz="1200" u="none" cap="none" strike="noStrike">
                <a:solidFill>
                  <a:schemeClr val="dk1"/>
                </a:solidFill>
                <a:latin typeface="Quattrocento Sans"/>
                <a:ea typeface="Quattrocento Sans"/>
                <a:cs typeface="Quattrocento Sans"/>
                <a:sym typeface="Quattrocento Sans"/>
              </a:rPr>
              <a:t>python-docx</a:t>
            </a:r>
            <a:endParaRPr b="0" i="0" spc="0" sz="1200" u="none" cap="none" strike="noStrike">
              <a:solidFill>
                <a:schemeClr val="dk1"/>
              </a:solidFill>
              <a:latin typeface="Quattrocento Sans"/>
              <a:ea typeface="Quattrocento Sans"/>
              <a:cs typeface="Quattrocento Sans"/>
              <a:sym typeface="Quattrocento Sans"/>
            </a:endParaRPr>
          </a:p>
        </p:txBody>
      </p:sp>
      <p:sp>
        <p:nvSpPr>
          <p:cNvPr id="89" name="Google Shape;89;p7"/>
          <p:cNvSpPr/>
          <p:nvPr/>
        </p:nvSpPr>
        <p:spPr>
          <a:xfrm>
            <a:off x="4846320" y="1874520"/>
            <a:ext cx="2011680" cy="1554480"/>
          </a:xfrm>
          <a:prstGeom prst="roundRect">
            <a:avLst>
              <a:gd fmla="val 5882" name="adj"/>
            </a:avLst>
          </a:prstGeom>
          <a:solidFill>
            <a:srgbClr val="F9F9FB"/>
          </a:solidFill>
          <a:ln cap="flat" cmpd="sng" w="9525">
            <a:solidFill>
              <a:srgbClr val="E0E1E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0" name="Google Shape;90;p7"/>
          <p:cNvSpPr/>
          <p:nvPr/>
        </p:nvSpPr>
        <p:spPr>
          <a:xfrm>
            <a:off x="5074920" y="2103120"/>
            <a:ext cx="548640" cy="548640"/>
          </a:xfrm>
          <a:prstGeom prst="ellipse">
            <a:avLst/>
          </a:prstGeom>
          <a:solidFill>
            <a:srgbClr val="3657C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91" name="Google Shape;91;p7"/>
          <p:cNvPicPr preferRelativeResize="0"/>
          <p:nvPr/>
        </p:nvPicPr>
        <p:blipFill rotWithShape="1">
          <a:blip r:embed="rId5">
            <a:alphaModFix/>
          </a:blip>
          <a:srcRect b="0" l="0" r="0" t="0"/>
          <a:stretch/>
        </p:blipFill>
        <p:spPr>
          <a:xfrm>
            <a:off x="5198364" y="2226564"/>
            <a:ext cx="301752" cy="301752"/>
          </a:xfrm>
          <a:prstGeom prst="rect">
            <a:avLst/>
          </a:prstGeom>
          <a:noFill/>
          <a:ln>
            <a:noFill/>
          </a:ln>
        </p:spPr>
      </p:pic>
      <p:sp>
        <p:nvSpPr>
          <p:cNvPr id="92" name="Google Shape;92;p7"/>
          <p:cNvSpPr txBox="1"/>
          <p:nvPr/>
        </p:nvSpPr>
        <p:spPr>
          <a:xfrm>
            <a:off x="5074920" y="2770632"/>
            <a:ext cx="155448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2"/>
              </a:buClr>
              <a:buSzPts val="1500"/>
              <a:buFont typeface="Quattrocento Sans"/>
              <a:buNone/>
            </a:pPr>
            <a:r>
              <a:rPr b="1" i="0" lang="en-US" spc="0" sz="1500" u="none" cap="none" strike="noStrike">
                <a:solidFill>
                  <a:schemeClr val="dk2"/>
                </a:solidFill>
                <a:latin typeface="Quattrocento Sans"/>
                <a:ea typeface="Quattrocento Sans"/>
                <a:cs typeface="Quattrocento Sans"/>
                <a:sym typeface="Quattrocento Sans"/>
              </a:rPr>
              <a:t>XLSX · XLS · CSV</a:t>
            </a:r>
            <a:endParaRPr b="0" i="0" spc="0" sz="1500" u="none" cap="none" strike="noStrike">
              <a:solidFill>
                <a:schemeClr val="dk1"/>
              </a:solidFill>
              <a:latin typeface="Quattrocento Sans"/>
              <a:ea typeface="Quattrocento Sans"/>
              <a:cs typeface="Quattrocento Sans"/>
              <a:sym typeface="Quattrocento Sans"/>
            </a:endParaRPr>
          </a:p>
        </p:txBody>
      </p:sp>
      <p:sp>
        <p:nvSpPr>
          <p:cNvPr id="93" name="Google Shape;93;p7"/>
          <p:cNvSpPr txBox="1"/>
          <p:nvPr/>
        </p:nvSpPr>
        <p:spPr>
          <a:xfrm>
            <a:off x="5074920" y="3200400"/>
            <a:ext cx="155448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Quattrocento Sans"/>
              <a:buNone/>
            </a:pPr>
            <a:r>
              <a:rPr b="0" i="0" lang="en-US" spc="0" sz="1200" u="none" cap="none" strike="noStrike">
                <a:solidFill>
                  <a:schemeClr val="dk1"/>
                </a:solidFill>
                <a:latin typeface="Quattrocento Sans"/>
                <a:ea typeface="Quattrocento Sans"/>
                <a:cs typeface="Quattrocento Sans"/>
                <a:sym typeface="Quattrocento Sans"/>
              </a:rPr>
              <a:t>openpyxl · xlrd</a:t>
            </a:r>
            <a:endParaRPr b="0" i="0" spc="0" sz="1200" u="none" cap="none" strike="noStrike">
              <a:solidFill>
                <a:schemeClr val="dk1"/>
              </a:solidFill>
              <a:latin typeface="Quattrocento Sans"/>
              <a:ea typeface="Quattrocento Sans"/>
              <a:cs typeface="Quattrocento Sans"/>
              <a:sym typeface="Quattrocento Sans"/>
            </a:endParaRPr>
          </a:p>
        </p:txBody>
      </p:sp>
      <p:sp>
        <p:nvSpPr>
          <p:cNvPr id="94" name="Google Shape;94;p7"/>
          <p:cNvSpPr/>
          <p:nvPr/>
        </p:nvSpPr>
        <p:spPr>
          <a:xfrm>
            <a:off x="548640" y="3520440"/>
            <a:ext cx="2011680" cy="1554480"/>
          </a:xfrm>
          <a:prstGeom prst="roundRect">
            <a:avLst>
              <a:gd fmla="val 5882" name="adj"/>
            </a:avLst>
          </a:prstGeom>
          <a:solidFill>
            <a:srgbClr val="F9F9FB"/>
          </a:solidFill>
          <a:ln cap="flat" cmpd="sng" w="9525">
            <a:solidFill>
              <a:srgbClr val="E0E1E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5" name="Google Shape;95;p7"/>
          <p:cNvSpPr/>
          <p:nvPr/>
        </p:nvSpPr>
        <p:spPr>
          <a:xfrm>
            <a:off x="777240" y="3749040"/>
            <a:ext cx="548640" cy="548640"/>
          </a:xfrm>
          <a:prstGeom prst="ellipse">
            <a:avLst/>
          </a:prstGeom>
          <a:solidFill>
            <a:srgbClr val="3657C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96" name="Google Shape;96;p7"/>
          <p:cNvPicPr preferRelativeResize="0"/>
          <p:nvPr/>
        </p:nvPicPr>
        <p:blipFill rotWithShape="1">
          <a:blip r:embed="rId6">
            <a:alphaModFix/>
          </a:blip>
          <a:srcRect b="0" l="0" r="0" t="0"/>
          <a:stretch/>
        </p:blipFill>
        <p:spPr>
          <a:xfrm>
            <a:off x="900684" y="3872484"/>
            <a:ext cx="301752" cy="301752"/>
          </a:xfrm>
          <a:prstGeom prst="rect">
            <a:avLst/>
          </a:prstGeom>
          <a:noFill/>
          <a:ln>
            <a:noFill/>
          </a:ln>
        </p:spPr>
      </p:pic>
      <p:sp>
        <p:nvSpPr>
          <p:cNvPr id="97" name="Google Shape;97;p7"/>
          <p:cNvSpPr txBox="1"/>
          <p:nvPr/>
        </p:nvSpPr>
        <p:spPr>
          <a:xfrm>
            <a:off x="777240" y="4416552"/>
            <a:ext cx="155448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2"/>
              </a:buClr>
              <a:buSzPts val="1500"/>
              <a:buFont typeface="Quattrocento Sans"/>
              <a:buNone/>
            </a:pPr>
            <a:r>
              <a:rPr b="1" i="0" lang="en-US" spc="0" sz="1500" u="none" cap="none" strike="noStrike">
                <a:solidFill>
                  <a:schemeClr val="dk2"/>
                </a:solidFill>
                <a:latin typeface="Quattrocento Sans"/>
                <a:ea typeface="Quattrocento Sans"/>
                <a:cs typeface="Quattrocento Sans"/>
                <a:sym typeface="Quattrocento Sans"/>
              </a:rPr>
              <a:t>TXT</a:t>
            </a:r>
            <a:endParaRPr b="0" i="0" spc="0" sz="1500" u="none" cap="none" strike="noStrike">
              <a:solidFill>
                <a:schemeClr val="dk1"/>
              </a:solidFill>
              <a:latin typeface="Quattrocento Sans"/>
              <a:ea typeface="Quattrocento Sans"/>
              <a:cs typeface="Quattrocento Sans"/>
              <a:sym typeface="Quattrocento Sans"/>
            </a:endParaRPr>
          </a:p>
        </p:txBody>
      </p:sp>
      <p:sp>
        <p:nvSpPr>
          <p:cNvPr id="98" name="Google Shape;98;p7"/>
          <p:cNvSpPr txBox="1"/>
          <p:nvPr/>
        </p:nvSpPr>
        <p:spPr>
          <a:xfrm>
            <a:off x="777240" y="4846320"/>
            <a:ext cx="155448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Quattrocento Sans"/>
              <a:buNone/>
            </a:pPr>
            <a:r>
              <a:rPr b="0" i="0" lang="en-US" spc="0" sz="1200" u="none" cap="none" strike="noStrike">
                <a:solidFill>
                  <a:schemeClr val="dk1"/>
                </a:solidFill>
                <a:latin typeface="Quattrocento Sans"/>
                <a:ea typeface="Quattrocento Sans"/>
                <a:cs typeface="Quattrocento Sans"/>
                <a:sym typeface="Quattrocento Sans"/>
              </a:rPr>
              <a:t>texte brut ou collé</a:t>
            </a:r>
            <a:endParaRPr b="0" i="0" spc="0" sz="1200" u="none" cap="none" strike="noStrike">
              <a:solidFill>
                <a:schemeClr val="dk1"/>
              </a:solidFill>
              <a:latin typeface="Quattrocento Sans"/>
              <a:ea typeface="Quattrocento Sans"/>
              <a:cs typeface="Quattrocento Sans"/>
              <a:sym typeface="Quattrocento Sans"/>
            </a:endParaRPr>
          </a:p>
        </p:txBody>
      </p:sp>
      <p:sp>
        <p:nvSpPr>
          <p:cNvPr id="99" name="Google Shape;99;p7"/>
          <p:cNvSpPr/>
          <p:nvPr/>
        </p:nvSpPr>
        <p:spPr>
          <a:xfrm>
            <a:off x="2697480" y="3520440"/>
            <a:ext cx="2011680" cy="1554480"/>
          </a:xfrm>
          <a:prstGeom prst="roundRect">
            <a:avLst>
              <a:gd fmla="val 5882" name="adj"/>
            </a:avLst>
          </a:prstGeom>
          <a:solidFill>
            <a:srgbClr val="F9F9FB"/>
          </a:solidFill>
          <a:ln cap="flat" cmpd="sng" w="9525">
            <a:solidFill>
              <a:srgbClr val="E0E1E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0" name="Google Shape;100;p7"/>
          <p:cNvSpPr/>
          <p:nvPr/>
        </p:nvSpPr>
        <p:spPr>
          <a:xfrm>
            <a:off x="2926080" y="3749040"/>
            <a:ext cx="548640" cy="548640"/>
          </a:xfrm>
          <a:prstGeom prst="ellipse">
            <a:avLst/>
          </a:prstGeom>
          <a:solidFill>
            <a:srgbClr val="3657C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01" name="Google Shape;101;p7"/>
          <p:cNvPicPr preferRelativeResize="0"/>
          <p:nvPr/>
        </p:nvPicPr>
        <p:blipFill rotWithShape="1">
          <a:blip r:embed="rId7">
            <a:alphaModFix/>
          </a:blip>
          <a:srcRect b="0" l="0" r="0" t="0"/>
          <a:stretch/>
        </p:blipFill>
        <p:spPr>
          <a:xfrm>
            <a:off x="3049524" y="3872484"/>
            <a:ext cx="301752" cy="301752"/>
          </a:xfrm>
          <a:prstGeom prst="rect">
            <a:avLst/>
          </a:prstGeom>
          <a:noFill/>
          <a:ln>
            <a:noFill/>
          </a:ln>
        </p:spPr>
      </p:pic>
      <p:sp>
        <p:nvSpPr>
          <p:cNvPr id="102" name="Google Shape;102;p7"/>
          <p:cNvSpPr txBox="1"/>
          <p:nvPr/>
        </p:nvSpPr>
        <p:spPr>
          <a:xfrm>
            <a:off x="2926080" y="4416552"/>
            <a:ext cx="155448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2"/>
              </a:buClr>
              <a:buSzPts val="1500"/>
              <a:buFont typeface="Quattrocento Sans"/>
              <a:buNone/>
            </a:pPr>
            <a:r>
              <a:rPr b="1" i="0" lang="en-US" spc="0" sz="1500" u="none" cap="none" strike="noStrike">
                <a:solidFill>
                  <a:schemeClr val="dk2"/>
                </a:solidFill>
                <a:latin typeface="Quattrocento Sans"/>
                <a:ea typeface="Quattrocento Sans"/>
                <a:cs typeface="Quattrocento Sans"/>
                <a:sym typeface="Quattrocento Sans"/>
              </a:rPr>
              <a:t>Images</a:t>
            </a:r>
            <a:endParaRPr b="0" i="0" spc="0" sz="1500" u="none" cap="none" strike="noStrike">
              <a:solidFill>
                <a:schemeClr val="dk1"/>
              </a:solidFill>
              <a:latin typeface="Quattrocento Sans"/>
              <a:ea typeface="Quattrocento Sans"/>
              <a:cs typeface="Quattrocento Sans"/>
              <a:sym typeface="Quattrocento Sans"/>
            </a:endParaRPr>
          </a:p>
        </p:txBody>
      </p:sp>
      <p:sp>
        <p:nvSpPr>
          <p:cNvPr id="103" name="Google Shape;103;p7"/>
          <p:cNvSpPr txBox="1"/>
          <p:nvPr/>
        </p:nvSpPr>
        <p:spPr>
          <a:xfrm>
            <a:off x="2926080" y="4846320"/>
            <a:ext cx="155448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Quattrocento Sans"/>
              <a:buNone/>
            </a:pPr>
            <a:r>
              <a:rPr b="0" i="0" lang="en-US" spc="0" sz="1200" u="none" cap="none" strike="noStrike">
                <a:solidFill>
                  <a:schemeClr val="dk1"/>
                </a:solidFill>
                <a:latin typeface="Quattrocento Sans"/>
                <a:ea typeface="Quattrocento Sans"/>
                <a:cs typeface="Quattrocento Sans"/>
                <a:sym typeface="Quattrocento Sans"/>
              </a:rPr>
              <a:t>OCR (extraits courts)</a:t>
            </a:r>
            <a:endParaRPr b="0" i="0" spc="0" sz="1200" u="none" cap="none" strike="noStrike">
              <a:solidFill>
                <a:schemeClr val="dk1"/>
              </a:solidFill>
              <a:latin typeface="Quattrocento Sans"/>
              <a:ea typeface="Quattrocento Sans"/>
              <a:cs typeface="Quattrocento Sans"/>
              <a:sym typeface="Quattrocento Sans"/>
            </a:endParaRPr>
          </a:p>
        </p:txBody>
      </p:sp>
      <p:sp>
        <p:nvSpPr>
          <p:cNvPr id="104" name="Google Shape;104;p7"/>
          <p:cNvSpPr txBox="1"/>
          <p:nvPr/>
        </p:nvSpPr>
        <p:spPr>
          <a:xfrm>
            <a:off x="7269480" y="1536192"/>
            <a:ext cx="43891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4"/>
              </a:buClr>
              <a:buSzPts val="1200"/>
              <a:buFont typeface="Quattrocento Sans"/>
              <a:buNone/>
            </a:pPr>
            <a:r>
              <a:rPr b="1" i="0" lang="en-US" spc="200" sz="1200" u="none" cap="none" strike="noStrike">
                <a:solidFill>
                  <a:schemeClr val="accent4"/>
                </a:solidFill>
                <a:latin typeface="Quattrocento Sans"/>
                <a:ea typeface="Quattrocento Sans"/>
                <a:cs typeface="Quattrocento Sans"/>
                <a:sym typeface="Quattrocento Sans"/>
              </a:rPr>
              <a:t>TRAITEMENT PRÉVU</a:t>
            </a:r>
            <a:endParaRPr b="0" i="0" spc="0" sz="1200" u="none" cap="none" strike="noStrike">
              <a:solidFill>
                <a:schemeClr val="dk1"/>
              </a:solidFill>
              <a:latin typeface="Quattrocento Sans"/>
              <a:ea typeface="Quattrocento Sans"/>
              <a:cs typeface="Quattrocento Sans"/>
              <a:sym typeface="Quattrocento Sans"/>
            </a:endParaRPr>
          </a:p>
        </p:txBody>
      </p:sp>
      <p:sp>
        <p:nvSpPr>
          <p:cNvPr id="105" name="Google Shape;105;p7"/>
          <p:cNvSpPr/>
          <p:nvPr/>
        </p:nvSpPr>
        <p:spPr>
          <a:xfrm>
            <a:off x="7269480" y="1984248"/>
            <a:ext cx="548640" cy="54864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6" name="Google Shape;106;p7"/>
          <p:cNvSpPr txBox="1"/>
          <p:nvPr/>
        </p:nvSpPr>
        <p:spPr>
          <a:xfrm>
            <a:off x="7269480" y="1984248"/>
            <a:ext cx="548640" cy="5486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800"/>
              <a:buFont typeface="Quattrocento Sans"/>
              <a:buNone/>
            </a:pPr>
            <a:r>
              <a:rPr b="1" i="0" lang="en-US" spc="0" sz="1800" u="none" cap="none" strike="noStrike">
                <a:solidFill>
                  <a:schemeClr val="lt1"/>
                </a:solidFill>
                <a:latin typeface="Quattrocento Sans"/>
                <a:ea typeface="Quattrocento Sans"/>
                <a:cs typeface="Quattrocento Sans"/>
                <a:sym typeface="Quattrocento Sans"/>
              </a:rPr>
              <a:t>1</a:t>
            </a:r>
            <a:endParaRPr b="0" i="0" spc="0" sz="1800" u="none" cap="none" strike="noStrike">
              <a:solidFill>
                <a:schemeClr val="dk1"/>
              </a:solidFill>
              <a:latin typeface="Quattrocento Sans"/>
              <a:ea typeface="Quattrocento Sans"/>
              <a:cs typeface="Quattrocento Sans"/>
              <a:sym typeface="Quattrocento Sans"/>
            </a:endParaRPr>
          </a:p>
        </p:txBody>
      </p:sp>
      <p:sp>
        <p:nvSpPr>
          <p:cNvPr id="107" name="Google Shape;107;p7"/>
          <p:cNvSpPr txBox="1"/>
          <p:nvPr/>
        </p:nvSpPr>
        <p:spPr>
          <a:xfrm>
            <a:off x="8001000" y="1874520"/>
            <a:ext cx="3639312"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2"/>
              </a:buClr>
              <a:buSzPts val="1600"/>
              <a:buFont typeface="Quattrocento Sans"/>
              <a:buNone/>
            </a:pPr>
            <a:r>
              <a:rPr b="1" i="0" lang="en-US" spc="0" sz="1600" u="none" cap="none" strike="noStrike">
                <a:solidFill>
                  <a:schemeClr val="dk2"/>
                </a:solidFill>
                <a:latin typeface="Quattrocento Sans"/>
                <a:ea typeface="Quattrocento Sans"/>
                <a:cs typeface="Quattrocento Sans"/>
                <a:sym typeface="Quattrocento Sans"/>
              </a:rPr>
              <a:t>Lire</a:t>
            </a:r>
            <a:endParaRPr b="0" i="0" spc="0" sz="1600" u="none" cap="none" strike="noStrike">
              <a:solidFill>
                <a:schemeClr val="dk1"/>
              </a:solidFill>
              <a:latin typeface="Quattrocento Sans"/>
              <a:ea typeface="Quattrocento Sans"/>
              <a:cs typeface="Quattrocento Sans"/>
              <a:sym typeface="Quattrocento Sans"/>
            </a:endParaRPr>
          </a:p>
          <a:p>
            <a:pPr indent="0" lvl="0" marL="0" marR="0" rtl="0" algn="l">
              <a:lnSpc>
                <a:spcPct val="100000"/>
              </a:lnSpc>
              <a:spcBef>
                <a:spcPts val="0"/>
              </a:spcBef>
              <a:spcAft>
                <a:spcPts val="0"/>
              </a:spcAft>
              <a:buClr>
                <a:schemeClr val="accent4"/>
              </a:buClr>
              <a:buSzPts val="1300"/>
              <a:buFont typeface="Quattrocento Sans"/>
              <a:buNone/>
            </a:pPr>
            <a:r>
              <a:rPr b="0" i="0" lang="en-US" spc="0" sz="1300" u="none" cap="none" strike="noStrike">
                <a:solidFill>
                  <a:schemeClr val="accent4"/>
                </a:solidFill>
                <a:latin typeface="Quattrocento Sans"/>
                <a:ea typeface="Quattrocento Sans"/>
                <a:cs typeface="Quattrocento Sans"/>
                <a:sym typeface="Quattrocento Sans"/>
              </a:rPr>
              <a:t>extraire le texte et les sections</a:t>
            </a:r>
            <a:endParaRPr b="0" i="0" spc="0" sz="1600" u="none" cap="none" strike="noStrike">
              <a:solidFill>
                <a:schemeClr val="dk1"/>
              </a:solidFill>
              <a:latin typeface="Quattrocento Sans"/>
              <a:ea typeface="Quattrocento Sans"/>
              <a:cs typeface="Quattrocento Sans"/>
              <a:sym typeface="Quattrocento Sans"/>
            </a:endParaRPr>
          </a:p>
        </p:txBody>
      </p:sp>
      <p:sp>
        <p:nvSpPr>
          <p:cNvPr id="108" name="Google Shape;108;p7"/>
          <p:cNvSpPr/>
          <p:nvPr/>
        </p:nvSpPr>
        <p:spPr>
          <a:xfrm>
            <a:off x="7269480" y="3063240"/>
            <a:ext cx="548640" cy="54864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9" name="Google Shape;109;p7"/>
          <p:cNvSpPr txBox="1"/>
          <p:nvPr/>
        </p:nvSpPr>
        <p:spPr>
          <a:xfrm>
            <a:off x="7269480" y="3063240"/>
            <a:ext cx="548640" cy="5486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800"/>
              <a:buFont typeface="Quattrocento Sans"/>
              <a:buNone/>
            </a:pPr>
            <a:r>
              <a:rPr b="1" i="0" lang="en-US" spc="0" sz="1800" u="none" cap="none" strike="noStrike">
                <a:solidFill>
                  <a:schemeClr val="lt1"/>
                </a:solidFill>
                <a:latin typeface="Quattrocento Sans"/>
                <a:ea typeface="Quattrocento Sans"/>
                <a:cs typeface="Quattrocento Sans"/>
                <a:sym typeface="Quattrocento Sans"/>
              </a:rPr>
              <a:t>2</a:t>
            </a:r>
            <a:endParaRPr b="0" i="0" spc="0" sz="1800" u="none" cap="none" strike="noStrike">
              <a:solidFill>
                <a:schemeClr val="dk1"/>
              </a:solidFill>
              <a:latin typeface="Quattrocento Sans"/>
              <a:ea typeface="Quattrocento Sans"/>
              <a:cs typeface="Quattrocento Sans"/>
              <a:sym typeface="Quattrocento Sans"/>
            </a:endParaRPr>
          </a:p>
        </p:txBody>
      </p:sp>
      <p:sp>
        <p:nvSpPr>
          <p:cNvPr id="110" name="Google Shape;110;p7"/>
          <p:cNvSpPr txBox="1"/>
          <p:nvPr/>
        </p:nvSpPr>
        <p:spPr>
          <a:xfrm>
            <a:off x="8001000" y="2953512"/>
            <a:ext cx="3639312"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2"/>
              </a:buClr>
              <a:buSzPts val="1600"/>
              <a:buFont typeface="Quattrocento Sans"/>
              <a:buNone/>
            </a:pPr>
            <a:r>
              <a:rPr b="1" i="0" lang="en-US" spc="0" sz="1600" u="none" cap="none" strike="noStrike">
                <a:solidFill>
                  <a:schemeClr val="dk2"/>
                </a:solidFill>
                <a:latin typeface="Quattrocento Sans"/>
                <a:ea typeface="Quattrocento Sans"/>
                <a:cs typeface="Quattrocento Sans"/>
                <a:sym typeface="Quattrocento Sans"/>
              </a:rPr>
              <a:t>Nettoyer</a:t>
            </a:r>
            <a:endParaRPr b="0" i="0" spc="0" sz="1600" u="none" cap="none" strike="noStrike">
              <a:solidFill>
                <a:schemeClr val="dk1"/>
              </a:solidFill>
              <a:latin typeface="Quattrocento Sans"/>
              <a:ea typeface="Quattrocento Sans"/>
              <a:cs typeface="Quattrocento Sans"/>
              <a:sym typeface="Quattrocento Sans"/>
            </a:endParaRPr>
          </a:p>
          <a:p>
            <a:pPr indent="0" lvl="0" marL="0" marR="0" rtl="0" algn="l">
              <a:lnSpc>
                <a:spcPct val="100000"/>
              </a:lnSpc>
              <a:spcBef>
                <a:spcPts val="0"/>
              </a:spcBef>
              <a:spcAft>
                <a:spcPts val="0"/>
              </a:spcAft>
              <a:buClr>
                <a:schemeClr val="accent4"/>
              </a:buClr>
              <a:buSzPts val="1300"/>
              <a:buFont typeface="Quattrocento Sans"/>
              <a:buNone/>
            </a:pPr>
            <a:r>
              <a:rPr b="0" i="0" lang="en-US" spc="0" sz="1300" u="none" cap="none" strike="noStrike">
                <a:solidFill>
                  <a:schemeClr val="accent4"/>
                </a:solidFill>
                <a:latin typeface="Quattrocento Sans"/>
                <a:ea typeface="Quattrocento Sans"/>
                <a:cs typeface="Quattrocento Sans"/>
                <a:sym typeface="Quattrocento Sans"/>
              </a:rPr>
              <a:t>en-têtes, pieds de page, césures</a:t>
            </a:r>
            <a:endParaRPr b="0" i="0" spc="0" sz="1600" u="none" cap="none" strike="noStrike">
              <a:solidFill>
                <a:schemeClr val="dk1"/>
              </a:solidFill>
              <a:latin typeface="Quattrocento Sans"/>
              <a:ea typeface="Quattrocento Sans"/>
              <a:cs typeface="Quattrocento Sans"/>
              <a:sym typeface="Quattrocento Sans"/>
            </a:endParaRPr>
          </a:p>
        </p:txBody>
      </p:sp>
      <p:sp>
        <p:nvSpPr>
          <p:cNvPr id="111" name="Google Shape;111;p7"/>
          <p:cNvSpPr/>
          <p:nvPr/>
        </p:nvSpPr>
        <p:spPr>
          <a:xfrm>
            <a:off x="7269480" y="4142232"/>
            <a:ext cx="548640" cy="54864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2" name="Google Shape;112;p7"/>
          <p:cNvSpPr txBox="1"/>
          <p:nvPr/>
        </p:nvSpPr>
        <p:spPr>
          <a:xfrm>
            <a:off x="7269480" y="4142232"/>
            <a:ext cx="548640" cy="5486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800"/>
              <a:buFont typeface="Quattrocento Sans"/>
              <a:buNone/>
            </a:pPr>
            <a:r>
              <a:rPr b="1" i="0" lang="en-US" spc="0" sz="1800" u="none" cap="none" strike="noStrike">
                <a:solidFill>
                  <a:schemeClr val="lt1"/>
                </a:solidFill>
                <a:latin typeface="Quattrocento Sans"/>
                <a:ea typeface="Quattrocento Sans"/>
                <a:cs typeface="Quattrocento Sans"/>
                <a:sym typeface="Quattrocento Sans"/>
              </a:rPr>
              <a:t>3</a:t>
            </a:r>
            <a:endParaRPr b="0" i="0" spc="0" sz="1800" u="none" cap="none" strike="noStrike">
              <a:solidFill>
                <a:schemeClr val="dk1"/>
              </a:solidFill>
              <a:latin typeface="Quattrocento Sans"/>
              <a:ea typeface="Quattrocento Sans"/>
              <a:cs typeface="Quattrocento Sans"/>
              <a:sym typeface="Quattrocento Sans"/>
            </a:endParaRPr>
          </a:p>
        </p:txBody>
      </p:sp>
      <p:sp>
        <p:nvSpPr>
          <p:cNvPr id="113" name="Google Shape;113;p7"/>
          <p:cNvSpPr txBox="1"/>
          <p:nvPr/>
        </p:nvSpPr>
        <p:spPr>
          <a:xfrm>
            <a:off x="8001000" y="4032504"/>
            <a:ext cx="3639312"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2"/>
              </a:buClr>
              <a:buSzPts val="1600"/>
              <a:buFont typeface="Quattrocento Sans"/>
              <a:buNone/>
            </a:pPr>
            <a:r>
              <a:rPr b="1" i="0" lang="en-US" spc="0" sz="1600" u="none" cap="none" strike="noStrike">
                <a:solidFill>
                  <a:schemeClr val="dk2"/>
                </a:solidFill>
                <a:latin typeface="Quattrocento Sans"/>
                <a:ea typeface="Quattrocento Sans"/>
                <a:cs typeface="Quattrocento Sans"/>
                <a:sym typeface="Quattrocento Sans"/>
              </a:rPr>
              <a:t>Découper</a:t>
            </a:r>
            <a:endParaRPr b="0" i="0" spc="0" sz="1600" u="none" cap="none" strike="noStrike">
              <a:solidFill>
                <a:schemeClr val="dk1"/>
              </a:solidFill>
              <a:latin typeface="Quattrocento Sans"/>
              <a:ea typeface="Quattrocento Sans"/>
              <a:cs typeface="Quattrocento Sans"/>
              <a:sym typeface="Quattrocento Sans"/>
            </a:endParaRPr>
          </a:p>
          <a:p>
            <a:pPr indent="0" lvl="0" marL="0" marR="0" rtl="0" algn="l">
              <a:lnSpc>
                <a:spcPct val="100000"/>
              </a:lnSpc>
              <a:spcBef>
                <a:spcPts val="0"/>
              </a:spcBef>
              <a:spcAft>
                <a:spcPts val="0"/>
              </a:spcAft>
              <a:buClr>
                <a:schemeClr val="accent4"/>
              </a:buClr>
              <a:buSzPts val="1300"/>
              <a:buFont typeface="Quattrocento Sans"/>
              <a:buNone/>
            </a:pPr>
            <a:r>
              <a:rPr b="0" i="0" lang="en-US" spc="0" sz="1300" u="none" cap="none" strike="noStrike">
                <a:solidFill>
                  <a:schemeClr val="accent4"/>
                </a:solidFill>
                <a:latin typeface="Quattrocento Sans"/>
                <a:ea typeface="Quattrocento Sans"/>
                <a:cs typeface="Quattrocento Sans"/>
                <a:sym typeface="Quattrocento Sans"/>
              </a:rPr>
              <a:t>en passages courts, avec page, section et langue</a:t>
            </a:r>
            <a:endParaRPr b="0" i="0" spc="0" sz="1600" u="none" cap="none" strike="noStrike">
              <a:solidFill>
                <a:schemeClr val="dk1"/>
              </a:solidFill>
              <a:latin typeface="Quattrocento Sans"/>
              <a:ea typeface="Quattrocento Sans"/>
              <a:cs typeface="Quattrocento Sans"/>
              <a:sym typeface="Quattrocento Sans"/>
            </a:endParaRPr>
          </a:p>
        </p:txBody>
      </p:sp>
      <p:sp>
        <p:nvSpPr>
          <p:cNvPr id="114" name="Google Shape;114;p7"/>
          <p:cNvSpPr/>
          <p:nvPr/>
        </p:nvSpPr>
        <p:spPr>
          <a:xfrm>
            <a:off x="548640" y="5230368"/>
            <a:ext cx="11094415" cy="658368"/>
          </a:xfrm>
          <a:prstGeom prst="roundRect">
            <a:avLst>
              <a:gd fmla="val 11111"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5" name="Google Shape;115;p7"/>
          <p:cNvSpPr txBox="1"/>
          <p:nvPr/>
        </p:nvSpPr>
        <p:spPr>
          <a:xfrm>
            <a:off x="822960" y="5230368"/>
            <a:ext cx="10545775" cy="6583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2"/>
              </a:buClr>
              <a:buSzPts val="1500"/>
              <a:buFont typeface="Quattrocento Sans"/>
              <a:buNone/>
            </a:pPr>
            <a:r>
              <a:rPr b="1" i="0" lang="en-US" spc="0" sz="1500" u="none" cap="none" strike="noStrike">
                <a:solidFill>
                  <a:schemeClr val="dk2"/>
                </a:solidFill>
                <a:latin typeface="Quattrocento Sans"/>
                <a:ea typeface="Quattrocento Sans"/>
                <a:cs typeface="Quattrocento Sans"/>
                <a:sym typeface="Quattrocento Sans"/>
              </a:rPr>
              <a:t>Le passage </a:t>
            </a:r>
            <a:r>
              <a:rPr b="0" i="0" lang="en-US" spc="0" sz="1500" u="none" cap="none" strike="noStrike">
                <a:solidFill>
                  <a:schemeClr val="dk1"/>
                </a:solidFill>
                <a:latin typeface="Quattrocento Sans"/>
                <a:ea typeface="Quattrocento Sans"/>
                <a:cs typeface="Quattrocento Sans"/>
                <a:sym typeface="Quattrocento Sans"/>
              </a:rPr>
              <a:t>sera l'unité de travail : c'est lui qui sera recherché, jugé, cité comme preuve et annoté</a:t>
            </a:r>
            <a:endParaRPr b="0" i="0" spc="0" sz="1500" u="none" cap="none" strike="noStrike">
              <a:solidFill>
                <a:schemeClr val="dk1"/>
              </a:solidFill>
              <a:latin typeface="Quattrocento Sans"/>
              <a:ea typeface="Quattrocento Sans"/>
              <a:cs typeface="Quattrocento Sans"/>
              <a:sym typeface="Quattrocento Sans"/>
            </a:endParaRPr>
          </a:p>
        </p:txBody>
      </p:sp>
      <p:sp>
        <p:nvSpPr>
          <p:cNvPr id="116" name="Google Shape;116;p7"/>
          <p:cNvSpPr txBox="1"/>
          <p:nvPr>
            <p:ph idx="4294967295" type="sldNum"/>
          </p:nvPr>
        </p:nvSpPr>
        <p:spPr>
          <a:xfrm>
            <a:off x="11185855" y="6428232"/>
            <a:ext cx="45720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100"/>
              <a:buNone/>
            </a:pPr>
            <a:fld id="{00000000-1234-1234-1234-123412341234}" type="slidenum">
              <a:rPr b="0" i="0" lang="en-US" sz="1100" u="none" cap="none" strike="noStrike">
                <a:solidFill>
                  <a:schemeClr val="accent4"/>
                </a:solidFill>
                <a:latin typeface="Quattrocento Sans"/>
                <a:ea typeface="Quattrocento Sans"/>
                <a:cs typeface="Quattrocento Sans"/>
                <a:sym typeface="Quattrocento Sans"/>
              </a:rPr>
              <a:t>‹#›</a:t>
            </a:fld>
            <a:endParaRPr b="0" i="0" sz="1100" u="none" cap="none" strike="noStrike">
              <a:solidFill>
                <a:schemeClr val="accent4"/>
              </a:solidFill>
              <a:latin typeface="Quattrocento Sans"/>
              <a:ea typeface="Quattrocento Sans"/>
              <a:cs typeface="Quattrocento Sans"/>
              <a:sym typeface="Quattrocento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8"/>
          <p:cNvSpPr txBox="1"/>
          <p:nvPr/>
        </p:nvSpPr>
        <p:spPr>
          <a:xfrm>
            <a:off x="548640" y="274320"/>
            <a:ext cx="73152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200"/>
              <a:buFont typeface="Quattrocento Sans"/>
              <a:buNone/>
            </a:pPr>
            <a:r>
              <a:rPr b="1" i="0" lang="en-US" spc="200" sz="1200" u="none" cap="none" strike="noStrike">
                <a:solidFill>
                  <a:schemeClr val="accent1"/>
                </a:solidFill>
                <a:latin typeface="Quattrocento Sans"/>
                <a:ea typeface="Quattrocento Sans"/>
                <a:cs typeface="Quattrocento Sans"/>
                <a:sym typeface="Quattrocento Sans"/>
              </a:rPr>
              <a:t>DONNÉES STRUCTURÉES</a:t>
            </a:r>
            <a:endParaRPr b="0" i="0" spc="0" sz="1200" u="none" cap="none" strike="noStrike">
              <a:solidFill>
                <a:schemeClr val="dk1"/>
              </a:solidFill>
              <a:latin typeface="Quattrocento Sans"/>
              <a:ea typeface="Quattrocento Sans"/>
              <a:cs typeface="Quattrocento Sans"/>
              <a:sym typeface="Quattrocento Sans"/>
            </a:endParaRPr>
          </a:p>
        </p:txBody>
      </p:sp>
      <p:sp>
        <p:nvSpPr>
          <p:cNvPr id="123" name="Google Shape;123;p8"/>
          <p:cNvSpPr txBox="1"/>
          <p:nvPr>
            <p:ph type="title"/>
          </p:nvPr>
        </p:nvSpPr>
        <p:spPr>
          <a:xfrm>
            <a:off x="548640" y="566928"/>
            <a:ext cx="11094415" cy="7772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2"/>
              </a:buClr>
              <a:buSzPts val="2800"/>
              <a:buFont typeface="Quattrocento Sans"/>
              <a:buNone/>
            </a:pPr>
            <a:r>
              <a:rPr b="1" lang="en-US" sz="2800">
                <a:solidFill>
                  <a:schemeClr val="dk2"/>
                </a:solidFill>
              </a:rPr>
              <a:t>26 champs prévus, chaque valeur avec sa preuve</a:t>
            </a:r>
            <a:endParaRPr sz="2800"/>
          </a:p>
        </p:txBody>
      </p:sp>
      <p:sp>
        <p:nvSpPr>
          <p:cNvPr id="124" name="Google Shape;124;p8"/>
          <p:cNvSpPr/>
          <p:nvPr/>
        </p:nvSpPr>
        <p:spPr>
          <a:xfrm>
            <a:off x="8991295" y="219456"/>
            <a:ext cx="2651760" cy="329184"/>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5" name="Google Shape;125;p8"/>
          <p:cNvSpPr txBox="1"/>
          <p:nvPr/>
        </p:nvSpPr>
        <p:spPr>
          <a:xfrm>
            <a:off x="8991295" y="219456"/>
            <a:ext cx="2651760" cy="32918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2"/>
              </a:buClr>
              <a:buSzPts val="1150"/>
              <a:buFont typeface="Quattrocento Sans"/>
              <a:buNone/>
            </a:pPr>
            <a:r>
              <a:rPr b="1" i="0" lang="en-US" spc="0" sz="1150" u="none" cap="none" strike="noStrike">
                <a:solidFill>
                  <a:schemeClr val="dk2"/>
                </a:solidFill>
                <a:latin typeface="Quattrocento Sans"/>
                <a:ea typeface="Quattrocento Sans"/>
                <a:cs typeface="Quattrocento Sans"/>
                <a:sym typeface="Quattrocento Sans"/>
              </a:rPr>
              <a:t>Personne 2 · Données</a:t>
            </a:r>
            <a:endParaRPr b="0" i="0" spc="0" sz="1150" u="none" cap="none" strike="noStrike">
              <a:solidFill>
                <a:schemeClr val="dk1"/>
              </a:solidFill>
              <a:latin typeface="Quattrocento Sans"/>
              <a:ea typeface="Quattrocento Sans"/>
              <a:cs typeface="Quattrocento Sans"/>
              <a:sym typeface="Quattrocento Sans"/>
            </a:endParaRPr>
          </a:p>
        </p:txBody>
      </p:sp>
      <p:sp>
        <p:nvSpPr>
          <p:cNvPr id="126" name="Google Shape;126;p8"/>
          <p:cNvSpPr txBox="1"/>
          <p:nvPr/>
        </p:nvSpPr>
        <p:spPr>
          <a:xfrm>
            <a:off x="548640" y="1536192"/>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4"/>
              </a:buClr>
              <a:buSzPts val="1200"/>
              <a:buFont typeface="Quattrocento Sans"/>
              <a:buNone/>
            </a:pPr>
            <a:r>
              <a:rPr b="1" i="0" lang="en-US" spc="200" sz="1200" u="none" cap="none" strike="noStrike">
                <a:solidFill>
                  <a:schemeClr val="accent4"/>
                </a:solidFill>
                <a:latin typeface="Quattrocento Sans"/>
                <a:ea typeface="Quattrocento Sans"/>
                <a:cs typeface="Quattrocento Sans"/>
                <a:sym typeface="Quattrocento Sans"/>
              </a:rPr>
              <a:t>CHAMPS ENVISAGÉS (CAHIER DES CHARGES)</a:t>
            </a:r>
            <a:endParaRPr b="0" i="0" spc="0" sz="1200" u="none" cap="none" strike="noStrike">
              <a:solidFill>
                <a:schemeClr val="dk1"/>
              </a:solidFill>
              <a:latin typeface="Quattrocento Sans"/>
              <a:ea typeface="Quattrocento Sans"/>
              <a:cs typeface="Quattrocento Sans"/>
              <a:sym typeface="Quattrocento Sans"/>
            </a:endParaRPr>
          </a:p>
        </p:txBody>
      </p:sp>
      <p:sp>
        <p:nvSpPr>
          <p:cNvPr id="127" name="Google Shape;127;p8"/>
          <p:cNvSpPr txBox="1"/>
          <p:nvPr/>
        </p:nvSpPr>
        <p:spPr>
          <a:xfrm>
            <a:off x="548640" y="1856232"/>
            <a:ext cx="5486400"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2"/>
              </a:buClr>
              <a:buSzPts val="1450"/>
              <a:buFont typeface="Quattrocento Sans"/>
              <a:buNone/>
            </a:pPr>
            <a:r>
              <a:rPr b="1" i="0" lang="en-US" spc="0" sz="1450" u="none" cap="none" strike="noStrike">
                <a:solidFill>
                  <a:schemeClr val="dk2"/>
                </a:solidFill>
                <a:latin typeface="Quattrocento Sans"/>
                <a:ea typeface="Quattrocento Sans"/>
                <a:cs typeface="Quattrocento Sans"/>
                <a:sym typeface="Quattrocento Sans"/>
              </a:rPr>
              <a:t>Identité</a:t>
            </a:r>
            <a:endParaRPr b="0" i="0" spc="0" sz="1450" u="none" cap="none" strike="noStrike">
              <a:solidFill>
                <a:schemeClr val="dk1"/>
              </a:solidFill>
              <a:latin typeface="Quattrocento Sans"/>
              <a:ea typeface="Quattrocento Sans"/>
              <a:cs typeface="Quattrocento Sans"/>
              <a:sym typeface="Quattrocento Sans"/>
            </a:endParaRPr>
          </a:p>
          <a:p>
            <a:pPr indent="0" lvl="0" marL="0" marR="0" rtl="0" algn="l">
              <a:lnSpc>
                <a:spcPct val="100000"/>
              </a:lnSpc>
              <a:spcBef>
                <a:spcPts val="0"/>
              </a:spcBef>
              <a:spcAft>
                <a:spcPts val="0"/>
              </a:spcAft>
              <a:buClr>
                <a:schemeClr val="accent4"/>
              </a:buClr>
              <a:buSzPts val="1100"/>
              <a:buFont typeface="Consolas"/>
              <a:buNone/>
            </a:pPr>
            <a:r>
              <a:rPr b="0" i="0" lang="en-US" spc="0" sz="1100" u="none" cap="none" strike="noStrike">
                <a:solidFill>
                  <a:schemeClr val="accent4"/>
                </a:solidFill>
                <a:latin typeface="Consolas"/>
                <a:ea typeface="Consolas"/>
                <a:cs typeface="Consolas"/>
                <a:sym typeface="Consolas"/>
              </a:rPr>
              <a:t>company_name, siren, siret, vat_number, country, region, industry_sector, company_size</a:t>
            </a:r>
            <a:endParaRPr b="0" i="0" spc="0" sz="1450" u="none" cap="none" strike="noStrike">
              <a:solidFill>
                <a:schemeClr val="dk1"/>
              </a:solidFill>
              <a:latin typeface="Quattrocento Sans"/>
              <a:ea typeface="Quattrocento Sans"/>
              <a:cs typeface="Quattrocento Sans"/>
              <a:sym typeface="Quattrocento Sans"/>
            </a:endParaRPr>
          </a:p>
        </p:txBody>
      </p:sp>
      <p:sp>
        <p:nvSpPr>
          <p:cNvPr id="128" name="Google Shape;128;p8"/>
          <p:cNvSpPr txBox="1"/>
          <p:nvPr/>
        </p:nvSpPr>
        <p:spPr>
          <a:xfrm>
            <a:off x="548640" y="2514600"/>
            <a:ext cx="5486400"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2"/>
              </a:buClr>
              <a:buSzPts val="1450"/>
              <a:buFont typeface="Quattrocento Sans"/>
              <a:buNone/>
            </a:pPr>
            <a:r>
              <a:rPr b="1" i="0" lang="en-US" spc="0" sz="1450" u="none" cap="none" strike="noStrike">
                <a:solidFill>
                  <a:schemeClr val="dk2"/>
                </a:solidFill>
                <a:latin typeface="Quattrocento Sans"/>
                <a:ea typeface="Quattrocento Sans"/>
                <a:cs typeface="Quattrocento Sans"/>
                <a:sym typeface="Quattrocento Sans"/>
              </a:rPr>
              <a:t>Finances</a:t>
            </a:r>
            <a:endParaRPr b="0" i="0" spc="0" sz="1450" u="none" cap="none" strike="noStrike">
              <a:solidFill>
                <a:schemeClr val="dk1"/>
              </a:solidFill>
              <a:latin typeface="Quattrocento Sans"/>
              <a:ea typeface="Quattrocento Sans"/>
              <a:cs typeface="Quattrocento Sans"/>
              <a:sym typeface="Quattrocento Sans"/>
            </a:endParaRPr>
          </a:p>
          <a:p>
            <a:pPr indent="0" lvl="0" marL="0" marR="0" rtl="0" algn="l">
              <a:lnSpc>
                <a:spcPct val="100000"/>
              </a:lnSpc>
              <a:spcBef>
                <a:spcPts val="0"/>
              </a:spcBef>
              <a:spcAft>
                <a:spcPts val="0"/>
              </a:spcAft>
              <a:buClr>
                <a:schemeClr val="accent4"/>
              </a:buClr>
              <a:buSzPts val="1100"/>
              <a:buFont typeface="Consolas"/>
              <a:buNone/>
            </a:pPr>
            <a:r>
              <a:rPr b="0" i="0" lang="en-US" spc="0" sz="1100" u="none" cap="none" strike="noStrike">
                <a:solidFill>
                  <a:schemeClr val="accent4"/>
                </a:solidFill>
                <a:latin typeface="Consolas"/>
                <a:ea typeface="Consolas"/>
                <a:cs typeface="Consolas"/>
                <a:sym typeface="Consolas"/>
              </a:rPr>
              <a:t>number_of_employees, turnover, net_income, ebitda</a:t>
            </a:r>
            <a:endParaRPr b="0" i="0" spc="0" sz="1450" u="none" cap="none" strike="noStrike">
              <a:solidFill>
                <a:schemeClr val="dk1"/>
              </a:solidFill>
              <a:latin typeface="Quattrocento Sans"/>
              <a:ea typeface="Quattrocento Sans"/>
              <a:cs typeface="Quattrocento Sans"/>
              <a:sym typeface="Quattrocento Sans"/>
            </a:endParaRPr>
          </a:p>
        </p:txBody>
      </p:sp>
      <p:sp>
        <p:nvSpPr>
          <p:cNvPr id="129" name="Google Shape;129;p8"/>
          <p:cNvSpPr txBox="1"/>
          <p:nvPr/>
        </p:nvSpPr>
        <p:spPr>
          <a:xfrm>
            <a:off x="548640" y="3172968"/>
            <a:ext cx="5486400"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2"/>
              </a:buClr>
              <a:buSzPts val="1450"/>
              <a:buFont typeface="Quattrocento Sans"/>
              <a:buNone/>
            </a:pPr>
            <a:r>
              <a:rPr b="1" i="0" lang="en-US" spc="0" sz="1450" u="none" cap="none" strike="noStrike">
                <a:solidFill>
                  <a:schemeClr val="dk2"/>
                </a:solidFill>
                <a:latin typeface="Quattrocento Sans"/>
                <a:ea typeface="Quattrocento Sans"/>
                <a:cs typeface="Quattrocento Sans"/>
                <a:sym typeface="Quattrocento Sans"/>
              </a:rPr>
              <a:t>Climat</a:t>
            </a:r>
            <a:endParaRPr b="0" i="0" spc="0" sz="1450" u="none" cap="none" strike="noStrike">
              <a:solidFill>
                <a:schemeClr val="dk1"/>
              </a:solidFill>
              <a:latin typeface="Quattrocento Sans"/>
              <a:ea typeface="Quattrocento Sans"/>
              <a:cs typeface="Quattrocento Sans"/>
              <a:sym typeface="Quattrocento Sans"/>
            </a:endParaRPr>
          </a:p>
          <a:p>
            <a:pPr indent="0" lvl="0" marL="0" marR="0" rtl="0" algn="l">
              <a:lnSpc>
                <a:spcPct val="100000"/>
              </a:lnSpc>
              <a:spcBef>
                <a:spcPts val="0"/>
              </a:spcBef>
              <a:spcAft>
                <a:spcPts val="0"/>
              </a:spcAft>
              <a:buClr>
                <a:schemeClr val="accent4"/>
              </a:buClr>
              <a:buSzPts val="1100"/>
              <a:buFont typeface="Consolas"/>
              <a:buNone/>
            </a:pPr>
            <a:r>
              <a:rPr b="0" i="0" lang="en-US" spc="0" sz="1100" u="none" cap="none" strike="noStrike">
                <a:solidFill>
                  <a:schemeClr val="accent4"/>
                </a:solidFill>
                <a:latin typeface="Consolas"/>
                <a:ea typeface="Consolas"/>
                <a:cs typeface="Consolas"/>
                <a:sym typeface="Consolas"/>
              </a:rPr>
              <a:t>scope_1/2/3_emissions, total_emissions_tCO2e, carbon_neutrality_target_year</a:t>
            </a:r>
            <a:endParaRPr b="0" i="0" spc="0" sz="1450" u="none" cap="none" strike="noStrike">
              <a:solidFill>
                <a:schemeClr val="dk1"/>
              </a:solidFill>
              <a:latin typeface="Quattrocento Sans"/>
              <a:ea typeface="Quattrocento Sans"/>
              <a:cs typeface="Quattrocento Sans"/>
              <a:sym typeface="Quattrocento Sans"/>
            </a:endParaRPr>
          </a:p>
        </p:txBody>
      </p:sp>
      <p:sp>
        <p:nvSpPr>
          <p:cNvPr id="130" name="Google Shape;130;p8"/>
          <p:cNvSpPr txBox="1"/>
          <p:nvPr/>
        </p:nvSpPr>
        <p:spPr>
          <a:xfrm>
            <a:off x="548640" y="3831336"/>
            <a:ext cx="5486400"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2"/>
              </a:buClr>
              <a:buSzPts val="1450"/>
              <a:buFont typeface="Quattrocento Sans"/>
              <a:buNone/>
            </a:pPr>
            <a:r>
              <a:rPr b="1" i="0" lang="en-US" spc="0" sz="1450" u="none" cap="none" strike="noStrike">
                <a:solidFill>
                  <a:schemeClr val="dk2"/>
                </a:solidFill>
                <a:latin typeface="Quattrocento Sans"/>
                <a:ea typeface="Quattrocento Sans"/>
                <a:cs typeface="Quattrocento Sans"/>
                <a:sym typeface="Quattrocento Sans"/>
              </a:rPr>
              <a:t>Engagements</a:t>
            </a:r>
            <a:endParaRPr b="0" i="0" spc="0" sz="1450" u="none" cap="none" strike="noStrike">
              <a:solidFill>
                <a:schemeClr val="dk1"/>
              </a:solidFill>
              <a:latin typeface="Quattrocento Sans"/>
              <a:ea typeface="Quattrocento Sans"/>
              <a:cs typeface="Quattrocento Sans"/>
              <a:sym typeface="Quattrocento Sans"/>
            </a:endParaRPr>
          </a:p>
          <a:p>
            <a:pPr indent="0" lvl="0" marL="0" marR="0" rtl="0" algn="l">
              <a:lnSpc>
                <a:spcPct val="100000"/>
              </a:lnSpc>
              <a:spcBef>
                <a:spcPts val="0"/>
              </a:spcBef>
              <a:spcAft>
                <a:spcPts val="0"/>
              </a:spcAft>
              <a:buClr>
                <a:schemeClr val="accent4"/>
              </a:buClr>
              <a:buSzPts val="1100"/>
              <a:buFont typeface="Consolas"/>
              <a:buNone/>
            </a:pPr>
            <a:r>
              <a:rPr b="0" i="0" lang="en-US" spc="0" sz="1100" u="none" cap="none" strike="noStrike">
                <a:solidFill>
                  <a:schemeClr val="accent4"/>
                </a:solidFill>
                <a:latin typeface="Consolas"/>
                <a:ea typeface="Consolas"/>
                <a:cs typeface="Consolas"/>
                <a:sym typeface="Consolas"/>
              </a:rPr>
              <a:t>has_sustainability_policy, esg_goals, climate_risk_management, certifications</a:t>
            </a:r>
            <a:endParaRPr b="0" i="0" spc="0" sz="1450" u="none" cap="none" strike="noStrike">
              <a:solidFill>
                <a:schemeClr val="dk1"/>
              </a:solidFill>
              <a:latin typeface="Quattrocento Sans"/>
              <a:ea typeface="Quattrocento Sans"/>
              <a:cs typeface="Quattrocento Sans"/>
              <a:sym typeface="Quattrocento Sans"/>
            </a:endParaRPr>
          </a:p>
        </p:txBody>
      </p:sp>
      <p:sp>
        <p:nvSpPr>
          <p:cNvPr id="131" name="Google Shape;131;p8"/>
          <p:cNvSpPr txBox="1"/>
          <p:nvPr/>
        </p:nvSpPr>
        <p:spPr>
          <a:xfrm>
            <a:off x="548640" y="4489704"/>
            <a:ext cx="5486400"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2"/>
              </a:buClr>
              <a:buSzPts val="1450"/>
              <a:buFont typeface="Quattrocento Sans"/>
              <a:buNone/>
            </a:pPr>
            <a:r>
              <a:rPr b="1" i="0" lang="en-US" spc="0" sz="1450" u="none" cap="none" strike="noStrike">
                <a:solidFill>
                  <a:schemeClr val="dk2"/>
                </a:solidFill>
                <a:latin typeface="Quattrocento Sans"/>
                <a:ea typeface="Quattrocento Sans"/>
                <a:cs typeface="Quattrocento Sans"/>
                <a:sym typeface="Quattrocento Sans"/>
              </a:rPr>
              <a:t>Rapport</a:t>
            </a:r>
            <a:endParaRPr b="0" i="0" spc="0" sz="1450" u="none" cap="none" strike="noStrike">
              <a:solidFill>
                <a:schemeClr val="dk1"/>
              </a:solidFill>
              <a:latin typeface="Quattrocento Sans"/>
              <a:ea typeface="Quattrocento Sans"/>
              <a:cs typeface="Quattrocento Sans"/>
              <a:sym typeface="Quattrocento Sans"/>
            </a:endParaRPr>
          </a:p>
          <a:p>
            <a:pPr indent="0" lvl="0" marL="0" marR="0" rtl="0" algn="l">
              <a:lnSpc>
                <a:spcPct val="100000"/>
              </a:lnSpc>
              <a:spcBef>
                <a:spcPts val="0"/>
              </a:spcBef>
              <a:spcAft>
                <a:spcPts val="0"/>
              </a:spcAft>
              <a:buClr>
                <a:schemeClr val="accent4"/>
              </a:buClr>
              <a:buSzPts val="1100"/>
              <a:buFont typeface="Consolas"/>
              <a:buNone/>
            </a:pPr>
            <a:r>
              <a:rPr b="0" i="0" lang="en-US" spc="0" sz="1100" u="none" cap="none" strike="noStrike">
                <a:solidFill>
                  <a:schemeClr val="accent4"/>
                </a:solidFill>
                <a:latin typeface="Consolas"/>
                <a:ea typeface="Consolas"/>
                <a:cs typeface="Consolas"/>
                <a:sym typeface="Consolas"/>
              </a:rPr>
              <a:t>report_title, report_year, report_source, extraction_date, page_reference</a:t>
            </a:r>
            <a:endParaRPr b="0" i="0" spc="0" sz="1450" u="none" cap="none" strike="noStrike">
              <a:solidFill>
                <a:schemeClr val="dk1"/>
              </a:solidFill>
              <a:latin typeface="Quattrocento Sans"/>
              <a:ea typeface="Quattrocento Sans"/>
              <a:cs typeface="Quattrocento Sans"/>
              <a:sym typeface="Quattrocento Sans"/>
            </a:endParaRPr>
          </a:p>
        </p:txBody>
      </p:sp>
      <p:sp>
        <p:nvSpPr>
          <p:cNvPr id="132" name="Google Shape;132;p8"/>
          <p:cNvSpPr/>
          <p:nvPr/>
        </p:nvSpPr>
        <p:spPr>
          <a:xfrm>
            <a:off x="6400800" y="1554480"/>
            <a:ext cx="5239512" cy="3429000"/>
          </a:xfrm>
          <a:prstGeom prst="roundRect">
            <a:avLst>
              <a:gd fmla="val 2667" name="adj"/>
            </a:avLst>
          </a:prstGeom>
          <a:solidFill>
            <a:schemeClr val="lt2"/>
          </a:solidFill>
          <a:ln cap="flat" cmpd="sng" w="9525">
            <a:solidFill>
              <a:srgbClr val="E0E1E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3" name="Google Shape;133;p8"/>
          <p:cNvSpPr txBox="1"/>
          <p:nvPr/>
        </p:nvSpPr>
        <p:spPr>
          <a:xfrm>
            <a:off x="6675120" y="1737360"/>
            <a:ext cx="4690872"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4"/>
              </a:buClr>
              <a:buSzPts val="1200"/>
              <a:buFont typeface="Quattrocento Sans"/>
              <a:buNone/>
            </a:pPr>
            <a:r>
              <a:rPr b="1" i="0" lang="en-US" spc="200" sz="1200" u="none" cap="none" strike="noStrike">
                <a:solidFill>
                  <a:schemeClr val="accent4"/>
                </a:solidFill>
                <a:latin typeface="Quattrocento Sans"/>
                <a:ea typeface="Quattrocento Sans"/>
                <a:cs typeface="Quattrocento Sans"/>
                <a:sym typeface="Quattrocento Sans"/>
              </a:rPr>
              <a:t>CHAQUE VALEUR CONSERVERA</a:t>
            </a:r>
            <a:endParaRPr b="0" i="0" spc="0" sz="1200" u="none" cap="none" strike="noStrike">
              <a:solidFill>
                <a:schemeClr val="dk1"/>
              </a:solidFill>
              <a:latin typeface="Quattrocento Sans"/>
              <a:ea typeface="Quattrocento Sans"/>
              <a:cs typeface="Quattrocento Sans"/>
              <a:sym typeface="Quattrocento Sans"/>
            </a:endParaRPr>
          </a:p>
        </p:txBody>
      </p:sp>
      <p:graphicFrame>
        <p:nvGraphicFramePr>
          <p:cNvPr id="134" name="Google Shape;134;p8"/>
          <p:cNvGraphicFramePr/>
          <p:nvPr/>
        </p:nvGraphicFramePr>
        <p:xfrm>
          <a:off x="6675120" y="2148840"/>
          <a:ext cx="3000000" cy="3000000"/>
        </p:xfrm>
        <a:graphic>
          <a:graphicData uri="http://schemas.openxmlformats.org/drawingml/2006/table">
            <a:tbl>
              <a:tblPr>
                <a:noFill/>
                <a:tableStyleId>{7AFFE216-A6BE-4F68-9A93-46C4BCCC0CEF}</a:tableStyleId>
              </a:tblPr>
              <a:tblGrid>
                <a:gridCol w="960125"/>
                <a:gridCol w="3730750"/>
              </a:tblGrid>
              <a:tr h="640075">
                <a:tc>
                  <a:txBody>
                    <a:bodyPr/>
                    <a:lstStyle/>
                    <a:p>
                      <a:pPr indent="0" lvl="0" marL="0" marR="0" rtl="0" algn="l">
                        <a:lnSpc>
                          <a:spcPct val="100000"/>
                        </a:lnSpc>
                        <a:spcBef>
                          <a:spcPts val="0"/>
                        </a:spcBef>
                        <a:spcAft>
                          <a:spcPts val="0"/>
                        </a:spcAft>
                        <a:buClr>
                          <a:schemeClr val="dk2"/>
                        </a:buClr>
                        <a:buSzPts val="1400"/>
                        <a:buFont typeface="Quattrocento Sans"/>
                        <a:buNone/>
                      </a:pPr>
                      <a:r>
                        <a:rPr b="1" lang="en-US" spc="0" sz="1400" u="none" cap="none" strike="noStrike">
                          <a:solidFill>
                            <a:schemeClr val="dk2"/>
                          </a:solidFill>
                        </a:rPr>
                        <a:t>Valeur</a:t>
                      </a:r>
                      <a:endParaRPr spc="0" sz="1400" u="none" cap="none" strike="noStrike"/>
                    </a:p>
                  </a:txBody>
                  <a:tcPr marT="25400" marB="25400" marR="635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E0E1E6">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6181B"/>
                        </a:buClr>
                        <a:buSzPts val="1400"/>
                        <a:buFont typeface="Quattrocento Sans"/>
                        <a:buNone/>
                      </a:pPr>
                      <a:r>
                        <a:rPr lang="en-US" spc="0" sz="1400" u="none" cap="none" strike="noStrike">
                          <a:solidFill>
                            <a:srgbClr val="16181B"/>
                          </a:solidFill>
                        </a:rPr>
                        <a:t>normalisée dans l'unité cible (tCO2e, M€…)</a:t>
                      </a:r>
                      <a:endParaRPr spc="0" sz="1400" u="none" cap="none" strike="noStrike"/>
                    </a:p>
                  </a:txBody>
                  <a:tcPr marT="25400" marB="25400" marR="635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E0E1E6">
                          <a:alpha val="0"/>
                        </a:srgbClr>
                      </a:solidFill>
                      <a:prstDash val="solid"/>
                      <a:round/>
                      <a:headEnd len="sm" w="sm" type="none"/>
                      <a:tailEnd len="sm" w="sm" type="none"/>
                    </a:lnB>
                  </a:tcPr>
                </a:tc>
              </a:tr>
              <a:tr h="640075">
                <a:tc>
                  <a:txBody>
                    <a:bodyPr/>
                    <a:lstStyle/>
                    <a:p>
                      <a:pPr indent="0" lvl="0" marL="0" marR="0" rtl="0" algn="l">
                        <a:lnSpc>
                          <a:spcPct val="100000"/>
                        </a:lnSpc>
                        <a:spcBef>
                          <a:spcPts val="0"/>
                        </a:spcBef>
                        <a:spcAft>
                          <a:spcPts val="0"/>
                        </a:spcAft>
                        <a:buClr>
                          <a:schemeClr val="dk2"/>
                        </a:buClr>
                        <a:buSzPts val="1400"/>
                        <a:buFont typeface="Quattrocento Sans"/>
                        <a:buNone/>
                      </a:pPr>
                      <a:r>
                        <a:rPr b="1" lang="en-US" spc="0" sz="1400" u="none" cap="none" strike="noStrike">
                          <a:solidFill>
                            <a:schemeClr val="dk2"/>
                          </a:solidFill>
                        </a:rPr>
                        <a:t>Brut</a:t>
                      </a:r>
                      <a:endParaRPr spc="0" sz="1400" u="none" cap="none" strike="noStrike"/>
                    </a:p>
                  </a:txBody>
                  <a:tcPr marT="25400" marB="25400" marR="635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0E1E6">
                          <a:alpha val="0"/>
                        </a:srgbClr>
                      </a:solidFill>
                      <a:prstDash val="solid"/>
                      <a:round/>
                      <a:headEnd len="sm" w="sm" type="none"/>
                      <a:tailEnd len="sm" w="sm" type="none"/>
                    </a:lnT>
                    <a:lnB cap="flat" cmpd="sng" w="9525">
                      <a:solidFill>
                        <a:srgbClr val="E0E1E6">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6181B"/>
                        </a:buClr>
                        <a:buSzPts val="1400"/>
                        <a:buFont typeface="Quattrocento Sans"/>
                        <a:buNone/>
                      </a:pPr>
                      <a:r>
                        <a:rPr lang="en-US" spc="0" sz="1400" u="none" cap="none" strike="noStrike">
                          <a:solidFill>
                            <a:srgbClr val="16181B"/>
                          </a:solidFill>
                        </a:rPr>
                        <a:t>valeur et unité telles qu'écrites</a:t>
                      </a:r>
                      <a:endParaRPr spc="0" sz="1400" u="none" cap="none" strike="noStrike"/>
                    </a:p>
                  </a:txBody>
                  <a:tcPr marT="25400" marB="25400" marR="635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0E1E6">
                          <a:alpha val="0"/>
                        </a:srgbClr>
                      </a:solidFill>
                      <a:prstDash val="solid"/>
                      <a:round/>
                      <a:headEnd len="sm" w="sm" type="none"/>
                      <a:tailEnd len="sm" w="sm" type="none"/>
                    </a:lnT>
                    <a:lnB cap="flat" cmpd="sng" w="9525">
                      <a:solidFill>
                        <a:srgbClr val="E0E1E6">
                          <a:alpha val="0"/>
                        </a:srgbClr>
                      </a:solidFill>
                      <a:prstDash val="solid"/>
                      <a:round/>
                      <a:headEnd len="sm" w="sm" type="none"/>
                      <a:tailEnd len="sm" w="sm" type="none"/>
                    </a:lnB>
                  </a:tcPr>
                </a:tc>
              </a:tr>
              <a:tr h="640075">
                <a:tc>
                  <a:txBody>
                    <a:bodyPr/>
                    <a:lstStyle/>
                    <a:p>
                      <a:pPr indent="0" lvl="0" marL="0" marR="0" rtl="0" algn="l">
                        <a:lnSpc>
                          <a:spcPct val="100000"/>
                        </a:lnSpc>
                        <a:spcBef>
                          <a:spcPts val="0"/>
                        </a:spcBef>
                        <a:spcAft>
                          <a:spcPts val="0"/>
                        </a:spcAft>
                        <a:buClr>
                          <a:schemeClr val="dk2"/>
                        </a:buClr>
                        <a:buSzPts val="1400"/>
                        <a:buFont typeface="Quattrocento Sans"/>
                        <a:buNone/>
                      </a:pPr>
                      <a:r>
                        <a:rPr b="1" lang="en-US" spc="0" sz="1400" u="none" cap="none" strike="noStrike">
                          <a:solidFill>
                            <a:schemeClr val="dk2"/>
                          </a:solidFill>
                        </a:rPr>
                        <a:t>Preuve</a:t>
                      </a:r>
                      <a:endParaRPr spc="0" sz="1400" u="none" cap="none" strike="noStrike"/>
                    </a:p>
                  </a:txBody>
                  <a:tcPr marT="25400" marB="25400" marR="635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0E1E6">
                          <a:alpha val="0"/>
                        </a:srgbClr>
                      </a:solidFill>
                      <a:prstDash val="solid"/>
                      <a:round/>
                      <a:headEnd len="sm" w="sm" type="none"/>
                      <a:tailEnd len="sm" w="sm" type="none"/>
                    </a:lnT>
                    <a:lnB cap="flat" cmpd="sng" w="9525">
                      <a:solidFill>
                        <a:srgbClr val="E0E1E6">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6181B"/>
                        </a:buClr>
                        <a:buSzPts val="1400"/>
                        <a:buFont typeface="Quattrocento Sans"/>
                        <a:buNone/>
                      </a:pPr>
                      <a:r>
                        <a:rPr lang="en-US" spc="0" sz="1400" u="none" cap="none" strike="noStrike">
                          <a:solidFill>
                            <a:srgbClr val="16181B"/>
                          </a:solidFill>
                        </a:rPr>
                        <a:t>page + citation exacte du rapport</a:t>
                      </a:r>
                      <a:endParaRPr spc="0" sz="1400" u="none" cap="none" strike="noStrike"/>
                    </a:p>
                  </a:txBody>
                  <a:tcPr marT="25400" marB="25400" marR="635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0E1E6">
                          <a:alpha val="0"/>
                        </a:srgbClr>
                      </a:solidFill>
                      <a:prstDash val="solid"/>
                      <a:round/>
                      <a:headEnd len="sm" w="sm" type="none"/>
                      <a:tailEnd len="sm" w="sm" type="none"/>
                    </a:lnT>
                    <a:lnB cap="flat" cmpd="sng" w="9525">
                      <a:solidFill>
                        <a:srgbClr val="E0E1E6">
                          <a:alpha val="0"/>
                        </a:srgbClr>
                      </a:solidFill>
                      <a:prstDash val="solid"/>
                      <a:round/>
                      <a:headEnd len="sm" w="sm" type="none"/>
                      <a:tailEnd len="sm" w="sm" type="none"/>
                    </a:lnB>
                  </a:tcPr>
                </a:tc>
              </a:tr>
              <a:tr h="640075">
                <a:tc>
                  <a:txBody>
                    <a:bodyPr/>
                    <a:lstStyle/>
                    <a:p>
                      <a:pPr indent="0" lvl="0" marL="0" marR="0" rtl="0" algn="l">
                        <a:lnSpc>
                          <a:spcPct val="100000"/>
                        </a:lnSpc>
                        <a:spcBef>
                          <a:spcPts val="0"/>
                        </a:spcBef>
                        <a:spcAft>
                          <a:spcPts val="0"/>
                        </a:spcAft>
                        <a:buClr>
                          <a:schemeClr val="dk2"/>
                        </a:buClr>
                        <a:buSzPts val="1400"/>
                        <a:buFont typeface="Quattrocento Sans"/>
                        <a:buNone/>
                      </a:pPr>
                      <a:r>
                        <a:rPr b="1" lang="en-US" spc="0" sz="1400" u="none" cap="none" strike="noStrike">
                          <a:solidFill>
                            <a:schemeClr val="dk2"/>
                          </a:solidFill>
                        </a:rPr>
                        <a:t>Statut</a:t>
                      </a:r>
                      <a:endParaRPr spc="0" sz="1400" u="none" cap="none" strike="noStrike"/>
                    </a:p>
                  </a:txBody>
                  <a:tcPr marT="25400" marB="25400" marR="635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0E1E6">
                          <a:alpha val="0"/>
                        </a:srgbClr>
                      </a:solidFill>
                      <a:prstDash val="solid"/>
                      <a:round/>
                      <a:headEnd len="sm" w="sm" type="none"/>
                      <a:tailEnd len="sm" w="sm" type="none"/>
                    </a:lnT>
                    <a:lnB cap="flat" cmpd="sng" w="9525">
                      <a:solidFill>
                        <a:srgbClr val="E0E1E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6181B"/>
                        </a:buClr>
                        <a:buSzPts val="1400"/>
                        <a:buFont typeface="Quattrocento Sans"/>
                        <a:buNone/>
                      </a:pPr>
                      <a:r>
                        <a:rPr lang="en-US" spc="0" sz="1400" u="none" cap="none" strike="noStrike">
                          <a:solidFill>
                            <a:srgbClr val="16181B"/>
                          </a:solidFill>
                        </a:rPr>
                        <a:t>vérifiée, corrigée, invalide, absente…</a:t>
                      </a:r>
                      <a:endParaRPr spc="0" sz="1400" u="none" cap="none" strike="noStrike"/>
                    </a:p>
                  </a:txBody>
                  <a:tcPr marT="25400" marB="25400" marR="635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0E1E6">
                          <a:alpha val="0"/>
                        </a:srgbClr>
                      </a:solidFill>
                      <a:prstDash val="solid"/>
                      <a:round/>
                      <a:headEnd len="sm" w="sm" type="none"/>
                      <a:tailEnd len="sm" w="sm" type="none"/>
                    </a:lnT>
                    <a:lnB cap="flat" cmpd="sng" w="9525">
                      <a:solidFill>
                        <a:srgbClr val="E0E1E6"/>
                      </a:solidFill>
                      <a:prstDash val="solid"/>
                      <a:round/>
                      <a:headEnd len="sm" w="sm" type="none"/>
                      <a:tailEnd len="sm" w="sm" type="none"/>
                    </a:lnB>
                  </a:tcPr>
                </a:tc>
              </a:tr>
            </a:tbl>
          </a:graphicData>
        </a:graphic>
      </p:graphicFrame>
      <p:sp>
        <p:nvSpPr>
          <p:cNvPr id="135" name="Google Shape;135;p8"/>
          <p:cNvSpPr/>
          <p:nvPr/>
        </p:nvSpPr>
        <p:spPr>
          <a:xfrm>
            <a:off x="548640" y="5230368"/>
            <a:ext cx="11094415" cy="658368"/>
          </a:xfrm>
          <a:prstGeom prst="roundRect">
            <a:avLst>
              <a:gd fmla="val 11111"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6" name="Google Shape;136;p8"/>
          <p:cNvSpPr txBox="1"/>
          <p:nvPr/>
        </p:nvSpPr>
        <p:spPr>
          <a:xfrm>
            <a:off x="822960" y="5230368"/>
            <a:ext cx="10545775" cy="6583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2"/>
              </a:buClr>
              <a:buSzPts val="1500"/>
              <a:buFont typeface="Quattrocento Sans"/>
              <a:buNone/>
            </a:pPr>
            <a:r>
              <a:rPr b="1" i="0" lang="en-US" spc="0" sz="1500" u="none" cap="none" strike="noStrike">
                <a:solidFill>
                  <a:schemeClr val="dk2"/>
                </a:solidFill>
                <a:latin typeface="Quattrocento Sans"/>
                <a:ea typeface="Quattrocento Sans"/>
                <a:cs typeface="Quattrocento Sans"/>
                <a:sym typeface="Quattrocento Sans"/>
              </a:rPr>
              <a:t>Sorties prévues : </a:t>
            </a:r>
            <a:r>
              <a:rPr b="0" i="0" lang="en-US" spc="0" sz="1500" u="none" cap="none" strike="noStrike">
                <a:solidFill>
                  <a:schemeClr val="dk1"/>
                </a:solidFill>
                <a:latin typeface="Quattrocento Sans"/>
                <a:ea typeface="Quattrocento Sans"/>
                <a:cs typeface="Quattrocento Sans"/>
                <a:sym typeface="Quattrocento Sans"/>
              </a:rPr>
              <a:t>une table SQLite, un export CSV et un export JSON avec la provenance de chaque valeur</a:t>
            </a:r>
            <a:endParaRPr b="0" i="0" spc="0" sz="1500" u="none" cap="none" strike="noStrike">
              <a:solidFill>
                <a:schemeClr val="dk1"/>
              </a:solidFill>
              <a:latin typeface="Quattrocento Sans"/>
              <a:ea typeface="Quattrocento Sans"/>
              <a:cs typeface="Quattrocento Sans"/>
              <a:sym typeface="Quattrocento Sans"/>
            </a:endParaRPr>
          </a:p>
        </p:txBody>
      </p:sp>
      <p:sp>
        <p:nvSpPr>
          <p:cNvPr id="137" name="Google Shape;137;p8"/>
          <p:cNvSpPr txBox="1"/>
          <p:nvPr>
            <p:ph idx="4294967295" type="sldNum"/>
          </p:nvPr>
        </p:nvSpPr>
        <p:spPr>
          <a:xfrm>
            <a:off x="11185855" y="6428232"/>
            <a:ext cx="45720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100"/>
              <a:buNone/>
            </a:pPr>
            <a:fld id="{00000000-1234-1234-1234-123412341234}" type="slidenum">
              <a:rPr b="0" i="0" lang="en-US" sz="1100" u="none" cap="none" strike="noStrike">
                <a:solidFill>
                  <a:schemeClr val="accent4"/>
                </a:solidFill>
                <a:latin typeface="Quattrocento Sans"/>
                <a:ea typeface="Quattrocento Sans"/>
                <a:cs typeface="Quattrocento Sans"/>
                <a:sym typeface="Quattrocento Sans"/>
              </a:rPr>
              <a:t>‹#›</a:t>
            </a:fld>
            <a:endParaRPr b="0" i="0" sz="1100" u="none" cap="none" strike="noStrike">
              <a:solidFill>
                <a:schemeClr val="accent4"/>
              </a:solidFill>
              <a:latin typeface="Quattrocento Sans"/>
              <a:ea typeface="Quattrocento Sans"/>
              <a:cs typeface="Quattrocento Sans"/>
              <a:sym typeface="Quattrocento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9"/>
          <p:cNvSpPr txBox="1"/>
          <p:nvPr/>
        </p:nvSpPr>
        <p:spPr>
          <a:xfrm>
            <a:off x="548640" y="274320"/>
            <a:ext cx="73152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200"/>
              <a:buFont typeface="Quattrocento Sans"/>
              <a:buNone/>
            </a:pPr>
            <a:r>
              <a:rPr b="1" i="0" lang="en-US" spc="200" sz="1200" u="none" cap="none" strike="noStrike">
                <a:solidFill>
                  <a:schemeClr val="accent1"/>
                </a:solidFill>
                <a:latin typeface="Quattrocento Sans"/>
                <a:ea typeface="Quattrocento Sans"/>
                <a:cs typeface="Quattrocento Sans"/>
                <a:sym typeface="Quattrocento Sans"/>
              </a:rPr>
              <a:t>BASES DE LA DÉTECTION</a:t>
            </a:r>
            <a:endParaRPr b="0" i="0" spc="0" sz="1200" u="none" cap="none" strike="noStrike">
              <a:solidFill>
                <a:schemeClr val="dk1"/>
              </a:solidFill>
              <a:latin typeface="Quattrocento Sans"/>
              <a:ea typeface="Quattrocento Sans"/>
              <a:cs typeface="Quattrocento Sans"/>
              <a:sym typeface="Quattrocento Sans"/>
            </a:endParaRPr>
          </a:p>
        </p:txBody>
      </p:sp>
      <p:sp>
        <p:nvSpPr>
          <p:cNvPr id="144" name="Google Shape;144;p9"/>
          <p:cNvSpPr txBox="1"/>
          <p:nvPr>
            <p:ph type="title"/>
          </p:nvPr>
        </p:nvSpPr>
        <p:spPr>
          <a:xfrm>
            <a:off x="548640" y="566928"/>
            <a:ext cx="11094415" cy="7772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2"/>
              </a:buClr>
              <a:buSzPts val="2800"/>
              <a:buFont typeface="Quattrocento Sans"/>
              <a:buNone/>
            </a:pPr>
            <a:r>
              <a:rPr lang="en-US"/>
              <a:t>Nous proposons une grille de détection inspirée des dimensions éthiques du sujet </a:t>
            </a:r>
            <a:endParaRPr sz="2800"/>
          </a:p>
        </p:txBody>
      </p:sp>
      <p:sp>
        <p:nvSpPr>
          <p:cNvPr id="145" name="Google Shape;145;p9"/>
          <p:cNvSpPr/>
          <p:nvPr/>
        </p:nvSpPr>
        <p:spPr>
          <a:xfrm>
            <a:off x="8991295" y="219456"/>
            <a:ext cx="2651760" cy="329184"/>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6" name="Google Shape;146;p9"/>
          <p:cNvSpPr txBox="1"/>
          <p:nvPr/>
        </p:nvSpPr>
        <p:spPr>
          <a:xfrm>
            <a:off x="8991295" y="219456"/>
            <a:ext cx="2651760" cy="32918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2"/>
              </a:buClr>
              <a:buSzPts val="1150"/>
              <a:buFont typeface="Quattrocento Sans"/>
              <a:buNone/>
            </a:pPr>
            <a:r>
              <a:rPr b="1" i="0" lang="en-US" spc="0" sz="1150" u="none" cap="none" strike="noStrike">
                <a:solidFill>
                  <a:schemeClr val="dk2"/>
                </a:solidFill>
                <a:latin typeface="Quattrocento Sans"/>
                <a:ea typeface="Quattrocento Sans"/>
                <a:cs typeface="Quattrocento Sans"/>
                <a:sym typeface="Quattrocento Sans"/>
              </a:rPr>
              <a:t>Personne 3 · Détection</a:t>
            </a:r>
            <a:endParaRPr b="0" i="0" spc="0" sz="1150" u="none" cap="none" strike="noStrike">
              <a:solidFill>
                <a:schemeClr val="dk1"/>
              </a:solidFill>
              <a:latin typeface="Quattrocento Sans"/>
              <a:ea typeface="Quattrocento Sans"/>
              <a:cs typeface="Quattrocento Sans"/>
              <a:sym typeface="Quattrocento Sans"/>
            </a:endParaRPr>
          </a:p>
        </p:txBody>
      </p:sp>
      <p:sp>
        <p:nvSpPr>
          <p:cNvPr id="147" name="Google Shape;147;p9"/>
          <p:cNvSpPr txBox="1"/>
          <p:nvPr/>
        </p:nvSpPr>
        <p:spPr>
          <a:xfrm>
            <a:off x="548640" y="1536192"/>
            <a:ext cx="8229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4"/>
              </a:buClr>
              <a:buSzPts val="1200"/>
              <a:buFont typeface="Quattrocento Sans"/>
              <a:buNone/>
            </a:pPr>
            <a:r>
              <a:rPr b="1" i="0" lang="en-US" spc="200" sz="1200" u="none" cap="none" strike="noStrike">
                <a:solidFill>
                  <a:schemeClr val="accent4"/>
                </a:solidFill>
                <a:latin typeface="Quattrocento Sans"/>
                <a:ea typeface="Quattrocento Sans"/>
                <a:cs typeface="Quattrocento Sans"/>
                <a:sym typeface="Quattrocento Sans"/>
              </a:rPr>
              <a:t>GRILLE ÉTHIQUE → 7 catégories d’indices de risques éthiques à analyser </a:t>
            </a:r>
            <a:endParaRPr b="0" i="0" spc="0" sz="1200" u="none" cap="none" strike="noStrike">
              <a:solidFill>
                <a:schemeClr val="dk1"/>
              </a:solidFill>
              <a:latin typeface="Quattrocento Sans"/>
              <a:ea typeface="Quattrocento Sans"/>
              <a:cs typeface="Quattrocento Sans"/>
              <a:sym typeface="Quattrocento Sans"/>
            </a:endParaRPr>
          </a:p>
        </p:txBody>
      </p:sp>
      <p:graphicFrame>
        <p:nvGraphicFramePr>
          <p:cNvPr id="148" name="Google Shape;148;p9"/>
          <p:cNvGraphicFramePr/>
          <p:nvPr/>
        </p:nvGraphicFramePr>
        <p:xfrm>
          <a:off x="548640" y="2029001"/>
          <a:ext cx="3000000" cy="3000000"/>
        </p:xfrm>
        <a:graphic>
          <a:graphicData uri="http://schemas.openxmlformats.org/drawingml/2006/table">
            <a:tbl>
              <a:tblPr>
                <a:noFill/>
                <a:tableStyleId>{7AFFE216-A6BE-4F68-9A93-46C4BCCC0CEF}</a:tableStyleId>
              </a:tblPr>
              <a:tblGrid>
                <a:gridCol w="2651750"/>
                <a:gridCol w="2148850"/>
                <a:gridCol w="2606050"/>
              </a:tblGrid>
              <a:tr h="384050">
                <a:tc>
                  <a:txBody>
                    <a:bodyPr/>
                    <a:lstStyle/>
                    <a:p>
                      <a:pPr indent="0" lvl="0" marL="0" marR="0" rtl="0" algn="l">
                        <a:lnSpc>
                          <a:spcPct val="100000"/>
                        </a:lnSpc>
                        <a:spcBef>
                          <a:spcPts val="0"/>
                        </a:spcBef>
                        <a:spcAft>
                          <a:spcPts val="0"/>
                        </a:spcAft>
                        <a:buClr>
                          <a:schemeClr val="accent1"/>
                        </a:buClr>
                        <a:buSzPts val="1150"/>
                        <a:buFont typeface="Quattrocento Sans"/>
                        <a:buNone/>
                      </a:pPr>
                      <a:r>
                        <a:rPr b="1" lang="en-US" spc="0" sz="1150" u="none" cap="none" strike="noStrike">
                          <a:solidFill>
                            <a:schemeClr val="accent1"/>
                          </a:solidFill>
                        </a:rPr>
                        <a:t>Catégorie</a:t>
                      </a:r>
                      <a:endParaRPr spc="0" sz="1150" u="none" cap="none" strike="noStrike"/>
                    </a:p>
                  </a:txBody>
                  <a:tcPr marT="25400" marB="25400" marR="635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E0E1E6">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1"/>
                        </a:buClr>
                        <a:buSzPts val="1150"/>
                        <a:buFont typeface="Quattrocento Sans"/>
                        <a:buNone/>
                      </a:pPr>
                      <a:r>
                        <a:rPr b="1" lang="en-US" spc="0" sz="1150" u="none" cap="none" strike="noStrike">
                          <a:solidFill>
                            <a:schemeClr val="accent1"/>
                          </a:solidFill>
                        </a:rPr>
                        <a:t>Dimension éthique</a:t>
                      </a:r>
                      <a:endParaRPr spc="0" sz="1150" u="none" cap="none" strike="noStrike"/>
                    </a:p>
                  </a:txBody>
                  <a:tcPr marT="25400" marB="25400" marR="635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E0E1E6">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1"/>
                        </a:buClr>
                        <a:buSzPts val="1150"/>
                        <a:buFont typeface="Quattrocento Sans"/>
                        <a:buNone/>
                      </a:pPr>
                      <a:r>
                        <a:rPr b="1" lang="en-US" spc="0" sz="1150" u="none" cap="none" strike="noStrike">
                          <a:solidFill>
                            <a:schemeClr val="accent1"/>
                          </a:solidFill>
                        </a:rPr>
                        <a:t>Exemple de formulation visée</a:t>
                      </a:r>
                      <a:endParaRPr spc="0" sz="1150" u="none" cap="none" strike="noStrike"/>
                    </a:p>
                  </a:txBody>
                  <a:tcPr marT="25400" marB="25400" marR="635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E0E1E6">
                          <a:alpha val="0"/>
                        </a:srgbClr>
                      </a:solidFill>
                      <a:prstDash val="solid"/>
                      <a:round/>
                      <a:headEnd len="sm" w="sm" type="none"/>
                      <a:tailEnd len="sm" w="sm" type="none"/>
                    </a:lnB>
                  </a:tcPr>
                </a:tc>
              </a:tr>
              <a:tr h="384050">
                <a:tc>
                  <a:txBody>
                    <a:bodyPr/>
                    <a:lstStyle/>
                    <a:p>
                      <a:pPr indent="0" lvl="0" marL="0" marR="0" rtl="0" algn="l">
                        <a:lnSpc>
                          <a:spcPct val="100000"/>
                        </a:lnSpc>
                        <a:spcBef>
                          <a:spcPts val="0"/>
                        </a:spcBef>
                        <a:spcAft>
                          <a:spcPts val="0"/>
                        </a:spcAft>
                        <a:buClr>
                          <a:srgbClr val="16181B"/>
                        </a:buClr>
                        <a:buSzPts val="1150"/>
                        <a:buFont typeface="Quattrocento Sans"/>
                        <a:buNone/>
                      </a:pPr>
                      <a:r>
                        <a:rPr b="1" lang="en-US" spc="0" sz="1150" u="none" cap="none" strike="noStrike">
                          <a:solidFill>
                            <a:srgbClr val="16181B"/>
                          </a:solidFill>
                        </a:rPr>
                        <a:t>Greenwashing</a:t>
                      </a:r>
                      <a:endParaRPr spc="0" sz="1150" u="none" cap="none" strike="noStrike"/>
                    </a:p>
                  </a:txBody>
                  <a:tcPr marT="25400" marB="25400" marR="635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0E1E6">
                          <a:alpha val="0"/>
                        </a:srgbClr>
                      </a:solidFill>
                      <a:prstDash val="solid"/>
                      <a:round/>
                      <a:headEnd len="sm" w="sm" type="none"/>
                      <a:tailEnd len="sm" w="sm" type="none"/>
                    </a:lnT>
                    <a:lnB cap="flat" cmpd="sng" w="9525">
                      <a:solidFill>
                        <a:srgbClr val="E0E1E6">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6181B"/>
                        </a:buClr>
                        <a:buSzPts val="1150"/>
                        <a:buFont typeface="Quattrocento Sans"/>
                        <a:buNone/>
                      </a:pPr>
                      <a:r>
                        <a:rPr lang="en-US" spc="0" sz="1150" u="none" cap="none" strike="noStrike">
                          <a:solidFill>
                            <a:srgbClr val="16181B"/>
                          </a:solidFill>
                        </a:rPr>
                        <a:t>Justice et équité, bonne foi</a:t>
                      </a:r>
                      <a:endParaRPr spc="0" sz="1150" u="none" cap="none" strike="noStrike"/>
                    </a:p>
                  </a:txBody>
                  <a:tcPr marT="25400" marB="25400" marR="635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0E1E6">
                          <a:alpha val="0"/>
                        </a:srgbClr>
                      </a:solidFill>
                      <a:prstDash val="solid"/>
                      <a:round/>
                      <a:headEnd len="sm" w="sm" type="none"/>
                      <a:tailEnd len="sm" w="sm" type="none"/>
                    </a:lnT>
                    <a:lnB cap="flat" cmpd="sng" w="9525">
                      <a:solidFill>
                        <a:srgbClr val="E0E1E6">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4"/>
                        </a:buClr>
                        <a:buSzPts val="1150"/>
                        <a:buFont typeface="Quattrocento Sans"/>
                        <a:buNone/>
                      </a:pPr>
                      <a:r>
                        <a:rPr i="1" lang="en-US" spc="0" sz="1150" u="none" cap="none" strike="noStrike">
                          <a:solidFill>
                            <a:schemeClr val="accent4"/>
                          </a:solidFill>
                        </a:rPr>
                        <a:t>« Affirmation écologique non étayée par des preuves vérifiables »</a:t>
                      </a:r>
                      <a:endParaRPr spc="0" sz="1150" u="none" cap="none" strike="noStrike"/>
                    </a:p>
                  </a:txBody>
                  <a:tcPr marT="25400" marB="25400" marR="635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0E1E6">
                          <a:alpha val="0"/>
                        </a:srgbClr>
                      </a:solidFill>
                      <a:prstDash val="solid"/>
                      <a:round/>
                      <a:headEnd len="sm" w="sm" type="none"/>
                      <a:tailEnd len="sm" w="sm" type="none"/>
                    </a:lnT>
                    <a:lnB cap="flat" cmpd="sng" w="9525">
                      <a:solidFill>
                        <a:srgbClr val="E0E1E6">
                          <a:alpha val="0"/>
                        </a:srgbClr>
                      </a:solidFill>
                      <a:prstDash val="solid"/>
                      <a:round/>
                      <a:headEnd len="sm" w="sm" type="none"/>
                      <a:tailEnd len="sm" w="sm" type="none"/>
                    </a:lnB>
                  </a:tcPr>
                </a:tc>
              </a:tr>
              <a:tr h="384050">
                <a:tc>
                  <a:txBody>
                    <a:bodyPr/>
                    <a:lstStyle/>
                    <a:p>
                      <a:pPr indent="0" lvl="0" marL="0" marR="0" rtl="0" algn="l">
                        <a:lnSpc>
                          <a:spcPct val="100000"/>
                        </a:lnSpc>
                        <a:spcBef>
                          <a:spcPts val="0"/>
                        </a:spcBef>
                        <a:spcAft>
                          <a:spcPts val="0"/>
                        </a:spcAft>
                        <a:buClr>
                          <a:srgbClr val="16181B"/>
                        </a:buClr>
                        <a:buSzPts val="1150"/>
                        <a:buFont typeface="Quattrocento Sans"/>
                        <a:buNone/>
                      </a:pPr>
                      <a:r>
                        <a:rPr b="1" lang="en-US" spc="0" sz="1150" u="none" cap="none" strike="noStrike">
                          <a:solidFill>
                            <a:srgbClr val="16181B"/>
                          </a:solidFill>
                        </a:rPr>
                        <a:t>Social washing</a:t>
                      </a:r>
                      <a:endParaRPr spc="0" sz="1150" u="none" cap="none" strike="noStrike"/>
                    </a:p>
                  </a:txBody>
                  <a:tcPr marT="25400" marB="25400" marR="635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0E1E6">
                          <a:alpha val="0"/>
                        </a:srgbClr>
                      </a:solidFill>
                      <a:prstDash val="solid"/>
                      <a:round/>
                      <a:headEnd len="sm" w="sm" type="none"/>
                      <a:tailEnd len="sm" w="sm" type="none"/>
                    </a:lnT>
                    <a:lnB cap="flat" cmpd="sng" w="9525">
                      <a:solidFill>
                        <a:srgbClr val="E0E1E6">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6181B"/>
                        </a:buClr>
                        <a:buSzPts val="1150"/>
                        <a:buFont typeface="Quattrocento Sans"/>
                        <a:buNone/>
                      </a:pPr>
                      <a:r>
                        <a:rPr lang="en-US" spc="0" sz="1150" u="none" cap="none" strike="noStrike">
                          <a:solidFill>
                            <a:srgbClr val="16181B"/>
                          </a:solidFill>
                        </a:rPr>
                        <a:t>Justice et équité</a:t>
                      </a:r>
                      <a:endParaRPr spc="0" sz="1150" u="none" cap="none" strike="noStrike"/>
                    </a:p>
                  </a:txBody>
                  <a:tcPr marT="25400" marB="25400" marR="635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0E1E6">
                          <a:alpha val="0"/>
                        </a:srgbClr>
                      </a:solidFill>
                      <a:prstDash val="solid"/>
                      <a:round/>
                      <a:headEnd len="sm" w="sm" type="none"/>
                      <a:tailEnd len="sm" w="sm" type="none"/>
                    </a:lnT>
                    <a:lnB cap="flat" cmpd="sng" w="9525">
                      <a:solidFill>
                        <a:srgbClr val="E0E1E6">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4"/>
                        </a:buClr>
                        <a:buSzPts val="1150"/>
                        <a:buFont typeface="Quattrocento Sans"/>
                        <a:buNone/>
                      </a:pPr>
                      <a:r>
                        <a:rPr i="1" lang="en-US" spc="0" sz="1150" u="none" cap="none" strike="noStrike">
                          <a:solidFill>
                            <a:schemeClr val="accent4"/>
                          </a:solidFill>
                        </a:rPr>
                        <a:t>«Décalage entre engagements et pratiques sociales  »</a:t>
                      </a:r>
                      <a:endParaRPr spc="0" sz="1150" u="none" cap="none" strike="noStrike"/>
                    </a:p>
                  </a:txBody>
                  <a:tcPr marT="25400" marB="25400" marR="635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0E1E6">
                          <a:alpha val="0"/>
                        </a:srgbClr>
                      </a:solidFill>
                      <a:prstDash val="solid"/>
                      <a:round/>
                      <a:headEnd len="sm" w="sm" type="none"/>
                      <a:tailEnd len="sm" w="sm" type="none"/>
                    </a:lnT>
                    <a:lnB cap="flat" cmpd="sng" w="9525">
                      <a:solidFill>
                        <a:srgbClr val="E0E1E6">
                          <a:alpha val="0"/>
                        </a:srgbClr>
                      </a:solidFill>
                      <a:prstDash val="solid"/>
                      <a:round/>
                      <a:headEnd len="sm" w="sm" type="none"/>
                      <a:tailEnd len="sm" w="sm" type="none"/>
                    </a:lnB>
                  </a:tcPr>
                </a:tc>
              </a:tr>
              <a:tr h="384050">
                <a:tc>
                  <a:txBody>
                    <a:bodyPr/>
                    <a:lstStyle/>
                    <a:p>
                      <a:pPr indent="0" lvl="0" marL="0" marR="0" rtl="0" algn="l">
                        <a:lnSpc>
                          <a:spcPct val="100000"/>
                        </a:lnSpc>
                        <a:spcBef>
                          <a:spcPts val="0"/>
                        </a:spcBef>
                        <a:spcAft>
                          <a:spcPts val="0"/>
                        </a:spcAft>
                        <a:buClr>
                          <a:srgbClr val="16181B"/>
                        </a:buClr>
                        <a:buSzPts val="1150"/>
                        <a:buFont typeface="Quattrocento Sans"/>
                        <a:buNone/>
                      </a:pPr>
                      <a:r>
                        <a:rPr b="1" lang="en-US" spc="0" sz="1150" u="none" cap="none" strike="noStrike">
                          <a:solidFill>
                            <a:srgbClr val="16181B"/>
                          </a:solidFill>
                        </a:rPr>
                        <a:t>Langage vague</a:t>
                      </a:r>
                      <a:endParaRPr spc="0" sz="1150" u="none" cap="none" strike="noStrike"/>
                    </a:p>
                  </a:txBody>
                  <a:tcPr marT="25400" marB="25400" marR="635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0E1E6">
                          <a:alpha val="0"/>
                        </a:srgbClr>
                      </a:solidFill>
                      <a:prstDash val="solid"/>
                      <a:round/>
                      <a:headEnd len="sm" w="sm" type="none"/>
                      <a:tailEnd len="sm" w="sm" type="none"/>
                    </a:lnT>
                    <a:lnB cap="flat" cmpd="sng" w="9525">
                      <a:solidFill>
                        <a:srgbClr val="E0E1E6">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6181B"/>
                        </a:buClr>
                        <a:buSzPts val="1150"/>
                        <a:buFont typeface="Quattrocento Sans"/>
                        <a:buNone/>
                      </a:pPr>
                      <a:r>
                        <a:rPr lang="en-US" spc="0" sz="1150" u="none" cap="none" strike="noStrike">
                          <a:solidFill>
                            <a:srgbClr val="16181B"/>
                          </a:solidFill>
                        </a:rPr>
                        <a:t>Transparence</a:t>
                      </a:r>
                      <a:endParaRPr spc="0" sz="1150" u="none" cap="none" strike="noStrike"/>
                    </a:p>
                  </a:txBody>
                  <a:tcPr marT="25400" marB="25400" marR="635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0E1E6">
                          <a:alpha val="0"/>
                        </a:srgbClr>
                      </a:solidFill>
                      <a:prstDash val="solid"/>
                      <a:round/>
                      <a:headEnd len="sm" w="sm" type="none"/>
                      <a:tailEnd len="sm" w="sm" type="none"/>
                    </a:lnT>
                    <a:lnB cap="flat" cmpd="sng" w="9525">
                      <a:solidFill>
                        <a:srgbClr val="E0E1E6">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4"/>
                        </a:buClr>
                        <a:buSzPts val="1150"/>
                        <a:buFont typeface="Quattrocento Sans"/>
                        <a:buNone/>
                      </a:pPr>
                      <a:r>
                        <a:rPr i="1" lang="en-US" spc="0" sz="1150" u="none" cap="none" strike="noStrike">
                          <a:solidFill>
                            <a:schemeClr val="accent4"/>
                          </a:solidFill>
                        </a:rPr>
                        <a:t>«Engagement sans précision vérifiable  »</a:t>
                      </a:r>
                      <a:endParaRPr spc="0" sz="1150" u="none" cap="none" strike="noStrike"/>
                    </a:p>
                  </a:txBody>
                  <a:tcPr marT="25400" marB="25400" marR="635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0E1E6">
                          <a:alpha val="0"/>
                        </a:srgbClr>
                      </a:solidFill>
                      <a:prstDash val="solid"/>
                      <a:round/>
                      <a:headEnd len="sm" w="sm" type="none"/>
                      <a:tailEnd len="sm" w="sm" type="none"/>
                    </a:lnT>
                    <a:lnB cap="flat" cmpd="sng" w="9525">
                      <a:solidFill>
                        <a:srgbClr val="E0E1E6">
                          <a:alpha val="0"/>
                        </a:srgbClr>
                      </a:solidFill>
                      <a:prstDash val="solid"/>
                      <a:round/>
                      <a:headEnd len="sm" w="sm" type="none"/>
                      <a:tailEnd len="sm" w="sm" type="none"/>
                    </a:lnB>
                  </a:tcPr>
                </a:tc>
              </a:tr>
              <a:tr h="384050">
                <a:tc>
                  <a:txBody>
                    <a:bodyPr/>
                    <a:lstStyle/>
                    <a:p>
                      <a:pPr indent="0" lvl="0" marL="0" marR="0" rtl="0" algn="l">
                        <a:lnSpc>
                          <a:spcPct val="100000"/>
                        </a:lnSpc>
                        <a:spcBef>
                          <a:spcPts val="0"/>
                        </a:spcBef>
                        <a:spcAft>
                          <a:spcPts val="0"/>
                        </a:spcAft>
                        <a:buClr>
                          <a:srgbClr val="16181B"/>
                        </a:buClr>
                        <a:buSzPts val="1150"/>
                        <a:buFont typeface="Quattrocento Sans"/>
                        <a:buNone/>
                      </a:pPr>
                      <a:r>
                        <a:rPr b="1" lang="en-US" spc="0" sz="1150" u="none" cap="none" strike="noStrike">
                          <a:solidFill>
                            <a:srgbClr val="16181B"/>
                          </a:solidFill>
                        </a:rPr>
                        <a:t>Objectif sans jalons</a:t>
                      </a:r>
                      <a:endParaRPr spc="0" sz="1150" u="none" cap="none" strike="noStrike"/>
                    </a:p>
                  </a:txBody>
                  <a:tcPr marT="25400" marB="25400" marR="635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0E1E6">
                          <a:alpha val="0"/>
                        </a:srgbClr>
                      </a:solidFill>
                      <a:prstDash val="solid"/>
                      <a:round/>
                      <a:headEnd len="sm" w="sm" type="none"/>
                      <a:tailEnd len="sm" w="sm" type="none"/>
                    </a:lnT>
                    <a:lnB cap="flat" cmpd="sng" w="9525">
                      <a:solidFill>
                        <a:srgbClr val="E0E1E6">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6181B"/>
                        </a:buClr>
                        <a:buSzPts val="1150"/>
                        <a:buFont typeface="Quattrocento Sans"/>
                        <a:buNone/>
                      </a:pPr>
                      <a:r>
                        <a:rPr lang="en-US" spc="0" sz="1150" u="none" cap="none" strike="noStrike">
                          <a:solidFill>
                            <a:srgbClr val="16181B"/>
                          </a:solidFill>
                        </a:rPr>
                        <a:t>Bonne foi</a:t>
                      </a:r>
                      <a:endParaRPr spc="0" sz="1150" u="none" cap="none" strike="noStrike"/>
                    </a:p>
                  </a:txBody>
                  <a:tcPr marT="25400" marB="25400" marR="635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0E1E6">
                          <a:alpha val="0"/>
                        </a:srgbClr>
                      </a:solidFill>
                      <a:prstDash val="solid"/>
                      <a:round/>
                      <a:headEnd len="sm" w="sm" type="none"/>
                      <a:tailEnd len="sm" w="sm" type="none"/>
                    </a:lnT>
                    <a:lnB cap="flat" cmpd="sng" w="9525">
                      <a:solidFill>
                        <a:srgbClr val="E0E1E6">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4"/>
                        </a:buClr>
                        <a:buSzPts val="1150"/>
                        <a:buFont typeface="Quattrocento Sans"/>
                        <a:buNone/>
                      </a:pPr>
                      <a:r>
                        <a:rPr i="1" lang="en-US" spc="0" sz="1150" u="none" cap="none" strike="noStrike">
                          <a:solidFill>
                            <a:schemeClr val="accent4"/>
                          </a:solidFill>
                        </a:rPr>
                        <a:t>« Aucune étape intermédiaire trouvée  »</a:t>
                      </a:r>
                      <a:endParaRPr spc="0" sz="1150" u="none" cap="none" strike="noStrike"/>
                    </a:p>
                  </a:txBody>
                  <a:tcPr marT="25400" marB="25400" marR="635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0E1E6">
                          <a:alpha val="0"/>
                        </a:srgbClr>
                      </a:solidFill>
                      <a:prstDash val="solid"/>
                      <a:round/>
                      <a:headEnd len="sm" w="sm" type="none"/>
                      <a:tailEnd len="sm" w="sm" type="none"/>
                    </a:lnT>
                    <a:lnB cap="flat" cmpd="sng" w="9525">
                      <a:solidFill>
                        <a:srgbClr val="E0E1E6">
                          <a:alpha val="0"/>
                        </a:srgbClr>
                      </a:solidFill>
                      <a:prstDash val="solid"/>
                      <a:round/>
                      <a:headEnd len="sm" w="sm" type="none"/>
                      <a:tailEnd len="sm" w="sm" type="none"/>
                    </a:lnB>
                  </a:tcPr>
                </a:tc>
              </a:tr>
              <a:tr h="384050">
                <a:tc>
                  <a:txBody>
                    <a:bodyPr/>
                    <a:lstStyle/>
                    <a:p>
                      <a:pPr indent="0" lvl="0" marL="0" marR="0" rtl="0" algn="l">
                        <a:lnSpc>
                          <a:spcPct val="100000"/>
                        </a:lnSpc>
                        <a:spcBef>
                          <a:spcPts val="0"/>
                        </a:spcBef>
                        <a:spcAft>
                          <a:spcPts val="0"/>
                        </a:spcAft>
                        <a:buClr>
                          <a:srgbClr val="16181B"/>
                        </a:buClr>
                        <a:buSzPts val="1150"/>
                        <a:buFont typeface="Quattrocento Sans"/>
                        <a:buNone/>
                      </a:pPr>
                      <a:r>
                        <a:rPr b="1" lang="en-US" spc="0" sz="1150" u="none" cap="none" strike="noStrike">
                          <a:solidFill>
                            <a:srgbClr val="16181B"/>
                          </a:solidFill>
                        </a:rPr>
                        <a:t>Omission ou minimisation</a:t>
                      </a:r>
                      <a:endParaRPr spc="0" sz="1150" u="none" cap="none" strike="noStrike"/>
                    </a:p>
                  </a:txBody>
                  <a:tcPr marT="25400" marB="25400" marR="635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0E1E6">
                          <a:alpha val="0"/>
                        </a:srgbClr>
                      </a:solidFill>
                      <a:prstDash val="solid"/>
                      <a:round/>
                      <a:headEnd len="sm" w="sm" type="none"/>
                      <a:tailEnd len="sm" w="sm" type="none"/>
                    </a:lnT>
                    <a:lnB cap="flat" cmpd="sng" w="9525">
                      <a:solidFill>
                        <a:srgbClr val="E0E1E6">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6181B"/>
                        </a:buClr>
                        <a:buSzPts val="1150"/>
                        <a:buFont typeface="Quattrocento Sans"/>
                        <a:buNone/>
                      </a:pPr>
                      <a:r>
                        <a:rPr lang="en-US" spc="0" sz="1150" u="none" cap="none" strike="noStrike">
                          <a:solidFill>
                            <a:srgbClr val="16181B"/>
                          </a:solidFill>
                        </a:rPr>
                        <a:t>Transparence</a:t>
                      </a:r>
                      <a:endParaRPr spc="0" sz="1150" u="none" cap="none" strike="noStrike"/>
                    </a:p>
                  </a:txBody>
                  <a:tcPr marT="25400" marB="25400" marR="635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0E1E6">
                          <a:alpha val="0"/>
                        </a:srgbClr>
                      </a:solidFill>
                      <a:prstDash val="solid"/>
                      <a:round/>
                      <a:headEnd len="sm" w="sm" type="none"/>
                      <a:tailEnd len="sm" w="sm" type="none"/>
                    </a:lnT>
                    <a:lnB cap="flat" cmpd="sng" w="9525">
                      <a:solidFill>
                        <a:srgbClr val="E0E1E6">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4"/>
                        </a:buClr>
                        <a:buSzPts val="1150"/>
                        <a:buFont typeface="Quattrocento Sans"/>
                        <a:buNone/>
                      </a:pPr>
                      <a:r>
                        <a:rPr i="1" lang="en-US" spc="0" sz="1150" u="none" cap="none" strike="noStrike">
                          <a:solidFill>
                            <a:schemeClr val="accent4"/>
                          </a:solidFill>
                        </a:rPr>
                        <a:t>« Exclusion inexpliquée ou problème minimisé  »</a:t>
                      </a:r>
                      <a:endParaRPr spc="0" sz="1150" u="none" cap="none" strike="noStrike"/>
                    </a:p>
                  </a:txBody>
                  <a:tcPr marT="25400" marB="25400" marR="635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0E1E6">
                          <a:alpha val="0"/>
                        </a:srgbClr>
                      </a:solidFill>
                      <a:prstDash val="solid"/>
                      <a:round/>
                      <a:headEnd len="sm" w="sm" type="none"/>
                      <a:tailEnd len="sm" w="sm" type="none"/>
                    </a:lnT>
                    <a:lnB cap="flat" cmpd="sng" w="9525">
                      <a:solidFill>
                        <a:srgbClr val="E0E1E6">
                          <a:alpha val="0"/>
                        </a:srgbClr>
                      </a:solidFill>
                      <a:prstDash val="solid"/>
                      <a:round/>
                      <a:headEnd len="sm" w="sm" type="none"/>
                      <a:tailEnd len="sm" w="sm" type="none"/>
                    </a:lnB>
                  </a:tcPr>
                </a:tc>
              </a:tr>
              <a:tr h="384050">
                <a:tc>
                  <a:txBody>
                    <a:bodyPr/>
                    <a:lstStyle/>
                    <a:p>
                      <a:pPr indent="0" lvl="0" marL="0" marR="0" rtl="0" algn="l">
                        <a:lnSpc>
                          <a:spcPct val="100000"/>
                        </a:lnSpc>
                        <a:spcBef>
                          <a:spcPts val="0"/>
                        </a:spcBef>
                        <a:spcAft>
                          <a:spcPts val="0"/>
                        </a:spcAft>
                        <a:buClr>
                          <a:srgbClr val="16181B"/>
                        </a:buClr>
                        <a:buSzPts val="1150"/>
                        <a:buFont typeface="Quattrocento Sans"/>
                        <a:buNone/>
                      </a:pPr>
                      <a:r>
                        <a:rPr b="1" lang="en-US" spc="0" sz="1150" u="none" cap="none" strike="noStrike">
                          <a:solidFill>
                            <a:srgbClr val="16181B"/>
                          </a:solidFill>
                        </a:rPr>
                        <a:t>Sélection favorable des données</a:t>
                      </a:r>
                      <a:endParaRPr spc="0" sz="1150" u="none" cap="none" strike="noStrike"/>
                    </a:p>
                  </a:txBody>
                  <a:tcPr marT="25400" marB="25400" marR="635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0E1E6">
                          <a:alpha val="0"/>
                        </a:srgbClr>
                      </a:solidFill>
                      <a:prstDash val="solid"/>
                      <a:round/>
                      <a:headEnd len="sm" w="sm" type="none"/>
                      <a:tailEnd len="sm" w="sm" type="none"/>
                    </a:lnT>
                    <a:lnB cap="flat" cmpd="sng" w="9525">
                      <a:solidFill>
                        <a:srgbClr val="E0E1E6">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6181B"/>
                        </a:buClr>
                        <a:buSzPts val="1150"/>
                        <a:buFont typeface="Quattrocento Sans"/>
                        <a:buNone/>
                      </a:pPr>
                      <a:r>
                        <a:rPr lang="en-US" spc="0" sz="1150" u="none" cap="none" strike="noStrike">
                          <a:solidFill>
                            <a:srgbClr val="16181B"/>
                          </a:solidFill>
                        </a:rPr>
                        <a:t>Transparence, bonne foi</a:t>
                      </a:r>
                      <a:endParaRPr spc="0" sz="1150" u="none" cap="none" strike="noStrike"/>
                    </a:p>
                  </a:txBody>
                  <a:tcPr marT="25400" marB="25400" marR="635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0E1E6">
                          <a:alpha val="0"/>
                        </a:srgbClr>
                      </a:solidFill>
                      <a:prstDash val="solid"/>
                      <a:round/>
                      <a:headEnd len="sm" w="sm" type="none"/>
                      <a:tailEnd len="sm" w="sm" type="none"/>
                    </a:lnT>
                    <a:lnB cap="flat" cmpd="sng" w="9525">
                      <a:solidFill>
                        <a:srgbClr val="E0E1E6">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4"/>
                        </a:buClr>
                        <a:buSzPts val="1150"/>
                        <a:buFont typeface="Quattrocento Sans"/>
                        <a:buNone/>
                      </a:pPr>
                      <a:r>
                        <a:rPr i="1" lang="en-US" spc="0" sz="1150" u="none" cap="none" strike="noStrike">
                          <a:solidFill>
                            <a:schemeClr val="accent4"/>
                          </a:solidFill>
                        </a:rPr>
                        <a:t>«Comparaison biaisée ou changement non expliqué  »</a:t>
                      </a:r>
                      <a:endParaRPr spc="0" sz="1150" u="none" cap="none" strike="noStrike"/>
                    </a:p>
                  </a:txBody>
                  <a:tcPr marT="25400" marB="25400" marR="635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0E1E6">
                          <a:alpha val="0"/>
                        </a:srgbClr>
                      </a:solidFill>
                      <a:prstDash val="solid"/>
                      <a:round/>
                      <a:headEnd len="sm" w="sm" type="none"/>
                      <a:tailEnd len="sm" w="sm" type="none"/>
                    </a:lnT>
                    <a:lnB cap="flat" cmpd="sng" w="9525">
                      <a:solidFill>
                        <a:srgbClr val="E0E1E6">
                          <a:alpha val="0"/>
                        </a:srgbClr>
                      </a:solidFill>
                      <a:prstDash val="solid"/>
                      <a:round/>
                      <a:headEnd len="sm" w="sm" type="none"/>
                      <a:tailEnd len="sm" w="sm" type="none"/>
                    </a:lnB>
                  </a:tcPr>
                </a:tc>
              </a:tr>
              <a:tr h="384050">
                <a:tc>
                  <a:txBody>
                    <a:bodyPr/>
                    <a:lstStyle/>
                    <a:p>
                      <a:pPr indent="0" lvl="0" marL="0" marR="0" rtl="0" algn="l">
                        <a:lnSpc>
                          <a:spcPct val="100000"/>
                        </a:lnSpc>
                        <a:spcBef>
                          <a:spcPts val="0"/>
                        </a:spcBef>
                        <a:spcAft>
                          <a:spcPts val="0"/>
                        </a:spcAft>
                        <a:buClr>
                          <a:srgbClr val="16181B"/>
                        </a:buClr>
                        <a:buSzPts val="1150"/>
                        <a:buFont typeface="Quattrocento Sans"/>
                        <a:buNone/>
                      </a:pPr>
                      <a:r>
                        <a:rPr b="1" lang="en-US" spc="0" sz="1150" u="none" cap="none" strike="noStrike">
                          <a:solidFill>
                            <a:srgbClr val="16181B"/>
                          </a:solidFill>
                        </a:rPr>
                        <a:t>Atteintes aux personnes minimisées</a:t>
                      </a:r>
                      <a:endParaRPr spc="0" sz="1150" u="none" cap="none" strike="noStrike"/>
                    </a:p>
                  </a:txBody>
                  <a:tcPr marT="25400" marB="25400" marR="635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0E1E6">
                          <a:alpha val="0"/>
                        </a:srgbClr>
                      </a:solidFill>
                      <a:prstDash val="solid"/>
                      <a:round/>
                      <a:headEnd len="sm" w="sm" type="none"/>
                      <a:tailEnd len="sm" w="sm" type="none"/>
                    </a:lnT>
                    <a:lnB cap="flat" cmpd="sng" w="9525">
                      <a:solidFill>
                        <a:srgbClr val="E0E1E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6181B"/>
                        </a:buClr>
                        <a:buSzPts val="1150"/>
                        <a:buFont typeface="Quattrocento Sans"/>
                        <a:buNone/>
                      </a:pPr>
                      <a:r>
                        <a:rPr lang="en-US" spc="0" sz="1150" u="none" cap="none" strike="noStrike">
                          <a:solidFill>
                            <a:srgbClr val="16181B"/>
                          </a:solidFill>
                        </a:rPr>
                        <a:t>Vulnérables, discrimination, données personnelles</a:t>
                      </a:r>
                      <a:endParaRPr spc="0" sz="1150" u="none" cap="none" strike="noStrike"/>
                    </a:p>
                  </a:txBody>
                  <a:tcPr marT="25400" marB="25400" marR="635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0E1E6">
                          <a:alpha val="0"/>
                        </a:srgbClr>
                      </a:solidFill>
                      <a:prstDash val="solid"/>
                      <a:round/>
                      <a:headEnd len="sm" w="sm" type="none"/>
                      <a:tailEnd len="sm" w="sm" type="none"/>
                    </a:lnT>
                    <a:lnB cap="flat" cmpd="sng" w="9525">
                      <a:solidFill>
                        <a:srgbClr val="E0E1E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4"/>
                        </a:buClr>
                        <a:buSzPts val="1150"/>
                        <a:buFont typeface="Quattrocento Sans"/>
                        <a:buNone/>
                      </a:pPr>
                      <a:r>
                        <a:rPr i="1" lang="en-US" spc="0" sz="1150" u="none" cap="none" strike="noStrike">
                          <a:solidFill>
                            <a:schemeClr val="accent4"/>
                          </a:solidFill>
                        </a:rPr>
                        <a:t>« Gravité d’une atteinte aux personnes atténuée  »</a:t>
                      </a:r>
                      <a:endParaRPr spc="0" sz="1150" u="none" cap="none" strike="noStrike"/>
                    </a:p>
                  </a:txBody>
                  <a:tcPr marT="25400" marB="25400" marR="635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0E1E6">
                          <a:alpha val="0"/>
                        </a:srgbClr>
                      </a:solidFill>
                      <a:prstDash val="solid"/>
                      <a:round/>
                      <a:headEnd len="sm" w="sm" type="none"/>
                      <a:tailEnd len="sm" w="sm" type="none"/>
                    </a:lnT>
                    <a:lnB cap="flat" cmpd="sng" w="9525">
                      <a:solidFill>
                        <a:srgbClr val="E0E1E6"/>
                      </a:solidFill>
                      <a:prstDash val="solid"/>
                      <a:round/>
                      <a:headEnd len="sm" w="sm" type="none"/>
                      <a:tailEnd len="sm" w="sm" type="none"/>
                    </a:lnB>
                  </a:tcPr>
                </a:tc>
              </a:tr>
            </a:tbl>
          </a:graphicData>
        </a:graphic>
      </p:graphicFrame>
      <p:sp>
        <p:nvSpPr>
          <p:cNvPr id="149" name="Google Shape;149;p9"/>
          <p:cNvSpPr/>
          <p:nvPr/>
        </p:nvSpPr>
        <p:spPr>
          <a:xfrm>
            <a:off x="8183880" y="1847088"/>
            <a:ext cx="3456432" cy="1051560"/>
          </a:xfrm>
          <a:prstGeom prst="roundRect">
            <a:avLst>
              <a:gd fmla="val 8696" name="adj"/>
            </a:avLst>
          </a:prstGeom>
          <a:solidFill>
            <a:srgbClr val="F9F9FB"/>
          </a:solidFill>
          <a:ln cap="flat" cmpd="sng" w="9525">
            <a:solidFill>
              <a:srgbClr val="E0E1E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50" name="Google Shape;150;p9"/>
          <p:cNvSpPr/>
          <p:nvPr/>
        </p:nvSpPr>
        <p:spPr>
          <a:xfrm>
            <a:off x="8385048" y="2048256"/>
            <a:ext cx="566928" cy="566928"/>
          </a:xfrm>
          <a:prstGeom prst="ellipse">
            <a:avLst/>
          </a:prstGeom>
          <a:solidFill>
            <a:srgbClr val="3657C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51" name="Google Shape;151;p9"/>
          <p:cNvPicPr preferRelativeResize="0"/>
          <p:nvPr/>
        </p:nvPicPr>
        <p:blipFill rotWithShape="1">
          <a:blip r:embed="rId3">
            <a:alphaModFix/>
          </a:blip>
          <a:srcRect b="0" l="0" r="0" t="0"/>
          <a:stretch/>
        </p:blipFill>
        <p:spPr>
          <a:xfrm>
            <a:off x="8513064" y="2176272"/>
            <a:ext cx="310896" cy="310896"/>
          </a:xfrm>
          <a:prstGeom prst="rect">
            <a:avLst/>
          </a:prstGeom>
          <a:noFill/>
          <a:ln>
            <a:noFill/>
          </a:ln>
        </p:spPr>
      </p:pic>
      <p:sp>
        <p:nvSpPr>
          <p:cNvPr id="152" name="Google Shape;152;p9"/>
          <p:cNvSpPr txBox="1"/>
          <p:nvPr/>
        </p:nvSpPr>
        <p:spPr>
          <a:xfrm>
            <a:off x="9098280" y="2029968"/>
            <a:ext cx="2359152"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2"/>
              </a:buClr>
              <a:buSzPts val="1450"/>
              <a:buFont typeface="Quattrocento Sans"/>
              <a:buNone/>
            </a:pPr>
            <a:r>
              <a:rPr b="1" i="0" lang="en-US" spc="0" sz="1400" u="none" cap="none" strike="noStrike">
                <a:solidFill>
                  <a:srgbClr val="000000"/>
                </a:solidFill>
                <a:latin typeface="Arial"/>
                <a:ea typeface="Arial"/>
                <a:cs typeface="Arial"/>
                <a:sym typeface="Arial"/>
              </a:rPr>
              <a:t>Indices lexicaux</a:t>
            </a:r>
            <a:r>
              <a:rPr b="0" i="0" lang="en-US" spc="0" sz="1400" u="none" cap="none" strike="noStrike">
                <a:solidFill>
                  <a:srgbClr val="000000"/>
                </a:solidFill>
                <a:latin typeface="Arial"/>
                <a:ea typeface="Arial"/>
                <a:cs typeface="Arial"/>
                <a:sym typeface="Arial"/>
              </a:rPr>
              <a:t> </a:t>
            </a:r>
            <a:endParaRPr b="0" i="0" spc="0" sz="1400" u="none" cap="none" strike="noStrike">
              <a:solidFill>
                <a:schemeClr val="dk1"/>
              </a:solidFill>
              <a:latin typeface="Quattrocento Sans"/>
              <a:ea typeface="Quattrocento Sans"/>
              <a:cs typeface="Quattrocento Sans"/>
              <a:sym typeface="Quattrocento Sans"/>
            </a:endParaRPr>
          </a:p>
        </p:txBody>
      </p:sp>
      <p:sp>
        <p:nvSpPr>
          <p:cNvPr id="153" name="Google Shape;153;p9"/>
          <p:cNvSpPr txBox="1"/>
          <p:nvPr/>
        </p:nvSpPr>
        <p:spPr>
          <a:xfrm>
            <a:off x="9098280" y="2505456"/>
            <a:ext cx="2359152"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150"/>
              <a:buFont typeface="Quattrocento Sans"/>
              <a:buNone/>
            </a:pPr>
            <a:r>
              <a:rPr b="0" i="0" lang="en-US" spc="0" sz="1150" u="none" cap="none" strike="noStrike">
                <a:solidFill>
                  <a:schemeClr val="dk1"/>
                </a:solidFill>
                <a:latin typeface="Quattrocento Sans"/>
                <a:ea typeface="Quattrocento Sans"/>
                <a:cs typeface="Quattrocento Sans"/>
                <a:sym typeface="Quattrocento Sans"/>
              </a:rPr>
              <a:t>expressions qui orientent la recherche </a:t>
            </a:r>
            <a:endParaRPr b="0" i="0" spc="0" sz="1150" u="none" cap="none" strike="noStrike">
              <a:solidFill>
                <a:schemeClr val="dk1"/>
              </a:solidFill>
              <a:latin typeface="Quattrocento Sans"/>
              <a:ea typeface="Quattrocento Sans"/>
              <a:cs typeface="Quattrocento Sans"/>
              <a:sym typeface="Quattrocento Sans"/>
            </a:endParaRPr>
          </a:p>
        </p:txBody>
      </p:sp>
      <p:sp>
        <p:nvSpPr>
          <p:cNvPr id="154" name="Google Shape;154;p9"/>
          <p:cNvSpPr/>
          <p:nvPr/>
        </p:nvSpPr>
        <p:spPr>
          <a:xfrm>
            <a:off x="8183880" y="3017520"/>
            <a:ext cx="3456432" cy="1051560"/>
          </a:xfrm>
          <a:prstGeom prst="roundRect">
            <a:avLst>
              <a:gd fmla="val 8696" name="adj"/>
            </a:avLst>
          </a:prstGeom>
          <a:solidFill>
            <a:srgbClr val="F9F9FB"/>
          </a:solidFill>
          <a:ln cap="flat" cmpd="sng" w="9525">
            <a:solidFill>
              <a:srgbClr val="E0E1E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55" name="Google Shape;155;p9"/>
          <p:cNvSpPr/>
          <p:nvPr/>
        </p:nvSpPr>
        <p:spPr>
          <a:xfrm>
            <a:off x="8385048" y="3218688"/>
            <a:ext cx="566928" cy="566928"/>
          </a:xfrm>
          <a:prstGeom prst="ellipse">
            <a:avLst/>
          </a:prstGeom>
          <a:solidFill>
            <a:srgbClr val="3657C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56" name="Google Shape;156;p9"/>
          <p:cNvPicPr preferRelativeResize="0"/>
          <p:nvPr/>
        </p:nvPicPr>
        <p:blipFill rotWithShape="1">
          <a:blip r:embed="rId4">
            <a:alphaModFix/>
          </a:blip>
          <a:srcRect b="0" l="0" r="0" t="0"/>
          <a:stretch/>
        </p:blipFill>
        <p:spPr>
          <a:xfrm>
            <a:off x="8513064" y="3346704"/>
            <a:ext cx="310896" cy="310896"/>
          </a:xfrm>
          <a:prstGeom prst="rect">
            <a:avLst/>
          </a:prstGeom>
          <a:noFill/>
          <a:ln>
            <a:noFill/>
          </a:ln>
        </p:spPr>
      </p:pic>
      <p:sp>
        <p:nvSpPr>
          <p:cNvPr id="157" name="Google Shape;157;p9"/>
          <p:cNvSpPr txBox="1"/>
          <p:nvPr/>
        </p:nvSpPr>
        <p:spPr>
          <a:xfrm>
            <a:off x="9098280" y="3200400"/>
            <a:ext cx="2359152"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2"/>
              </a:buClr>
              <a:buSzPts val="1450"/>
              <a:buFont typeface="Quattrocento Sans"/>
              <a:buNone/>
            </a:pPr>
            <a:r>
              <a:rPr b="1" i="0" lang="en-US" spc="0" sz="1450" u="none" cap="none" strike="noStrike">
                <a:solidFill>
                  <a:schemeClr val="dk2"/>
                </a:solidFill>
                <a:latin typeface="Quattrocento Sans"/>
                <a:ea typeface="Quattrocento Sans"/>
                <a:cs typeface="Quattrocento Sans"/>
                <a:sym typeface="Quattrocento Sans"/>
              </a:rPr>
              <a:t>Éléments justificatifs </a:t>
            </a:r>
            <a:endParaRPr b="1" i="0" spc="0" sz="1450" u="none" cap="none" strike="noStrike">
              <a:solidFill>
                <a:schemeClr val="dk1"/>
              </a:solidFill>
              <a:latin typeface="Quattrocento Sans"/>
              <a:ea typeface="Quattrocento Sans"/>
              <a:cs typeface="Quattrocento Sans"/>
              <a:sym typeface="Quattrocento Sans"/>
            </a:endParaRPr>
          </a:p>
        </p:txBody>
      </p:sp>
      <p:sp>
        <p:nvSpPr>
          <p:cNvPr id="158" name="Google Shape;158;p9"/>
          <p:cNvSpPr txBox="1"/>
          <p:nvPr/>
        </p:nvSpPr>
        <p:spPr>
          <a:xfrm>
            <a:off x="9098280" y="3675888"/>
            <a:ext cx="2359152"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150"/>
              <a:buFont typeface="Quattrocento Sans"/>
              <a:buNone/>
            </a:pPr>
            <a:r>
              <a:rPr b="0" i="0" lang="en-US" spc="0" sz="1150" u="none" cap="none" strike="noStrike">
                <a:solidFill>
                  <a:schemeClr val="dk1"/>
                </a:solidFill>
                <a:latin typeface="Quattrocento Sans"/>
                <a:ea typeface="Quattrocento Sans"/>
                <a:cs typeface="Quattrocento Sans"/>
                <a:sym typeface="Quattrocento Sans"/>
              </a:rPr>
              <a:t>chiffres, échéances, périmètre, méthode</a:t>
            </a:r>
            <a:endParaRPr b="0" i="0" spc="0" sz="1150" u="none" cap="none" strike="noStrike">
              <a:solidFill>
                <a:schemeClr val="dk1"/>
              </a:solidFill>
              <a:latin typeface="Quattrocento Sans"/>
              <a:ea typeface="Quattrocento Sans"/>
              <a:cs typeface="Quattrocento Sans"/>
              <a:sym typeface="Quattrocento Sans"/>
            </a:endParaRPr>
          </a:p>
        </p:txBody>
      </p:sp>
      <p:sp>
        <p:nvSpPr>
          <p:cNvPr id="159" name="Google Shape;159;p9"/>
          <p:cNvSpPr/>
          <p:nvPr/>
        </p:nvSpPr>
        <p:spPr>
          <a:xfrm>
            <a:off x="8183880" y="4187952"/>
            <a:ext cx="3456432" cy="1051560"/>
          </a:xfrm>
          <a:prstGeom prst="roundRect">
            <a:avLst>
              <a:gd fmla="val 8696" name="adj"/>
            </a:avLst>
          </a:prstGeom>
          <a:solidFill>
            <a:srgbClr val="F9F9FB"/>
          </a:solidFill>
          <a:ln cap="flat" cmpd="sng" w="9525">
            <a:solidFill>
              <a:srgbClr val="E0E1E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60" name="Google Shape;160;p9"/>
          <p:cNvSpPr/>
          <p:nvPr/>
        </p:nvSpPr>
        <p:spPr>
          <a:xfrm>
            <a:off x="8385048" y="4389120"/>
            <a:ext cx="566928" cy="566928"/>
          </a:xfrm>
          <a:prstGeom prst="ellipse">
            <a:avLst/>
          </a:prstGeom>
          <a:solidFill>
            <a:srgbClr val="B4441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61" name="Google Shape;161;p9"/>
          <p:cNvPicPr preferRelativeResize="0"/>
          <p:nvPr/>
        </p:nvPicPr>
        <p:blipFill rotWithShape="1">
          <a:blip r:embed="rId5">
            <a:alphaModFix/>
          </a:blip>
          <a:srcRect b="0" l="0" r="0" t="0"/>
          <a:stretch/>
        </p:blipFill>
        <p:spPr>
          <a:xfrm>
            <a:off x="8513064" y="4517136"/>
            <a:ext cx="310896" cy="310896"/>
          </a:xfrm>
          <a:prstGeom prst="rect">
            <a:avLst/>
          </a:prstGeom>
          <a:noFill/>
          <a:ln>
            <a:noFill/>
          </a:ln>
        </p:spPr>
      </p:pic>
      <p:sp>
        <p:nvSpPr>
          <p:cNvPr id="162" name="Google Shape;162;p9"/>
          <p:cNvSpPr txBox="1"/>
          <p:nvPr/>
        </p:nvSpPr>
        <p:spPr>
          <a:xfrm>
            <a:off x="9098280" y="4370832"/>
            <a:ext cx="2359152"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2"/>
              </a:buClr>
              <a:buSzPts val="1450"/>
              <a:buFont typeface="Quattrocento Sans"/>
              <a:buNone/>
            </a:pPr>
            <a:r>
              <a:rPr b="1" i="0" lang="en-US" spc="0" sz="1450" u="none" cap="none" strike="noStrike">
                <a:solidFill>
                  <a:schemeClr val="dk2"/>
                </a:solidFill>
                <a:latin typeface="Quattrocento Sans"/>
                <a:ea typeface="Quattrocento Sans"/>
                <a:cs typeface="Quattrocento Sans"/>
                <a:sym typeface="Quattrocento Sans"/>
              </a:rPr>
              <a:t>Contrôles de cohérence </a:t>
            </a:r>
            <a:endParaRPr b="1" i="0" spc="0" sz="1450" u="none" cap="none" strike="noStrike">
              <a:solidFill>
                <a:schemeClr val="dk1"/>
              </a:solidFill>
              <a:latin typeface="Quattrocento Sans"/>
              <a:ea typeface="Quattrocento Sans"/>
              <a:cs typeface="Quattrocento Sans"/>
              <a:sym typeface="Quattrocento Sans"/>
            </a:endParaRPr>
          </a:p>
        </p:txBody>
      </p:sp>
      <p:sp>
        <p:nvSpPr>
          <p:cNvPr id="163" name="Google Shape;163;p9"/>
          <p:cNvSpPr txBox="1"/>
          <p:nvPr/>
        </p:nvSpPr>
        <p:spPr>
          <a:xfrm>
            <a:off x="8991300" y="4846325"/>
            <a:ext cx="2651700" cy="2742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0"/>
              </a:spcAft>
              <a:buClr>
                <a:srgbClr val="000000"/>
              </a:buClr>
              <a:buSzPts val="1100"/>
              <a:buFont typeface="Arial"/>
              <a:buNone/>
            </a:pPr>
            <a:r>
              <a:rPr b="1" i="0" lang="en-US" spc="0" sz="1100" u="none" cap="none" strike="noStrike">
                <a:solidFill>
                  <a:srgbClr val="000000"/>
                </a:solidFill>
                <a:latin typeface="Arial"/>
                <a:ea typeface="Arial"/>
                <a:cs typeface="Arial"/>
                <a:sym typeface="Arial"/>
              </a:rPr>
              <a:t>Comparer année, unité et périmètre ; vérifier les erreurs d’extraction.</a:t>
            </a:r>
            <a:endParaRPr b="1" i="0" spc="0" sz="11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chemeClr val="dk1"/>
              </a:buClr>
              <a:buSzPts val="1150"/>
              <a:buFont typeface="Quattrocento Sans"/>
              <a:buNone/>
            </a:pPr>
            <a:r>
              <a:t/>
            </a:r>
            <a:endParaRPr b="1" i="0" spc="0" sz="1100" u="none" cap="none" strike="noStrike">
              <a:solidFill>
                <a:srgbClr val="000000"/>
              </a:solidFill>
              <a:latin typeface="Arial"/>
              <a:ea typeface="Arial"/>
              <a:cs typeface="Arial"/>
              <a:sym typeface="Arial"/>
            </a:endParaRPr>
          </a:p>
        </p:txBody>
      </p:sp>
      <p:sp>
        <p:nvSpPr>
          <p:cNvPr id="164" name="Google Shape;164;p9"/>
          <p:cNvSpPr/>
          <p:nvPr/>
        </p:nvSpPr>
        <p:spPr>
          <a:xfrm>
            <a:off x="548640" y="5440680"/>
            <a:ext cx="11094415" cy="548640"/>
          </a:xfrm>
          <a:prstGeom prst="roundRect">
            <a:avLst>
              <a:gd fmla="val 13333"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65" name="Google Shape;165;p9"/>
          <p:cNvSpPr txBox="1"/>
          <p:nvPr/>
        </p:nvSpPr>
        <p:spPr>
          <a:xfrm>
            <a:off x="822960" y="5440680"/>
            <a:ext cx="10545775"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D8A8"/>
              </a:buClr>
              <a:buSzPts val="1350"/>
              <a:buFont typeface="Quattrocento Sans"/>
              <a:buNone/>
            </a:pPr>
            <a:r>
              <a:rPr b="1" i="0" lang="en-US" spc="0" sz="1350" u="none" cap="none" strike="noStrike">
                <a:solidFill>
                  <a:srgbClr val="FFD8A8"/>
                </a:solidFill>
                <a:latin typeface="Quattrocento Sans"/>
                <a:ea typeface="Quattrocento Sans"/>
                <a:cs typeface="Quattrocento Sans"/>
                <a:sym typeface="Quattrocento Sans"/>
              </a:rPr>
              <a:t>Indices à analyser · Preuves contextualisées · Cas ambigus à examiner </a:t>
            </a:r>
            <a:endParaRPr b="0" i="0" spc="0" sz="1350" u="none" cap="none" strike="noStrike">
              <a:solidFill>
                <a:schemeClr val="dk1"/>
              </a:solidFill>
              <a:latin typeface="Quattrocento Sans"/>
              <a:ea typeface="Quattrocento Sans"/>
              <a:cs typeface="Quattrocento Sans"/>
              <a:sym typeface="Quattrocento Sans"/>
            </a:endParaRPr>
          </a:p>
        </p:txBody>
      </p:sp>
      <p:sp>
        <p:nvSpPr>
          <p:cNvPr id="166" name="Google Shape;166;p9"/>
          <p:cNvSpPr txBox="1"/>
          <p:nvPr>
            <p:ph idx="4294967295" type="sldNum"/>
          </p:nvPr>
        </p:nvSpPr>
        <p:spPr>
          <a:xfrm>
            <a:off x="11185855" y="6428232"/>
            <a:ext cx="45720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100"/>
              <a:buNone/>
            </a:pPr>
            <a:fld id="{00000000-1234-1234-1234-123412341234}" type="slidenum">
              <a:rPr b="0" i="0" lang="en-US" sz="1100" u="none" cap="none" strike="noStrike">
                <a:solidFill>
                  <a:schemeClr val="accent4"/>
                </a:solidFill>
                <a:latin typeface="Quattrocento Sans"/>
                <a:ea typeface="Quattrocento Sans"/>
                <a:cs typeface="Quattrocento Sans"/>
                <a:sym typeface="Quattrocento Sans"/>
              </a:rPr>
              <a:t>‹#›</a:t>
            </a:fld>
            <a:endParaRPr b="0" i="0" sz="1100" u="none" cap="none" strike="noStrike">
              <a:solidFill>
                <a:schemeClr val="accent4"/>
              </a:solidFill>
              <a:latin typeface="Quattrocento Sans"/>
              <a:ea typeface="Quattrocento Sans"/>
              <a:cs typeface="Quattrocento Sans"/>
              <a:sym typeface="Quattrocento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0"/>
          <p:cNvSpPr txBox="1"/>
          <p:nvPr/>
        </p:nvSpPr>
        <p:spPr>
          <a:xfrm>
            <a:off x="548640" y="274320"/>
            <a:ext cx="73152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200"/>
              <a:buFont typeface="Quattrocento Sans"/>
              <a:buNone/>
            </a:pPr>
            <a:r>
              <a:rPr b="1" i="0" lang="en-US" spc="200" sz="1200" u="none" cap="none" strike="noStrike">
                <a:solidFill>
                  <a:schemeClr val="accent1"/>
                </a:solidFill>
                <a:latin typeface="Quattrocento Sans"/>
                <a:ea typeface="Quattrocento Sans"/>
                <a:cs typeface="Quattrocento Sans"/>
                <a:sym typeface="Quattrocento Sans"/>
              </a:rPr>
              <a:t>DÉTECTION DES TOXICITÉS</a:t>
            </a:r>
            <a:endParaRPr b="0" i="0" spc="0" sz="1200" u="none" cap="none" strike="noStrike">
              <a:solidFill>
                <a:schemeClr val="dk1"/>
              </a:solidFill>
              <a:latin typeface="Quattrocento Sans"/>
              <a:ea typeface="Quattrocento Sans"/>
              <a:cs typeface="Quattrocento Sans"/>
              <a:sym typeface="Quattrocento Sans"/>
            </a:endParaRPr>
          </a:p>
        </p:txBody>
      </p:sp>
      <p:sp>
        <p:nvSpPr>
          <p:cNvPr id="173" name="Google Shape;173;p10"/>
          <p:cNvSpPr txBox="1"/>
          <p:nvPr>
            <p:ph type="title"/>
          </p:nvPr>
        </p:nvSpPr>
        <p:spPr>
          <a:xfrm>
            <a:off x="548640" y="566928"/>
            <a:ext cx="11094415" cy="7772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2"/>
              </a:buClr>
              <a:buSzPts val="2800"/>
              <a:buFont typeface="Quattrocento Sans"/>
              <a:buNone/>
            </a:pPr>
            <a:r>
              <a:rPr b="1" lang="en-US" sz="2800">
                <a:solidFill>
                  <a:schemeClr val="dk2"/>
                </a:solidFill>
              </a:rPr>
              <a:t>Le lexique sélectionnera, le LLM jugera, des règles vérifieront</a:t>
            </a:r>
            <a:endParaRPr sz="2800"/>
          </a:p>
        </p:txBody>
      </p:sp>
      <p:sp>
        <p:nvSpPr>
          <p:cNvPr id="174" name="Google Shape;174;p10"/>
          <p:cNvSpPr/>
          <p:nvPr/>
        </p:nvSpPr>
        <p:spPr>
          <a:xfrm>
            <a:off x="8991295" y="219456"/>
            <a:ext cx="2651760" cy="329184"/>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75" name="Google Shape;175;p10"/>
          <p:cNvSpPr txBox="1"/>
          <p:nvPr/>
        </p:nvSpPr>
        <p:spPr>
          <a:xfrm>
            <a:off x="8991295" y="219456"/>
            <a:ext cx="2651760" cy="32918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2"/>
              </a:buClr>
              <a:buSzPts val="1150"/>
              <a:buFont typeface="Quattrocento Sans"/>
              <a:buNone/>
            </a:pPr>
            <a:r>
              <a:rPr b="1" i="0" lang="en-US" spc="0" sz="1150" u="none" cap="none" strike="noStrike">
                <a:solidFill>
                  <a:schemeClr val="dk2"/>
                </a:solidFill>
                <a:latin typeface="Quattrocento Sans"/>
                <a:ea typeface="Quattrocento Sans"/>
                <a:cs typeface="Quattrocento Sans"/>
                <a:sym typeface="Quattrocento Sans"/>
              </a:rPr>
              <a:t>Personne 3 · Détection</a:t>
            </a:r>
            <a:endParaRPr b="0" i="0" spc="0" sz="1150" u="none" cap="none" strike="noStrike">
              <a:solidFill>
                <a:schemeClr val="dk1"/>
              </a:solidFill>
              <a:latin typeface="Quattrocento Sans"/>
              <a:ea typeface="Quattrocento Sans"/>
              <a:cs typeface="Quattrocento Sans"/>
              <a:sym typeface="Quattrocento Sans"/>
            </a:endParaRPr>
          </a:p>
        </p:txBody>
      </p:sp>
      <p:sp>
        <p:nvSpPr>
          <p:cNvPr id="176" name="Google Shape;176;p10"/>
          <p:cNvSpPr/>
          <p:nvPr/>
        </p:nvSpPr>
        <p:spPr>
          <a:xfrm>
            <a:off x="548640" y="1554480"/>
            <a:ext cx="2011680" cy="1828800"/>
          </a:xfrm>
          <a:prstGeom prst="roundRect">
            <a:avLst>
              <a:gd fmla="val 5000" name="adj"/>
            </a:avLst>
          </a:prstGeom>
          <a:solidFill>
            <a:srgbClr val="F9F9FB"/>
          </a:solidFill>
          <a:ln cap="flat" cmpd="sng" w="9525">
            <a:solidFill>
              <a:srgbClr val="E0E1E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77" name="Google Shape;177;p10"/>
          <p:cNvSpPr/>
          <p:nvPr/>
        </p:nvSpPr>
        <p:spPr>
          <a:xfrm>
            <a:off x="777240" y="1783080"/>
            <a:ext cx="548640" cy="548640"/>
          </a:xfrm>
          <a:prstGeom prst="ellipse">
            <a:avLst/>
          </a:prstGeom>
          <a:solidFill>
            <a:srgbClr val="3657C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78" name="Google Shape;178;p10"/>
          <p:cNvPicPr preferRelativeResize="0"/>
          <p:nvPr/>
        </p:nvPicPr>
        <p:blipFill rotWithShape="1">
          <a:blip r:embed="rId3">
            <a:alphaModFix/>
          </a:blip>
          <a:srcRect b="0" l="0" r="0" t="0"/>
          <a:stretch/>
        </p:blipFill>
        <p:spPr>
          <a:xfrm>
            <a:off x="900684" y="1906524"/>
            <a:ext cx="301752" cy="301752"/>
          </a:xfrm>
          <a:prstGeom prst="rect">
            <a:avLst/>
          </a:prstGeom>
          <a:noFill/>
          <a:ln>
            <a:noFill/>
          </a:ln>
        </p:spPr>
      </p:pic>
      <p:sp>
        <p:nvSpPr>
          <p:cNvPr id="179" name="Google Shape;179;p10"/>
          <p:cNvSpPr txBox="1"/>
          <p:nvPr/>
        </p:nvSpPr>
        <p:spPr>
          <a:xfrm>
            <a:off x="777240" y="2450592"/>
            <a:ext cx="155448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2"/>
              </a:buClr>
              <a:buSzPts val="1500"/>
              <a:buFont typeface="Quattrocento Sans"/>
              <a:buNone/>
            </a:pPr>
            <a:r>
              <a:rPr b="1" i="0" lang="en-US" spc="0" sz="1500" u="none" cap="none" strike="noStrike">
                <a:solidFill>
                  <a:schemeClr val="dk2"/>
                </a:solidFill>
                <a:latin typeface="Quattrocento Sans"/>
                <a:ea typeface="Quattrocento Sans"/>
                <a:cs typeface="Quattrocento Sans"/>
                <a:sym typeface="Quattrocento Sans"/>
              </a:rPr>
              <a:t>Périmètre</a:t>
            </a:r>
            <a:endParaRPr b="0" i="0" spc="0" sz="1500" u="none" cap="none" strike="noStrike">
              <a:solidFill>
                <a:schemeClr val="dk1"/>
              </a:solidFill>
              <a:latin typeface="Quattrocento Sans"/>
              <a:ea typeface="Quattrocento Sans"/>
              <a:cs typeface="Quattrocento Sans"/>
              <a:sym typeface="Quattrocento Sans"/>
            </a:endParaRPr>
          </a:p>
        </p:txBody>
      </p:sp>
      <p:sp>
        <p:nvSpPr>
          <p:cNvPr id="180" name="Google Shape;180;p10"/>
          <p:cNvSpPr txBox="1"/>
          <p:nvPr/>
        </p:nvSpPr>
        <p:spPr>
          <a:xfrm>
            <a:off x="777240" y="2880360"/>
            <a:ext cx="1554480" cy="411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Quattrocento Sans"/>
              <a:buNone/>
            </a:pPr>
            <a:r>
              <a:rPr b="0" i="0" lang="en-US" spc="0" sz="1200" u="none" cap="none" strike="noStrike">
                <a:solidFill>
                  <a:schemeClr val="dk1"/>
                </a:solidFill>
                <a:latin typeface="Quattrocento Sans"/>
                <a:ea typeface="Quattrocento Sans"/>
                <a:cs typeface="Quattrocento Sans"/>
                <a:sym typeface="Quattrocento Sans"/>
              </a:rPr>
              <a:t>Analyser le contenu RSE et son contexte </a:t>
            </a:r>
            <a:endParaRPr b="0" i="0" spc="0" sz="1200" u="none" cap="none" strike="noStrike">
              <a:solidFill>
                <a:schemeClr val="dk1"/>
              </a:solidFill>
              <a:latin typeface="Quattrocento Sans"/>
              <a:ea typeface="Quattrocento Sans"/>
              <a:cs typeface="Quattrocento Sans"/>
              <a:sym typeface="Quattrocento Sans"/>
            </a:endParaRPr>
          </a:p>
        </p:txBody>
      </p:sp>
      <p:sp>
        <p:nvSpPr>
          <p:cNvPr id="181" name="Google Shape;181;p10"/>
          <p:cNvSpPr/>
          <p:nvPr/>
        </p:nvSpPr>
        <p:spPr>
          <a:xfrm>
            <a:off x="2606040" y="2331720"/>
            <a:ext cx="164592" cy="237744"/>
          </a:xfrm>
          <a:prstGeom prst="rightArrow">
            <a:avLst>
              <a:gd fmla="val 50000" name="adj1"/>
              <a:gd fmla="val 50000" name="adj2"/>
            </a:avLst>
          </a:prstGeom>
          <a:solidFill>
            <a:srgbClr val="62636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82" name="Google Shape;182;p10"/>
          <p:cNvSpPr/>
          <p:nvPr/>
        </p:nvSpPr>
        <p:spPr>
          <a:xfrm>
            <a:off x="2816352" y="1554480"/>
            <a:ext cx="2011680" cy="1828800"/>
          </a:xfrm>
          <a:prstGeom prst="roundRect">
            <a:avLst>
              <a:gd fmla="val 5000" name="adj"/>
            </a:avLst>
          </a:prstGeom>
          <a:solidFill>
            <a:srgbClr val="F9F9FB"/>
          </a:solidFill>
          <a:ln cap="flat" cmpd="sng" w="9525">
            <a:solidFill>
              <a:srgbClr val="E0E1E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83" name="Google Shape;183;p10"/>
          <p:cNvSpPr/>
          <p:nvPr/>
        </p:nvSpPr>
        <p:spPr>
          <a:xfrm>
            <a:off x="3044952" y="1783080"/>
            <a:ext cx="548640" cy="548640"/>
          </a:xfrm>
          <a:prstGeom prst="ellipse">
            <a:avLst/>
          </a:prstGeom>
          <a:solidFill>
            <a:srgbClr val="3657C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84" name="Google Shape;184;p10"/>
          <p:cNvPicPr preferRelativeResize="0"/>
          <p:nvPr/>
        </p:nvPicPr>
        <p:blipFill rotWithShape="1">
          <a:blip r:embed="rId4">
            <a:alphaModFix/>
          </a:blip>
          <a:srcRect b="0" l="0" r="0" t="0"/>
          <a:stretch/>
        </p:blipFill>
        <p:spPr>
          <a:xfrm>
            <a:off x="3168396" y="1906524"/>
            <a:ext cx="301752" cy="301752"/>
          </a:xfrm>
          <a:prstGeom prst="rect">
            <a:avLst/>
          </a:prstGeom>
          <a:noFill/>
          <a:ln>
            <a:noFill/>
          </a:ln>
        </p:spPr>
      </p:pic>
      <p:sp>
        <p:nvSpPr>
          <p:cNvPr id="185" name="Google Shape;185;p10"/>
          <p:cNvSpPr txBox="1"/>
          <p:nvPr/>
        </p:nvSpPr>
        <p:spPr>
          <a:xfrm>
            <a:off x="3044952" y="2450592"/>
            <a:ext cx="155448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2"/>
              </a:buClr>
              <a:buSzPts val="1500"/>
              <a:buFont typeface="Quattrocento Sans"/>
              <a:buNone/>
            </a:pPr>
            <a:r>
              <a:rPr b="1" i="0" lang="en-US" spc="0" sz="1500" u="none" cap="none" strike="noStrike">
                <a:solidFill>
                  <a:schemeClr val="dk2"/>
                </a:solidFill>
                <a:latin typeface="Quattrocento Sans"/>
                <a:ea typeface="Quattrocento Sans"/>
                <a:cs typeface="Quattrocento Sans"/>
                <a:sym typeface="Quattrocento Sans"/>
              </a:rPr>
              <a:t>Pré-filtre</a:t>
            </a:r>
            <a:endParaRPr b="0" i="0" spc="0" sz="1500" u="none" cap="none" strike="noStrike">
              <a:solidFill>
                <a:schemeClr val="dk1"/>
              </a:solidFill>
              <a:latin typeface="Quattrocento Sans"/>
              <a:ea typeface="Quattrocento Sans"/>
              <a:cs typeface="Quattrocento Sans"/>
              <a:sym typeface="Quattrocento Sans"/>
            </a:endParaRPr>
          </a:p>
        </p:txBody>
      </p:sp>
      <p:sp>
        <p:nvSpPr>
          <p:cNvPr id="186" name="Google Shape;186;p10"/>
          <p:cNvSpPr txBox="1"/>
          <p:nvPr/>
        </p:nvSpPr>
        <p:spPr>
          <a:xfrm>
            <a:off x="3044950" y="2880350"/>
            <a:ext cx="1783200" cy="411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Quattrocento Sans"/>
              <a:buNone/>
            </a:pPr>
            <a:r>
              <a:rPr b="0" i="0" lang="en-US" spc="0" sz="1200" u="none" cap="none" strike="noStrike">
                <a:solidFill>
                  <a:schemeClr val="dk1"/>
                </a:solidFill>
                <a:latin typeface="Quattrocento Sans"/>
                <a:ea typeface="Quattrocento Sans"/>
                <a:cs typeface="Quattrocento Sans"/>
                <a:sym typeface="Quattrocento Sans"/>
              </a:rPr>
              <a:t>Repérer des passages candidats par le lexique </a:t>
            </a:r>
            <a:endParaRPr b="0" i="0" spc="0" sz="1200" u="none" cap="none" strike="noStrike">
              <a:solidFill>
                <a:schemeClr val="dk1"/>
              </a:solidFill>
              <a:latin typeface="Quattrocento Sans"/>
              <a:ea typeface="Quattrocento Sans"/>
              <a:cs typeface="Quattrocento Sans"/>
              <a:sym typeface="Quattrocento Sans"/>
            </a:endParaRPr>
          </a:p>
        </p:txBody>
      </p:sp>
      <p:sp>
        <p:nvSpPr>
          <p:cNvPr id="187" name="Google Shape;187;p10"/>
          <p:cNvSpPr/>
          <p:nvPr/>
        </p:nvSpPr>
        <p:spPr>
          <a:xfrm>
            <a:off x="4873752" y="2331720"/>
            <a:ext cx="164592" cy="237744"/>
          </a:xfrm>
          <a:prstGeom prst="rightArrow">
            <a:avLst>
              <a:gd fmla="val 50000" name="adj1"/>
              <a:gd fmla="val 50000" name="adj2"/>
            </a:avLst>
          </a:prstGeom>
          <a:solidFill>
            <a:srgbClr val="62636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88" name="Google Shape;188;p10"/>
          <p:cNvSpPr/>
          <p:nvPr/>
        </p:nvSpPr>
        <p:spPr>
          <a:xfrm>
            <a:off x="5084064" y="1554480"/>
            <a:ext cx="2011680" cy="1828800"/>
          </a:xfrm>
          <a:prstGeom prst="roundRect">
            <a:avLst>
              <a:gd fmla="val 5000" name="adj"/>
            </a:avLst>
          </a:prstGeom>
          <a:solidFill>
            <a:srgbClr val="F9F9FB"/>
          </a:solidFill>
          <a:ln cap="flat" cmpd="sng" w="9525">
            <a:solidFill>
              <a:srgbClr val="E0E1E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89" name="Google Shape;189;p10"/>
          <p:cNvSpPr/>
          <p:nvPr/>
        </p:nvSpPr>
        <p:spPr>
          <a:xfrm>
            <a:off x="5312664" y="1783080"/>
            <a:ext cx="548640" cy="548640"/>
          </a:xfrm>
          <a:prstGeom prst="ellipse">
            <a:avLst/>
          </a:prstGeom>
          <a:solidFill>
            <a:srgbClr val="B4441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90" name="Google Shape;190;p10"/>
          <p:cNvPicPr preferRelativeResize="0"/>
          <p:nvPr/>
        </p:nvPicPr>
        <p:blipFill rotWithShape="1">
          <a:blip r:embed="rId5">
            <a:alphaModFix/>
          </a:blip>
          <a:srcRect b="0" l="0" r="0" t="0"/>
          <a:stretch/>
        </p:blipFill>
        <p:spPr>
          <a:xfrm>
            <a:off x="5436108" y="1906524"/>
            <a:ext cx="301752" cy="301752"/>
          </a:xfrm>
          <a:prstGeom prst="rect">
            <a:avLst/>
          </a:prstGeom>
          <a:noFill/>
          <a:ln>
            <a:noFill/>
          </a:ln>
        </p:spPr>
      </p:pic>
      <p:sp>
        <p:nvSpPr>
          <p:cNvPr id="191" name="Google Shape;191;p10"/>
          <p:cNvSpPr txBox="1"/>
          <p:nvPr/>
        </p:nvSpPr>
        <p:spPr>
          <a:xfrm>
            <a:off x="5312664" y="2450592"/>
            <a:ext cx="155448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2"/>
              </a:buClr>
              <a:buSzPts val="1500"/>
              <a:buFont typeface="Quattrocento Sans"/>
              <a:buNone/>
            </a:pPr>
            <a:r>
              <a:rPr b="1" i="0" lang="en-US" spc="0" sz="1500" u="none" cap="none" strike="noStrike">
                <a:solidFill>
                  <a:schemeClr val="dk2"/>
                </a:solidFill>
                <a:latin typeface="Quattrocento Sans"/>
                <a:ea typeface="Quattrocento Sans"/>
                <a:cs typeface="Quattrocento Sans"/>
                <a:sym typeface="Quattrocento Sans"/>
              </a:rPr>
              <a:t>LLM local</a:t>
            </a:r>
            <a:endParaRPr b="0" i="0" spc="0" sz="1500" u="none" cap="none" strike="noStrike">
              <a:solidFill>
                <a:schemeClr val="dk1"/>
              </a:solidFill>
              <a:latin typeface="Quattrocento Sans"/>
              <a:ea typeface="Quattrocento Sans"/>
              <a:cs typeface="Quattrocento Sans"/>
              <a:sym typeface="Quattrocento Sans"/>
            </a:endParaRPr>
          </a:p>
        </p:txBody>
      </p:sp>
      <p:sp>
        <p:nvSpPr>
          <p:cNvPr id="192" name="Google Shape;192;p10"/>
          <p:cNvSpPr txBox="1"/>
          <p:nvPr/>
        </p:nvSpPr>
        <p:spPr>
          <a:xfrm>
            <a:off x="5312664" y="2880360"/>
            <a:ext cx="1554480" cy="411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Quattrocento Sans"/>
              <a:buNone/>
            </a:pPr>
            <a:r>
              <a:rPr b="0" i="0" lang="en-US" spc="0" sz="1200" u="none" cap="none" strike="noStrike">
                <a:solidFill>
                  <a:schemeClr val="dk1"/>
                </a:solidFill>
                <a:latin typeface="Quattrocento Sans"/>
                <a:ea typeface="Quattrocento Sans"/>
                <a:cs typeface="Quattrocento Sans"/>
                <a:sym typeface="Quattrocento Sans"/>
              </a:rPr>
              <a:t>Analyser les passages selon la grille </a:t>
            </a:r>
            <a:endParaRPr b="0" i="0" spc="0" sz="1200" u="none" cap="none" strike="noStrike">
              <a:solidFill>
                <a:schemeClr val="dk1"/>
              </a:solidFill>
              <a:latin typeface="Quattrocento Sans"/>
              <a:ea typeface="Quattrocento Sans"/>
              <a:cs typeface="Quattrocento Sans"/>
              <a:sym typeface="Quattrocento Sans"/>
            </a:endParaRPr>
          </a:p>
        </p:txBody>
      </p:sp>
      <p:sp>
        <p:nvSpPr>
          <p:cNvPr id="193" name="Google Shape;193;p10"/>
          <p:cNvSpPr/>
          <p:nvPr/>
        </p:nvSpPr>
        <p:spPr>
          <a:xfrm>
            <a:off x="7141464" y="2331720"/>
            <a:ext cx="164592" cy="237744"/>
          </a:xfrm>
          <a:prstGeom prst="rightArrow">
            <a:avLst>
              <a:gd fmla="val 50000" name="adj1"/>
              <a:gd fmla="val 50000" name="adj2"/>
            </a:avLst>
          </a:prstGeom>
          <a:solidFill>
            <a:srgbClr val="62636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94" name="Google Shape;194;p10"/>
          <p:cNvSpPr/>
          <p:nvPr/>
        </p:nvSpPr>
        <p:spPr>
          <a:xfrm>
            <a:off x="7351776" y="1554480"/>
            <a:ext cx="2011680" cy="1828800"/>
          </a:xfrm>
          <a:prstGeom prst="roundRect">
            <a:avLst>
              <a:gd fmla="val 5000" name="adj"/>
            </a:avLst>
          </a:prstGeom>
          <a:solidFill>
            <a:srgbClr val="F9F9FB"/>
          </a:solidFill>
          <a:ln cap="flat" cmpd="sng" w="9525">
            <a:solidFill>
              <a:srgbClr val="E0E1E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95" name="Google Shape;195;p10"/>
          <p:cNvSpPr/>
          <p:nvPr/>
        </p:nvSpPr>
        <p:spPr>
          <a:xfrm>
            <a:off x="7580376" y="1783080"/>
            <a:ext cx="548640" cy="548640"/>
          </a:xfrm>
          <a:prstGeom prst="ellipse">
            <a:avLst/>
          </a:prstGeom>
          <a:solidFill>
            <a:srgbClr val="3657C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96" name="Google Shape;196;p10"/>
          <p:cNvPicPr preferRelativeResize="0"/>
          <p:nvPr/>
        </p:nvPicPr>
        <p:blipFill rotWithShape="1">
          <a:blip r:embed="rId6">
            <a:alphaModFix/>
          </a:blip>
          <a:srcRect b="0" l="0" r="0" t="0"/>
          <a:stretch/>
        </p:blipFill>
        <p:spPr>
          <a:xfrm>
            <a:off x="7703820" y="1906524"/>
            <a:ext cx="301752" cy="301752"/>
          </a:xfrm>
          <a:prstGeom prst="rect">
            <a:avLst/>
          </a:prstGeom>
          <a:noFill/>
          <a:ln>
            <a:noFill/>
          </a:ln>
        </p:spPr>
      </p:pic>
      <p:sp>
        <p:nvSpPr>
          <p:cNvPr id="197" name="Google Shape;197;p10"/>
          <p:cNvSpPr txBox="1"/>
          <p:nvPr/>
        </p:nvSpPr>
        <p:spPr>
          <a:xfrm>
            <a:off x="7580376" y="2450592"/>
            <a:ext cx="155448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2"/>
              </a:buClr>
              <a:buSzPts val="1500"/>
              <a:buFont typeface="Quattrocento Sans"/>
              <a:buNone/>
            </a:pPr>
            <a:r>
              <a:rPr b="1" i="0" lang="en-US" spc="0" sz="1500" u="none" cap="none" strike="noStrike">
                <a:solidFill>
                  <a:schemeClr val="dk2"/>
                </a:solidFill>
                <a:latin typeface="Quattrocento Sans"/>
                <a:ea typeface="Quattrocento Sans"/>
                <a:cs typeface="Quattrocento Sans"/>
                <a:sym typeface="Quattrocento Sans"/>
              </a:rPr>
              <a:t>Vérification</a:t>
            </a:r>
            <a:endParaRPr b="0" i="0" spc="0" sz="1500" u="none" cap="none" strike="noStrike">
              <a:solidFill>
                <a:schemeClr val="dk1"/>
              </a:solidFill>
              <a:latin typeface="Quattrocento Sans"/>
              <a:ea typeface="Quattrocento Sans"/>
              <a:cs typeface="Quattrocento Sans"/>
              <a:sym typeface="Quattrocento Sans"/>
            </a:endParaRPr>
          </a:p>
        </p:txBody>
      </p:sp>
      <p:sp>
        <p:nvSpPr>
          <p:cNvPr id="198" name="Google Shape;198;p10"/>
          <p:cNvSpPr txBox="1"/>
          <p:nvPr/>
        </p:nvSpPr>
        <p:spPr>
          <a:xfrm>
            <a:off x="7580376" y="2880360"/>
            <a:ext cx="1554480" cy="411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Quattrocento Sans"/>
              <a:buNone/>
            </a:pPr>
            <a:r>
              <a:rPr b="0" i="0" lang="en-US" spc="0" sz="1200" u="none" cap="none" strike="noStrike">
                <a:solidFill>
                  <a:schemeClr val="dk1"/>
                </a:solidFill>
                <a:latin typeface="Quattrocento Sans"/>
                <a:ea typeface="Quattrocento Sans"/>
                <a:cs typeface="Quattrocento Sans"/>
                <a:sym typeface="Quattrocento Sans"/>
              </a:rPr>
              <a:t>Contrôler citation, contexte et justification </a:t>
            </a:r>
            <a:endParaRPr b="0" i="0" spc="0" sz="1200" u="none" cap="none" strike="noStrike">
              <a:solidFill>
                <a:schemeClr val="dk1"/>
              </a:solidFill>
              <a:latin typeface="Quattrocento Sans"/>
              <a:ea typeface="Quattrocento Sans"/>
              <a:cs typeface="Quattrocento Sans"/>
              <a:sym typeface="Quattrocento Sans"/>
            </a:endParaRPr>
          </a:p>
        </p:txBody>
      </p:sp>
      <p:sp>
        <p:nvSpPr>
          <p:cNvPr id="199" name="Google Shape;199;p10"/>
          <p:cNvSpPr/>
          <p:nvPr/>
        </p:nvSpPr>
        <p:spPr>
          <a:xfrm>
            <a:off x="9409176" y="2331720"/>
            <a:ext cx="164592" cy="237744"/>
          </a:xfrm>
          <a:prstGeom prst="rightArrow">
            <a:avLst>
              <a:gd fmla="val 50000" name="adj1"/>
              <a:gd fmla="val 50000" name="adj2"/>
            </a:avLst>
          </a:prstGeom>
          <a:solidFill>
            <a:srgbClr val="62636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00" name="Google Shape;200;p10"/>
          <p:cNvSpPr/>
          <p:nvPr/>
        </p:nvSpPr>
        <p:spPr>
          <a:xfrm>
            <a:off x="9619488" y="1554480"/>
            <a:ext cx="2011680" cy="1828800"/>
          </a:xfrm>
          <a:prstGeom prst="roundRect">
            <a:avLst>
              <a:gd fmla="val 5000" name="adj"/>
            </a:avLst>
          </a:prstGeom>
          <a:solidFill>
            <a:srgbClr val="F9F9FB"/>
          </a:solidFill>
          <a:ln cap="flat" cmpd="sng" w="9525">
            <a:solidFill>
              <a:srgbClr val="E0E1E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01" name="Google Shape;201;p10"/>
          <p:cNvSpPr/>
          <p:nvPr/>
        </p:nvSpPr>
        <p:spPr>
          <a:xfrm>
            <a:off x="9848088" y="1783080"/>
            <a:ext cx="548640" cy="548640"/>
          </a:xfrm>
          <a:prstGeom prst="ellipse">
            <a:avLst/>
          </a:prstGeom>
          <a:solidFill>
            <a:srgbClr val="3657C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202" name="Google Shape;202;p10"/>
          <p:cNvPicPr preferRelativeResize="0"/>
          <p:nvPr/>
        </p:nvPicPr>
        <p:blipFill rotWithShape="1">
          <a:blip r:embed="rId7">
            <a:alphaModFix/>
          </a:blip>
          <a:srcRect b="0" l="0" r="0" t="0"/>
          <a:stretch/>
        </p:blipFill>
        <p:spPr>
          <a:xfrm>
            <a:off x="9971532" y="1906524"/>
            <a:ext cx="301752" cy="301752"/>
          </a:xfrm>
          <a:prstGeom prst="rect">
            <a:avLst/>
          </a:prstGeom>
          <a:noFill/>
          <a:ln>
            <a:noFill/>
          </a:ln>
        </p:spPr>
      </p:pic>
      <p:sp>
        <p:nvSpPr>
          <p:cNvPr id="203" name="Google Shape;203;p10"/>
          <p:cNvSpPr txBox="1"/>
          <p:nvPr/>
        </p:nvSpPr>
        <p:spPr>
          <a:xfrm>
            <a:off x="9848088" y="2450592"/>
            <a:ext cx="155448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2"/>
              </a:buClr>
              <a:buSzPts val="1500"/>
              <a:buFont typeface="Quattrocento Sans"/>
              <a:buNone/>
            </a:pPr>
            <a:r>
              <a:rPr b="1" i="0" lang="en-US" spc="0" sz="1500" u="none" cap="none" strike="noStrike">
                <a:solidFill>
                  <a:schemeClr val="dk2"/>
                </a:solidFill>
                <a:latin typeface="Quattrocento Sans"/>
                <a:ea typeface="Quattrocento Sans"/>
                <a:cs typeface="Quattrocento Sans"/>
                <a:sym typeface="Quattrocento Sans"/>
              </a:rPr>
              <a:t>Score</a:t>
            </a:r>
            <a:endParaRPr b="0" i="0" spc="0" sz="1500" u="none" cap="none" strike="noStrike">
              <a:solidFill>
                <a:schemeClr val="dk1"/>
              </a:solidFill>
              <a:latin typeface="Quattrocento Sans"/>
              <a:ea typeface="Quattrocento Sans"/>
              <a:cs typeface="Quattrocento Sans"/>
              <a:sym typeface="Quattrocento Sans"/>
            </a:endParaRPr>
          </a:p>
        </p:txBody>
      </p:sp>
      <p:sp>
        <p:nvSpPr>
          <p:cNvPr id="204" name="Google Shape;204;p10"/>
          <p:cNvSpPr txBox="1"/>
          <p:nvPr/>
        </p:nvSpPr>
        <p:spPr>
          <a:xfrm>
            <a:off x="9848088" y="2880360"/>
            <a:ext cx="1554480" cy="411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Quattrocento Sans"/>
              <a:buNone/>
            </a:pPr>
            <a:r>
              <a:rPr b="0" i="0" lang="en-US" spc="0" sz="1200" u="none" cap="none" strike="noStrike">
                <a:solidFill>
                  <a:schemeClr val="dk1"/>
                </a:solidFill>
                <a:latin typeface="Quattrocento Sans"/>
                <a:ea typeface="Quattrocento Sans"/>
                <a:cs typeface="Quattrocento Sans"/>
                <a:sym typeface="Quattrocento Sans"/>
              </a:rPr>
              <a:t>Toxique ou non, avec niveau de risque </a:t>
            </a:r>
            <a:endParaRPr b="0" i="0" spc="0" sz="1200" u="none" cap="none" strike="noStrike">
              <a:solidFill>
                <a:schemeClr val="dk1"/>
              </a:solidFill>
              <a:latin typeface="Quattrocento Sans"/>
              <a:ea typeface="Quattrocento Sans"/>
              <a:cs typeface="Quattrocento Sans"/>
              <a:sym typeface="Quattrocento Sans"/>
            </a:endParaRPr>
          </a:p>
        </p:txBody>
      </p:sp>
      <p:sp>
        <p:nvSpPr>
          <p:cNvPr id="205" name="Google Shape;205;p10"/>
          <p:cNvSpPr txBox="1"/>
          <p:nvPr/>
        </p:nvSpPr>
        <p:spPr>
          <a:xfrm>
            <a:off x="548640" y="36118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4"/>
              </a:buClr>
              <a:buSzPts val="1200"/>
              <a:buFont typeface="Quattrocento Sans"/>
              <a:buNone/>
            </a:pPr>
            <a:r>
              <a:rPr b="1" i="0" lang="en-US" spc="200" sz="1200" u="none" cap="none" strike="noStrike">
                <a:solidFill>
                  <a:schemeClr val="accent4"/>
                </a:solidFill>
                <a:latin typeface="Quattrocento Sans"/>
                <a:ea typeface="Quattrocento Sans"/>
                <a:cs typeface="Quattrocento Sans"/>
                <a:sym typeface="Quattrocento Sans"/>
              </a:rPr>
              <a:t>LE LLM DEVRA RENDRE</a:t>
            </a:r>
            <a:endParaRPr b="0" i="0" spc="0" sz="1200" u="none" cap="none" strike="noStrike">
              <a:solidFill>
                <a:schemeClr val="dk1"/>
              </a:solidFill>
              <a:latin typeface="Quattrocento Sans"/>
              <a:ea typeface="Quattrocento Sans"/>
              <a:cs typeface="Quattrocento Sans"/>
              <a:sym typeface="Quattrocento Sans"/>
            </a:endParaRPr>
          </a:p>
        </p:txBody>
      </p:sp>
      <p:sp>
        <p:nvSpPr>
          <p:cNvPr id="206" name="Google Shape;206;p10"/>
          <p:cNvSpPr txBox="1"/>
          <p:nvPr/>
        </p:nvSpPr>
        <p:spPr>
          <a:xfrm>
            <a:off x="548640" y="3931920"/>
            <a:ext cx="3291840" cy="1737360"/>
          </a:xfrm>
          <a:prstGeom prst="rect">
            <a:avLst/>
          </a:prstGeom>
          <a:noFill/>
          <a:ln>
            <a:noFill/>
          </a:ln>
        </p:spPr>
        <p:txBody>
          <a:bodyPr anchorCtr="0" anchor="t" bIns="0" lIns="0" spcFirstLastPara="1" rIns="0" wrap="square" tIns="0">
            <a:noAutofit/>
          </a:bodyPr>
          <a:lstStyle/>
          <a:p>
            <a:pPr indent="-311150" lvl="0" marL="457200" marR="0" rtl="0" algn="l">
              <a:lnSpc>
                <a:spcPct val="100000"/>
              </a:lnSpc>
              <a:spcBef>
                <a:spcPts val="600"/>
              </a:spcBef>
              <a:spcAft>
                <a:spcPts val="0"/>
              </a:spcAft>
              <a:buClr>
                <a:schemeClr val="dk1"/>
              </a:buClr>
              <a:buSzPts val="1300"/>
              <a:buFont typeface="Quattrocento Sans"/>
              <a:buChar char="•"/>
            </a:pPr>
            <a:r>
              <a:rPr b="0" i="0" lang="en-US" spc="0" sz="1300" u="none" cap="none" strike="noStrike">
                <a:solidFill>
                  <a:schemeClr val="dk1"/>
                </a:solidFill>
                <a:latin typeface="Quattrocento Sans"/>
                <a:ea typeface="Quattrocento Sans"/>
                <a:cs typeface="Quattrocento Sans"/>
                <a:sym typeface="Quattrocento Sans"/>
              </a:rPr>
              <a:t>Type(s) détecté(s) et gravité justifiée</a:t>
            </a:r>
            <a:endParaRPr b="0" i="0" spc="0" sz="1300" u="none" cap="none" strike="noStrike">
              <a:solidFill>
                <a:schemeClr val="dk1"/>
              </a:solidFill>
              <a:latin typeface="Quattrocento Sans"/>
              <a:ea typeface="Quattrocento Sans"/>
              <a:cs typeface="Quattrocento Sans"/>
              <a:sym typeface="Quattrocento Sans"/>
            </a:endParaRPr>
          </a:p>
          <a:p>
            <a:pPr indent="-311150" lvl="0" marL="457200" marR="0" rtl="0" algn="l">
              <a:lnSpc>
                <a:spcPct val="100000"/>
              </a:lnSpc>
              <a:spcBef>
                <a:spcPts val="600"/>
              </a:spcBef>
              <a:spcAft>
                <a:spcPts val="0"/>
              </a:spcAft>
              <a:buClr>
                <a:schemeClr val="dk1"/>
              </a:buClr>
              <a:buSzPts val="1300"/>
              <a:buFont typeface="Quattrocento Sans"/>
              <a:buChar char="•"/>
            </a:pPr>
            <a:r>
              <a:rPr b="0" i="0" lang="en-US" spc="0" sz="1300" u="none" cap="none" strike="noStrike">
                <a:solidFill>
                  <a:schemeClr val="dk1"/>
                </a:solidFill>
                <a:latin typeface="Quattrocento Sans"/>
                <a:ea typeface="Quattrocento Sans"/>
                <a:cs typeface="Quattrocento Sans"/>
                <a:sym typeface="Quattrocento Sans"/>
              </a:rPr>
              <a:t>Citation exacte et page</a:t>
            </a:r>
            <a:endParaRPr b="0" i="0" spc="0" sz="1300" u="none" cap="none" strike="noStrike">
              <a:solidFill>
                <a:schemeClr val="dk1"/>
              </a:solidFill>
              <a:latin typeface="Quattrocento Sans"/>
              <a:ea typeface="Quattrocento Sans"/>
              <a:cs typeface="Quattrocento Sans"/>
              <a:sym typeface="Quattrocento Sans"/>
            </a:endParaRPr>
          </a:p>
          <a:p>
            <a:pPr indent="-311150" lvl="0" marL="457200" marR="0" rtl="0" algn="l">
              <a:lnSpc>
                <a:spcPct val="100000"/>
              </a:lnSpc>
              <a:spcBef>
                <a:spcPts val="600"/>
              </a:spcBef>
              <a:spcAft>
                <a:spcPts val="0"/>
              </a:spcAft>
              <a:buClr>
                <a:schemeClr val="dk1"/>
              </a:buClr>
              <a:buSzPts val="1300"/>
              <a:buFont typeface="Quattrocento Sans"/>
              <a:buChar char="•"/>
            </a:pPr>
            <a:r>
              <a:rPr b="0" i="0" lang="en-US" spc="0" sz="1300" u="none" cap="none" strike="noStrike">
                <a:solidFill>
                  <a:schemeClr val="dk1"/>
                </a:solidFill>
                <a:latin typeface="Quattrocento Sans"/>
                <a:ea typeface="Quattrocento Sans"/>
                <a:cs typeface="Quattrocento Sans"/>
                <a:sym typeface="Quattrocento Sans"/>
              </a:rPr>
              <a:t>Éléments vérifiables présents dans le passage</a:t>
            </a:r>
            <a:endParaRPr b="0" i="0" spc="0" sz="1300" u="none" cap="none" strike="noStrike">
              <a:solidFill>
                <a:schemeClr val="dk1"/>
              </a:solidFill>
              <a:latin typeface="Quattrocento Sans"/>
              <a:ea typeface="Quattrocento Sans"/>
              <a:cs typeface="Quattrocento Sans"/>
              <a:sym typeface="Quattrocento Sans"/>
            </a:endParaRPr>
          </a:p>
          <a:p>
            <a:pPr indent="-311150" lvl="0" marL="457200" marR="0" rtl="0" algn="l">
              <a:lnSpc>
                <a:spcPct val="100000"/>
              </a:lnSpc>
              <a:spcBef>
                <a:spcPts val="600"/>
              </a:spcBef>
              <a:spcAft>
                <a:spcPts val="0"/>
              </a:spcAft>
              <a:buClr>
                <a:schemeClr val="dk1"/>
              </a:buClr>
              <a:buSzPts val="1300"/>
              <a:buFont typeface="Quattrocento Sans"/>
              <a:buChar char="•"/>
            </a:pPr>
            <a:r>
              <a:rPr b="0" i="0" lang="en-US" spc="0" sz="1300" u="none" cap="none" strike="noStrike">
                <a:solidFill>
                  <a:schemeClr val="dk1"/>
                </a:solidFill>
                <a:latin typeface="Quattrocento Sans"/>
                <a:ea typeface="Quattrocento Sans"/>
                <a:cs typeface="Quattrocento Sans"/>
                <a:sym typeface="Quattrocento Sans"/>
              </a:rPr>
              <a:t>Justification courte</a:t>
            </a:r>
            <a:endParaRPr b="0" i="0" spc="0" sz="1300" u="none" cap="none" strike="noStrike">
              <a:solidFill>
                <a:schemeClr val="dk1"/>
              </a:solidFill>
              <a:latin typeface="Quattrocento Sans"/>
              <a:ea typeface="Quattrocento Sans"/>
              <a:cs typeface="Quattrocento Sans"/>
              <a:sym typeface="Quattrocento Sans"/>
            </a:endParaRPr>
          </a:p>
        </p:txBody>
      </p:sp>
      <p:sp>
        <p:nvSpPr>
          <p:cNvPr id="207" name="Google Shape;207;p10"/>
          <p:cNvSpPr txBox="1"/>
          <p:nvPr/>
        </p:nvSpPr>
        <p:spPr>
          <a:xfrm>
            <a:off x="4069080" y="36118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4"/>
              </a:buClr>
              <a:buSzPts val="1200"/>
              <a:buFont typeface="Quattrocento Sans"/>
              <a:buNone/>
            </a:pPr>
            <a:r>
              <a:rPr b="1" i="0" lang="en-US" spc="200" sz="1200" u="none" cap="none" strike="noStrike">
                <a:solidFill>
                  <a:schemeClr val="accent4"/>
                </a:solidFill>
                <a:latin typeface="Quattrocento Sans"/>
                <a:ea typeface="Quattrocento Sans"/>
                <a:cs typeface="Quattrocento Sans"/>
                <a:sym typeface="Quattrocento Sans"/>
              </a:rPr>
              <a:t>RÈGLES DE VÉRIFICATION</a:t>
            </a:r>
            <a:endParaRPr b="0" i="0" spc="0" sz="1200" u="none" cap="none" strike="noStrike">
              <a:solidFill>
                <a:schemeClr val="dk1"/>
              </a:solidFill>
              <a:latin typeface="Quattrocento Sans"/>
              <a:ea typeface="Quattrocento Sans"/>
              <a:cs typeface="Quattrocento Sans"/>
              <a:sym typeface="Quattrocento Sans"/>
            </a:endParaRPr>
          </a:p>
        </p:txBody>
      </p:sp>
      <p:sp>
        <p:nvSpPr>
          <p:cNvPr id="208" name="Google Shape;208;p10"/>
          <p:cNvSpPr txBox="1"/>
          <p:nvPr/>
        </p:nvSpPr>
        <p:spPr>
          <a:xfrm>
            <a:off x="4069080" y="3931920"/>
            <a:ext cx="3566160" cy="1737360"/>
          </a:xfrm>
          <a:prstGeom prst="rect">
            <a:avLst/>
          </a:prstGeom>
          <a:noFill/>
          <a:ln>
            <a:noFill/>
          </a:ln>
        </p:spPr>
        <p:txBody>
          <a:bodyPr anchorCtr="0" anchor="t" bIns="0" lIns="0" spcFirstLastPara="1" rIns="0" wrap="square" tIns="0">
            <a:noAutofit/>
          </a:bodyPr>
          <a:lstStyle/>
          <a:p>
            <a:pPr indent="-311150" lvl="0" marL="457200" marR="0" rtl="0" algn="l">
              <a:lnSpc>
                <a:spcPct val="100000"/>
              </a:lnSpc>
              <a:spcBef>
                <a:spcPts val="600"/>
              </a:spcBef>
              <a:spcAft>
                <a:spcPts val="0"/>
              </a:spcAft>
              <a:buClr>
                <a:schemeClr val="dk1"/>
              </a:buClr>
              <a:buSzPts val="1300"/>
              <a:buFont typeface="Quattrocento Sans"/>
              <a:buChar char="•"/>
            </a:pPr>
            <a:r>
              <a:rPr b="1" i="0" lang="en-US" spc="0" sz="1100" u="none" cap="none" strike="noStrike">
                <a:solidFill>
                  <a:srgbClr val="000000"/>
                </a:solidFill>
                <a:latin typeface="Arial"/>
                <a:ea typeface="Arial"/>
                <a:cs typeface="Arial"/>
                <a:sym typeface="Arial"/>
              </a:rPr>
              <a:t>Citation introuvable : la détection compte moins dans le score</a:t>
            </a:r>
            <a:endParaRPr b="1" i="0" spc="0" sz="1100" u="none" cap="none" strike="noStrike">
              <a:solidFill>
                <a:srgbClr val="000000"/>
              </a:solidFill>
              <a:latin typeface="Arial"/>
              <a:ea typeface="Arial"/>
              <a:cs typeface="Arial"/>
              <a:sym typeface="Arial"/>
            </a:endParaRPr>
          </a:p>
          <a:p>
            <a:pPr indent="-311150" lvl="0" marL="457200" marR="0" rtl="0" algn="l">
              <a:lnSpc>
                <a:spcPct val="100000"/>
              </a:lnSpc>
              <a:spcBef>
                <a:spcPts val="600"/>
              </a:spcBef>
              <a:spcAft>
                <a:spcPts val="0"/>
              </a:spcAft>
              <a:buClr>
                <a:schemeClr val="dk1"/>
              </a:buClr>
              <a:buSzPts val="1300"/>
              <a:buFont typeface="Quattrocento Sans"/>
              <a:buChar char="•"/>
            </a:pPr>
            <a:r>
              <a:rPr b="1" i="0" lang="en-US" spc="0" sz="1100" u="none" cap="none" strike="noStrike">
                <a:solidFill>
                  <a:srgbClr val="000000"/>
                </a:solidFill>
                <a:latin typeface="Arial"/>
                <a:ea typeface="Arial"/>
                <a:cs typeface="Arial"/>
                <a:sym typeface="Arial"/>
              </a:rPr>
              <a:t>Extrait chiffré et daté : détection contestée</a:t>
            </a:r>
            <a:endParaRPr b="1" i="0" spc="0" sz="1100" u="none" cap="none" strike="noStrike">
              <a:solidFill>
                <a:srgbClr val="000000"/>
              </a:solidFill>
              <a:latin typeface="Arial"/>
              <a:ea typeface="Arial"/>
              <a:cs typeface="Arial"/>
              <a:sym typeface="Arial"/>
            </a:endParaRPr>
          </a:p>
          <a:p>
            <a:pPr indent="-311150" lvl="0" marL="457200" marR="0" rtl="0" algn="l">
              <a:lnSpc>
                <a:spcPct val="100000"/>
              </a:lnSpc>
              <a:spcBef>
                <a:spcPts val="600"/>
              </a:spcBef>
              <a:spcAft>
                <a:spcPts val="0"/>
              </a:spcAft>
              <a:buClr>
                <a:schemeClr val="dk1"/>
              </a:buClr>
              <a:buSzPts val="1300"/>
              <a:buFont typeface="Quattrocento Sans"/>
              <a:buChar char="•"/>
            </a:pPr>
            <a:r>
              <a:rPr b="1" i="0" lang="en-US" spc="0" sz="1100" u="none" cap="none" strike="noStrike">
                <a:solidFill>
                  <a:srgbClr val="000000"/>
                </a:solidFill>
                <a:latin typeface="Arial"/>
                <a:ea typeface="Arial"/>
                <a:cs typeface="Arial"/>
                <a:sym typeface="Arial"/>
              </a:rPr>
              <a:t>Indice seul : aucune conclusion automatique</a:t>
            </a:r>
            <a:endParaRPr b="0" i="0" spc="0" sz="1300" u="none" cap="none" strike="noStrike">
              <a:solidFill>
                <a:schemeClr val="dk1"/>
              </a:solidFill>
              <a:latin typeface="Quattrocento Sans"/>
              <a:ea typeface="Quattrocento Sans"/>
              <a:cs typeface="Quattrocento Sans"/>
              <a:sym typeface="Quattrocento Sans"/>
            </a:endParaRPr>
          </a:p>
        </p:txBody>
      </p:sp>
      <p:sp>
        <p:nvSpPr>
          <p:cNvPr id="209" name="Google Shape;209;p10"/>
          <p:cNvSpPr/>
          <p:nvPr/>
        </p:nvSpPr>
        <p:spPr>
          <a:xfrm>
            <a:off x="7863840" y="3611880"/>
            <a:ext cx="3776472" cy="2240280"/>
          </a:xfrm>
          <a:prstGeom prst="roundRect">
            <a:avLst>
              <a:gd fmla="val 4082"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10" name="Google Shape;210;p10"/>
          <p:cNvSpPr txBox="1"/>
          <p:nvPr/>
        </p:nvSpPr>
        <p:spPr>
          <a:xfrm>
            <a:off x="8092440" y="3611880"/>
            <a:ext cx="3383280" cy="22402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D8A8"/>
              </a:buClr>
              <a:buSzPts val="1600"/>
              <a:buFont typeface="Quattrocento Sans"/>
              <a:buNone/>
            </a:pPr>
            <a:r>
              <a:rPr b="1" i="0" lang="en-US" spc="0" sz="1600" u="none" cap="none" strike="noStrike">
                <a:solidFill>
                  <a:srgbClr val="FFD8A8"/>
                </a:solidFill>
                <a:latin typeface="Quattrocento Sans"/>
                <a:ea typeface="Quattrocento Sans"/>
                <a:cs typeface="Quattrocento Sans"/>
                <a:sym typeface="Quattrocento Sans"/>
              </a:rPr>
              <a:t>Décision sur le document </a:t>
            </a:r>
            <a:endParaRPr b="1" i="0" spc="0" sz="1600" u="none" cap="none" strike="noStrike">
              <a:solidFill>
                <a:srgbClr val="FFD8A8"/>
              </a:solidFill>
              <a:latin typeface="Quattrocento Sans"/>
              <a:ea typeface="Quattrocento Sans"/>
              <a:cs typeface="Quattrocento Sans"/>
              <a:sym typeface="Quattrocento Sans"/>
            </a:endParaRPr>
          </a:p>
          <a:p>
            <a:pPr indent="0" lvl="0" marL="0" marR="0" rtl="0" algn="l">
              <a:lnSpc>
                <a:spcPct val="100000"/>
              </a:lnSpc>
              <a:spcBef>
                <a:spcPts val="0"/>
              </a:spcBef>
              <a:spcAft>
                <a:spcPts val="0"/>
              </a:spcAft>
              <a:buClr>
                <a:srgbClr val="FFD8A8"/>
              </a:buClr>
              <a:buSzPts val="1600"/>
              <a:buFont typeface="Quattrocento Sans"/>
              <a:buNone/>
            </a:pPr>
            <a:r>
              <a:t/>
            </a:r>
            <a:endParaRPr b="1" i="0" spc="0" sz="1600" u="none" cap="none" strike="noStrike">
              <a:solidFill>
                <a:srgbClr val="FFD8A8"/>
              </a:solidFill>
              <a:latin typeface="Quattrocento Sans"/>
              <a:ea typeface="Quattrocento Sans"/>
              <a:cs typeface="Quattrocento Sans"/>
              <a:sym typeface="Quattrocento Sans"/>
            </a:endParaRPr>
          </a:p>
          <a:p>
            <a:pPr indent="0" lvl="0" marL="0" marR="0" rtl="0" algn="l">
              <a:lnSpc>
                <a:spcPct val="100000"/>
              </a:lnSpc>
              <a:spcBef>
                <a:spcPts val="800"/>
              </a:spcBef>
              <a:spcAft>
                <a:spcPts val="0"/>
              </a:spcAft>
              <a:buClr>
                <a:srgbClr val="000000"/>
              </a:buClr>
              <a:buSzPts val="1100"/>
              <a:buFont typeface="Arial"/>
              <a:buNone/>
            </a:pPr>
            <a:r>
              <a:rPr b="0" i="0" lang="en-US" spc="0" sz="1100" u="none" cap="none" strike="noStrike">
                <a:solidFill>
                  <a:schemeClr val="lt1"/>
                </a:solidFill>
                <a:latin typeface="Arial"/>
                <a:ea typeface="Arial"/>
                <a:cs typeface="Arial"/>
                <a:sym typeface="Arial"/>
              </a:rPr>
              <a:t>Détections étayées, gravité et contexte</a:t>
            </a:r>
            <a:endParaRPr b="0" i="0" spc="0" sz="1100" u="none" cap="none" strike="noStrike">
              <a:solidFill>
                <a:schemeClr val="lt1"/>
              </a:solidFill>
              <a:latin typeface="Arial"/>
              <a:ea typeface="Arial"/>
              <a:cs typeface="Arial"/>
              <a:sym typeface="Arial"/>
            </a:endParaRPr>
          </a:p>
          <a:p>
            <a:pPr indent="0" lvl="0" marL="0" marR="0" rtl="0" algn="l">
              <a:lnSpc>
                <a:spcPct val="100000"/>
              </a:lnSpc>
              <a:spcBef>
                <a:spcPts val="800"/>
              </a:spcBef>
              <a:spcAft>
                <a:spcPts val="0"/>
              </a:spcAft>
              <a:buClr>
                <a:schemeClr val="lt1"/>
              </a:buClr>
              <a:buSzPts val="1250"/>
              <a:buFont typeface="Quattrocento Sans"/>
              <a:buNone/>
            </a:pPr>
            <a:r>
              <a:rPr b="0" i="1" lang="en-US" spc="0" sz="1100" u="none" cap="none" strike="noStrike">
                <a:solidFill>
                  <a:schemeClr val="lt1"/>
                </a:solidFill>
                <a:latin typeface="Arial"/>
                <a:ea typeface="Arial"/>
                <a:cs typeface="Arial"/>
                <a:sym typeface="Arial"/>
              </a:rPr>
              <a:t>Règle de décision à tester pendant l’évaluation</a:t>
            </a:r>
            <a:r>
              <a:rPr b="0" i="0" lang="en-US" spc="0" sz="1100" u="none" cap="none" strike="noStrike">
                <a:solidFill>
                  <a:schemeClr val="lt1"/>
                </a:solidFill>
                <a:latin typeface="Arial"/>
                <a:ea typeface="Arial"/>
                <a:cs typeface="Arial"/>
                <a:sym typeface="Arial"/>
              </a:rPr>
              <a:t> </a:t>
            </a:r>
            <a:endParaRPr b="0" i="0" spc="0" sz="1350" u="none" cap="none" strike="noStrike">
              <a:solidFill>
                <a:schemeClr val="lt1"/>
              </a:solidFill>
              <a:latin typeface="Quattrocento Sans"/>
              <a:ea typeface="Quattrocento Sans"/>
              <a:cs typeface="Quattrocento Sans"/>
              <a:sym typeface="Quattrocento Sans"/>
            </a:endParaRPr>
          </a:p>
        </p:txBody>
      </p:sp>
      <p:sp>
        <p:nvSpPr>
          <p:cNvPr id="211" name="Google Shape;211;p10"/>
          <p:cNvSpPr txBox="1"/>
          <p:nvPr>
            <p:ph idx="4294967295" type="sldNum"/>
          </p:nvPr>
        </p:nvSpPr>
        <p:spPr>
          <a:xfrm>
            <a:off x="11185855" y="6428232"/>
            <a:ext cx="45720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100"/>
              <a:buNone/>
            </a:pPr>
            <a:fld id="{00000000-1234-1234-1234-123412341234}" type="slidenum">
              <a:rPr b="0" i="0" lang="en-US" sz="1100" u="none" cap="none" strike="noStrike">
                <a:solidFill>
                  <a:schemeClr val="accent4"/>
                </a:solidFill>
                <a:latin typeface="Quattrocento Sans"/>
                <a:ea typeface="Quattrocento Sans"/>
                <a:cs typeface="Quattrocento Sans"/>
                <a:sym typeface="Quattrocento Sans"/>
              </a:rPr>
              <a:t>‹#›</a:t>
            </a:fld>
            <a:endParaRPr b="0" i="0" sz="1100" u="none" cap="none" strike="noStrike">
              <a:solidFill>
                <a:schemeClr val="accent4"/>
              </a:solidFill>
              <a:latin typeface="Quattrocento Sans"/>
              <a:ea typeface="Quattrocento Sans"/>
              <a:cs typeface="Quattrocento Sans"/>
              <a:sym typeface="Quattrocento Sans"/>
            </a:endParaRPr>
          </a:p>
        </p:txBody>
      </p:sp>
      <p:sp>
        <p:nvSpPr>
          <p:cNvPr id="212" name="Google Shape;212;p10"/>
          <p:cNvSpPr/>
          <p:nvPr/>
        </p:nvSpPr>
        <p:spPr>
          <a:xfrm>
            <a:off x="100100" y="5865850"/>
            <a:ext cx="11536800" cy="548700"/>
          </a:xfrm>
          <a:prstGeom prst="roundRect">
            <a:avLst>
              <a:gd fmla="val 13333"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13" name="Google Shape;213;p10"/>
          <p:cNvSpPr txBox="1"/>
          <p:nvPr/>
        </p:nvSpPr>
        <p:spPr>
          <a:xfrm>
            <a:off x="422975" y="5940100"/>
            <a:ext cx="9299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pc="0" sz="1400" u="none" cap="none" strike="noStrike">
                <a:solidFill>
                  <a:schemeClr val="lt1"/>
                </a:solidFill>
                <a:latin typeface="Arial"/>
                <a:ea typeface="Arial"/>
                <a:cs typeface="Arial"/>
                <a:sym typeface="Arial"/>
              </a:rPr>
              <a:t>Le pré-filtre peut manquer des passages. Sa couverture sera évaluée. </a:t>
            </a:r>
            <a:endParaRPr b="0" i="0" spc="0" sz="1400" u="none" cap="none" strike="noStrike">
              <a:solidFill>
                <a:schemeClr val="lt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11"/>
          <p:cNvSpPr txBox="1"/>
          <p:nvPr/>
        </p:nvSpPr>
        <p:spPr>
          <a:xfrm>
            <a:off x="548640" y="274320"/>
            <a:ext cx="73152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200"/>
              <a:buFont typeface="Quattrocento Sans"/>
              <a:buNone/>
            </a:pPr>
            <a:r>
              <a:rPr b="1" i="0" lang="en-US" spc="200" sz="1200" u="none" cap="none" strike="noStrike">
                <a:solidFill>
                  <a:schemeClr val="accent1"/>
                </a:solidFill>
                <a:latin typeface="Quattrocento Sans"/>
                <a:ea typeface="Quattrocento Sans"/>
                <a:cs typeface="Quattrocento Sans"/>
                <a:sym typeface="Quattrocento Sans"/>
              </a:rPr>
              <a:t>ARCHITECTURE DU SYSTÈME</a:t>
            </a:r>
            <a:endParaRPr b="0" i="0" spc="0" sz="1200" u="none" cap="none" strike="noStrike">
              <a:solidFill>
                <a:schemeClr val="dk1"/>
              </a:solidFill>
              <a:latin typeface="Quattrocento Sans"/>
              <a:ea typeface="Quattrocento Sans"/>
              <a:cs typeface="Quattrocento Sans"/>
              <a:sym typeface="Quattrocento Sans"/>
            </a:endParaRPr>
          </a:p>
        </p:txBody>
      </p:sp>
      <p:sp>
        <p:nvSpPr>
          <p:cNvPr id="220" name="Google Shape;220;p11"/>
          <p:cNvSpPr txBox="1"/>
          <p:nvPr>
            <p:ph type="title"/>
          </p:nvPr>
        </p:nvSpPr>
        <p:spPr>
          <a:xfrm>
            <a:off x="548640" y="566928"/>
            <a:ext cx="11094415" cy="7772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2"/>
              </a:buClr>
              <a:buSzPts val="2800"/>
              <a:buFont typeface="Quattrocento Sans"/>
              <a:buNone/>
            </a:pPr>
            <a:r>
              <a:rPr b="1" lang="en-US" sz="2800">
                <a:solidFill>
                  <a:schemeClr val="dk2"/>
                </a:solidFill>
              </a:rPr>
              <a:t>Une application locale : interface, traitement Python, LLM et base</a:t>
            </a:r>
            <a:endParaRPr sz="2800"/>
          </a:p>
        </p:txBody>
      </p:sp>
      <p:sp>
        <p:nvSpPr>
          <p:cNvPr id="221" name="Google Shape;221;p11"/>
          <p:cNvSpPr/>
          <p:nvPr/>
        </p:nvSpPr>
        <p:spPr>
          <a:xfrm>
            <a:off x="8991295" y="219456"/>
            <a:ext cx="2651760" cy="329184"/>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22" name="Google Shape;222;p11"/>
          <p:cNvSpPr txBox="1"/>
          <p:nvPr/>
        </p:nvSpPr>
        <p:spPr>
          <a:xfrm>
            <a:off x="8991295" y="219456"/>
            <a:ext cx="2651760" cy="32918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2"/>
              </a:buClr>
              <a:buSzPts val="1150"/>
              <a:buFont typeface="Quattrocento Sans"/>
              <a:buNone/>
            </a:pPr>
            <a:r>
              <a:rPr b="1" i="0" lang="en-US" spc="0" sz="1150" u="none" cap="none" strike="noStrike">
                <a:solidFill>
                  <a:schemeClr val="dk2"/>
                </a:solidFill>
                <a:latin typeface="Quattrocento Sans"/>
                <a:ea typeface="Quattrocento Sans"/>
                <a:cs typeface="Quattrocento Sans"/>
                <a:sym typeface="Quattrocento Sans"/>
              </a:rPr>
              <a:t>Personne 4 · Architecture</a:t>
            </a:r>
            <a:endParaRPr b="0" i="0" spc="0" sz="1150" u="none" cap="none" strike="noStrike">
              <a:solidFill>
                <a:schemeClr val="dk1"/>
              </a:solidFill>
              <a:latin typeface="Quattrocento Sans"/>
              <a:ea typeface="Quattrocento Sans"/>
              <a:cs typeface="Quattrocento Sans"/>
              <a:sym typeface="Quattrocento Sans"/>
            </a:endParaRPr>
          </a:p>
        </p:txBody>
      </p:sp>
      <p:pic>
        <p:nvPicPr>
          <p:cNvPr descr="Architecture prévue du système ETICS" id="223" name="Google Shape;223;p11"/>
          <p:cNvPicPr preferRelativeResize="0"/>
          <p:nvPr/>
        </p:nvPicPr>
        <p:blipFill rotWithShape="1">
          <a:blip r:embed="rId3">
            <a:alphaModFix/>
          </a:blip>
          <a:srcRect b="0" l="0" r="0" t="0"/>
          <a:stretch/>
        </p:blipFill>
        <p:spPr>
          <a:xfrm>
            <a:off x="914400" y="1600200"/>
            <a:ext cx="10058400" cy="4023360"/>
          </a:xfrm>
          <a:prstGeom prst="rect">
            <a:avLst/>
          </a:prstGeom>
          <a:noFill/>
          <a:ln>
            <a:noFill/>
          </a:ln>
        </p:spPr>
      </p:pic>
      <p:sp>
        <p:nvSpPr>
          <p:cNvPr id="224" name="Google Shape;224;p11"/>
          <p:cNvSpPr/>
          <p:nvPr/>
        </p:nvSpPr>
        <p:spPr>
          <a:xfrm>
            <a:off x="548640" y="5532120"/>
            <a:ext cx="11094415" cy="502920"/>
          </a:xfrm>
          <a:prstGeom prst="roundRect">
            <a:avLst>
              <a:gd fmla="val 14545"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25" name="Google Shape;225;p11"/>
          <p:cNvSpPr txBox="1"/>
          <p:nvPr/>
        </p:nvSpPr>
        <p:spPr>
          <a:xfrm>
            <a:off x="822960" y="5532120"/>
            <a:ext cx="10545775"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2"/>
              </a:buClr>
              <a:buSzPts val="1350"/>
              <a:buFont typeface="Quattrocento Sans"/>
              <a:buNone/>
            </a:pPr>
            <a:r>
              <a:rPr b="1" i="0" lang="en-US" spc="0" sz="1350" u="none" cap="none" strike="noStrike">
                <a:solidFill>
                  <a:schemeClr val="dk2"/>
                </a:solidFill>
                <a:latin typeface="Quattrocento Sans"/>
                <a:ea typeface="Quattrocento Sans"/>
                <a:cs typeface="Quattrocento Sans"/>
                <a:sym typeface="Quattrocento Sans"/>
              </a:rPr>
              <a:t>Choix : </a:t>
            </a:r>
            <a:r>
              <a:rPr b="0" i="0" lang="en-US" spc="0" sz="1350" u="none" cap="none" strike="noStrike">
                <a:solidFill>
                  <a:schemeClr val="dk1"/>
                </a:solidFill>
                <a:latin typeface="Quattrocento Sans"/>
                <a:ea typeface="Quattrocento Sans"/>
                <a:cs typeface="Quattrocento Sans"/>
                <a:sym typeface="Quattrocento Sans"/>
              </a:rPr>
              <a:t>Streamlit pour l'interface, Python pour le traitement, Ollama pour le LLM local, SQLite pour stocker</a:t>
            </a:r>
            <a:endParaRPr b="0" i="0" spc="0" sz="1350" u="none" cap="none" strike="noStrike">
              <a:solidFill>
                <a:schemeClr val="dk1"/>
              </a:solidFill>
              <a:latin typeface="Quattrocento Sans"/>
              <a:ea typeface="Quattrocento Sans"/>
              <a:cs typeface="Quattrocento Sans"/>
              <a:sym typeface="Quattrocento Sans"/>
            </a:endParaRPr>
          </a:p>
        </p:txBody>
      </p:sp>
      <p:sp>
        <p:nvSpPr>
          <p:cNvPr id="226" name="Google Shape;226;p11"/>
          <p:cNvSpPr txBox="1"/>
          <p:nvPr>
            <p:ph idx="4294967295" type="sldNum"/>
          </p:nvPr>
        </p:nvSpPr>
        <p:spPr>
          <a:xfrm>
            <a:off x="11185855" y="6428232"/>
            <a:ext cx="45720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100"/>
              <a:buNone/>
            </a:pPr>
            <a:fld id="{00000000-1234-1234-1234-123412341234}" type="slidenum">
              <a:rPr b="0" i="0" lang="en-US" sz="1100" u="none" cap="none" strike="noStrike">
                <a:solidFill>
                  <a:schemeClr val="accent4"/>
                </a:solidFill>
                <a:latin typeface="Quattrocento Sans"/>
                <a:ea typeface="Quattrocento Sans"/>
                <a:cs typeface="Quattrocento Sans"/>
                <a:sym typeface="Quattrocento Sans"/>
              </a:rPr>
              <a:t>‹#›</a:t>
            </a:fld>
            <a:endParaRPr b="0" i="0" sz="1100" u="none" cap="none" strike="noStrike">
              <a:solidFill>
                <a:schemeClr val="accent4"/>
              </a:solidFill>
              <a:latin typeface="Quattrocento Sans"/>
              <a:ea typeface="Quattrocento Sans"/>
              <a:cs typeface="Quattrocento Sans"/>
              <a:sym typeface="Quattrocento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12"/>
          <p:cNvSpPr txBox="1"/>
          <p:nvPr/>
        </p:nvSpPr>
        <p:spPr>
          <a:xfrm>
            <a:off x="548640" y="274320"/>
            <a:ext cx="73152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200"/>
              <a:buFont typeface="Quattrocento Sans"/>
              <a:buNone/>
            </a:pPr>
            <a:r>
              <a:rPr b="1" i="0" lang="en-US" spc="200" sz="1200" u="none" cap="none" strike="noStrike">
                <a:solidFill>
                  <a:schemeClr val="accent1"/>
                </a:solidFill>
                <a:latin typeface="Quattrocento Sans"/>
                <a:ea typeface="Quattrocento Sans"/>
                <a:cs typeface="Quattrocento Sans"/>
                <a:sym typeface="Quattrocento Sans"/>
              </a:rPr>
              <a:t>BASE DE DONNÉES</a:t>
            </a:r>
            <a:endParaRPr b="0" i="0" spc="0" sz="1200" u="none" cap="none" strike="noStrike">
              <a:solidFill>
                <a:schemeClr val="dk1"/>
              </a:solidFill>
              <a:latin typeface="Quattrocento Sans"/>
              <a:ea typeface="Quattrocento Sans"/>
              <a:cs typeface="Quattrocento Sans"/>
              <a:sym typeface="Quattrocento Sans"/>
            </a:endParaRPr>
          </a:p>
        </p:txBody>
      </p:sp>
      <p:sp>
        <p:nvSpPr>
          <p:cNvPr id="233" name="Google Shape;233;p12"/>
          <p:cNvSpPr txBox="1"/>
          <p:nvPr>
            <p:ph type="title"/>
          </p:nvPr>
        </p:nvSpPr>
        <p:spPr>
          <a:xfrm>
            <a:off x="548640" y="566928"/>
            <a:ext cx="11094415" cy="7772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2"/>
              </a:buClr>
              <a:buSzPts val="2800"/>
              <a:buFont typeface="Quattrocento Sans"/>
              <a:buNone/>
            </a:pPr>
            <a:r>
              <a:rPr b="1" lang="en-US" sz="2800">
                <a:solidFill>
                  <a:schemeClr val="dk2"/>
                </a:solidFill>
              </a:rPr>
              <a:t>Une base SQLite unique qui relie chaque résultat à sa preuve</a:t>
            </a:r>
            <a:endParaRPr sz="2800"/>
          </a:p>
        </p:txBody>
      </p:sp>
      <p:sp>
        <p:nvSpPr>
          <p:cNvPr id="234" name="Google Shape;234;p12"/>
          <p:cNvSpPr/>
          <p:nvPr/>
        </p:nvSpPr>
        <p:spPr>
          <a:xfrm>
            <a:off x="8991295" y="219456"/>
            <a:ext cx="2651760" cy="329184"/>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35" name="Google Shape;235;p12"/>
          <p:cNvSpPr txBox="1"/>
          <p:nvPr/>
        </p:nvSpPr>
        <p:spPr>
          <a:xfrm>
            <a:off x="8991295" y="219456"/>
            <a:ext cx="2651760" cy="32918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2"/>
              </a:buClr>
              <a:buSzPts val="1150"/>
              <a:buFont typeface="Quattrocento Sans"/>
              <a:buNone/>
            </a:pPr>
            <a:r>
              <a:rPr b="1" i="0" lang="en-US" spc="0" sz="1150" u="none" cap="none" strike="noStrike">
                <a:solidFill>
                  <a:schemeClr val="dk2"/>
                </a:solidFill>
                <a:latin typeface="Quattrocento Sans"/>
                <a:ea typeface="Quattrocento Sans"/>
                <a:cs typeface="Quattrocento Sans"/>
                <a:sym typeface="Quattrocento Sans"/>
              </a:rPr>
              <a:t>Personne 4 · Architecture</a:t>
            </a:r>
            <a:endParaRPr b="0" i="0" spc="0" sz="1150" u="none" cap="none" strike="noStrike">
              <a:solidFill>
                <a:schemeClr val="dk1"/>
              </a:solidFill>
              <a:latin typeface="Quattrocento Sans"/>
              <a:ea typeface="Quattrocento Sans"/>
              <a:cs typeface="Quattrocento Sans"/>
              <a:sym typeface="Quattrocento Sans"/>
            </a:endParaRPr>
          </a:p>
        </p:txBody>
      </p:sp>
      <p:graphicFrame>
        <p:nvGraphicFramePr>
          <p:cNvPr id="236" name="Google Shape;236;p12"/>
          <p:cNvGraphicFramePr/>
          <p:nvPr/>
        </p:nvGraphicFramePr>
        <p:xfrm>
          <a:off x="548640" y="1508760"/>
          <a:ext cx="3000000" cy="3000000"/>
        </p:xfrm>
        <a:graphic>
          <a:graphicData uri="http://schemas.openxmlformats.org/drawingml/2006/table">
            <a:tbl>
              <a:tblPr>
                <a:noFill/>
                <a:tableStyleId>{7AFFE216-A6BE-4F68-9A93-46C4BCCC0CEF}</a:tableStyleId>
              </a:tblPr>
              <a:tblGrid>
                <a:gridCol w="2560325"/>
                <a:gridCol w="3291850"/>
                <a:gridCol w="1920250"/>
              </a:tblGrid>
              <a:tr h="329175">
                <a:tc>
                  <a:txBody>
                    <a:bodyPr/>
                    <a:lstStyle/>
                    <a:p>
                      <a:pPr indent="0" lvl="0" marL="0" marR="0" rtl="0" algn="l">
                        <a:lnSpc>
                          <a:spcPct val="100000"/>
                        </a:lnSpc>
                        <a:spcBef>
                          <a:spcPts val="0"/>
                        </a:spcBef>
                        <a:spcAft>
                          <a:spcPts val="0"/>
                        </a:spcAft>
                        <a:buClr>
                          <a:schemeClr val="accent1"/>
                        </a:buClr>
                        <a:buSzPts val="1200"/>
                        <a:buFont typeface="Quattrocento Sans"/>
                        <a:buNone/>
                      </a:pPr>
                      <a:r>
                        <a:rPr b="1" lang="en-US" spc="0" sz="1200" u="none" cap="none" strike="noStrike">
                          <a:solidFill>
                            <a:schemeClr val="accent1"/>
                          </a:solidFill>
                        </a:rPr>
                        <a:t>Table prévue</a:t>
                      </a:r>
                      <a:endParaRPr spc="0" sz="1200" u="none" cap="none" strike="noStrike"/>
                    </a:p>
                  </a:txBody>
                  <a:tcPr marT="25400" marB="25400" marR="635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E0E1E6">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1"/>
                        </a:buClr>
                        <a:buSzPts val="1200"/>
                        <a:buFont typeface="Quattrocento Sans"/>
                        <a:buNone/>
                      </a:pPr>
                      <a:r>
                        <a:rPr b="1" lang="en-US" spc="0" sz="1200" u="none" cap="none" strike="noStrike">
                          <a:solidFill>
                            <a:schemeClr val="accent1"/>
                          </a:solidFill>
                        </a:rPr>
                        <a:t>Contenu</a:t>
                      </a:r>
                      <a:endParaRPr spc="0" sz="1200" u="none" cap="none" strike="noStrike"/>
                    </a:p>
                  </a:txBody>
                  <a:tcPr marT="25400" marB="25400" marR="635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E0E1E6">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1"/>
                        </a:buClr>
                        <a:buSzPts val="1200"/>
                        <a:buFont typeface="Quattrocento Sans"/>
                        <a:buNone/>
                      </a:pPr>
                      <a:r>
                        <a:rPr b="1" lang="en-US" spc="0" sz="1200" u="none" cap="none" strike="noStrike">
                          <a:solidFill>
                            <a:schemeClr val="accent1"/>
                          </a:solidFill>
                        </a:rPr>
                        <a:t>Clé primaire</a:t>
                      </a:r>
                      <a:endParaRPr spc="0" sz="1200" u="none" cap="none" strike="noStrike"/>
                    </a:p>
                  </a:txBody>
                  <a:tcPr marT="25400" marB="25400" marR="635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E0E1E6">
                          <a:alpha val="0"/>
                        </a:srgbClr>
                      </a:solidFill>
                      <a:prstDash val="solid"/>
                      <a:round/>
                      <a:headEnd len="sm" w="sm" type="none"/>
                      <a:tailEnd len="sm" w="sm" type="none"/>
                    </a:lnB>
                  </a:tcPr>
                </a:tc>
              </a:tr>
              <a:tr h="329175">
                <a:tc>
                  <a:txBody>
                    <a:bodyPr/>
                    <a:lstStyle/>
                    <a:p>
                      <a:pPr indent="0" lvl="0" marL="0" marR="0" rtl="0" algn="l">
                        <a:lnSpc>
                          <a:spcPct val="100000"/>
                        </a:lnSpc>
                        <a:spcBef>
                          <a:spcPts val="0"/>
                        </a:spcBef>
                        <a:spcAft>
                          <a:spcPts val="0"/>
                        </a:spcAft>
                        <a:buClr>
                          <a:srgbClr val="16181B"/>
                        </a:buClr>
                        <a:buSzPts val="1200"/>
                        <a:buFont typeface="Consolas"/>
                        <a:buNone/>
                      </a:pPr>
                      <a:r>
                        <a:rPr b="1" lang="en-US" spc="0" sz="1200" u="none" cap="none" strike="noStrike">
                          <a:solidFill>
                            <a:srgbClr val="16181B"/>
                          </a:solidFill>
                          <a:latin typeface="Consolas"/>
                          <a:ea typeface="Consolas"/>
                          <a:cs typeface="Consolas"/>
                          <a:sym typeface="Consolas"/>
                        </a:rPr>
                        <a:t>documents</a:t>
                      </a:r>
                      <a:endParaRPr spc="0" sz="1200" u="none" cap="none" strike="noStrike">
                        <a:latin typeface="Consolas"/>
                        <a:ea typeface="Consolas"/>
                        <a:cs typeface="Consolas"/>
                        <a:sym typeface="Consolas"/>
                      </a:endParaRPr>
                    </a:p>
                  </a:txBody>
                  <a:tcPr marT="25400" marB="25400" marR="635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0E1E6">
                          <a:alpha val="0"/>
                        </a:srgbClr>
                      </a:solidFill>
                      <a:prstDash val="solid"/>
                      <a:round/>
                      <a:headEnd len="sm" w="sm" type="none"/>
                      <a:tailEnd len="sm" w="sm" type="none"/>
                    </a:lnT>
                    <a:lnB cap="flat" cmpd="sng" w="9525">
                      <a:solidFill>
                        <a:srgbClr val="E0E1E6">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6181B"/>
                        </a:buClr>
                        <a:buSzPts val="1200"/>
                        <a:buFont typeface="Quattrocento Sans"/>
                        <a:buNone/>
                      </a:pPr>
                      <a:r>
                        <a:rPr lang="en-US" spc="0" sz="1200" u="none" cap="none" strike="noStrike">
                          <a:solidFill>
                            <a:srgbClr val="16181B"/>
                          </a:solidFill>
                        </a:rPr>
                        <a:t>un rapport déposé</a:t>
                      </a:r>
                      <a:endParaRPr spc="0" sz="1200" u="none" cap="none" strike="noStrike"/>
                    </a:p>
                  </a:txBody>
                  <a:tcPr marT="25400" marB="25400" marR="635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0E1E6">
                          <a:alpha val="0"/>
                        </a:srgbClr>
                      </a:solidFill>
                      <a:prstDash val="solid"/>
                      <a:round/>
                      <a:headEnd len="sm" w="sm" type="none"/>
                      <a:tailEnd len="sm" w="sm" type="none"/>
                    </a:lnT>
                    <a:lnB cap="flat" cmpd="sng" w="9525">
                      <a:solidFill>
                        <a:srgbClr val="E0E1E6">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6181B"/>
                        </a:buClr>
                        <a:buSzPts val="1200"/>
                        <a:buFont typeface="Quattrocento Sans"/>
                        <a:buNone/>
                      </a:pPr>
                      <a:r>
                        <a:rPr lang="en-US" spc="0" sz="1200" u="none" cap="none" strike="noStrike">
                          <a:solidFill>
                            <a:srgbClr val="16181B"/>
                          </a:solidFill>
                        </a:rPr>
                        <a:t>doc_id</a:t>
                      </a:r>
                      <a:endParaRPr spc="0" sz="1200" u="none" cap="none" strike="noStrike"/>
                    </a:p>
                  </a:txBody>
                  <a:tcPr marT="25400" marB="25400" marR="635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0E1E6">
                          <a:alpha val="0"/>
                        </a:srgbClr>
                      </a:solidFill>
                      <a:prstDash val="solid"/>
                      <a:round/>
                      <a:headEnd len="sm" w="sm" type="none"/>
                      <a:tailEnd len="sm" w="sm" type="none"/>
                    </a:lnT>
                    <a:lnB cap="flat" cmpd="sng" w="9525">
                      <a:solidFill>
                        <a:srgbClr val="E0E1E6">
                          <a:alpha val="0"/>
                        </a:srgbClr>
                      </a:solidFill>
                      <a:prstDash val="solid"/>
                      <a:round/>
                      <a:headEnd len="sm" w="sm" type="none"/>
                      <a:tailEnd len="sm" w="sm" type="none"/>
                    </a:lnB>
                  </a:tcPr>
                </a:tc>
              </a:tr>
              <a:tr h="329175">
                <a:tc>
                  <a:txBody>
                    <a:bodyPr/>
                    <a:lstStyle/>
                    <a:p>
                      <a:pPr indent="0" lvl="0" marL="0" marR="0" rtl="0" algn="l">
                        <a:lnSpc>
                          <a:spcPct val="100000"/>
                        </a:lnSpc>
                        <a:spcBef>
                          <a:spcPts val="0"/>
                        </a:spcBef>
                        <a:spcAft>
                          <a:spcPts val="0"/>
                        </a:spcAft>
                        <a:buClr>
                          <a:srgbClr val="16181B"/>
                        </a:buClr>
                        <a:buSzPts val="1200"/>
                        <a:buFont typeface="Consolas"/>
                        <a:buNone/>
                      </a:pPr>
                      <a:r>
                        <a:rPr b="1" lang="en-US" spc="0" sz="1200" u="none" cap="none" strike="noStrike">
                          <a:solidFill>
                            <a:srgbClr val="16181B"/>
                          </a:solidFill>
                          <a:latin typeface="Consolas"/>
                          <a:ea typeface="Consolas"/>
                          <a:cs typeface="Consolas"/>
                          <a:sym typeface="Consolas"/>
                        </a:rPr>
                        <a:t>passages</a:t>
                      </a:r>
                      <a:endParaRPr spc="0" sz="1200" u="none" cap="none" strike="noStrike">
                        <a:latin typeface="Consolas"/>
                        <a:ea typeface="Consolas"/>
                        <a:cs typeface="Consolas"/>
                        <a:sym typeface="Consolas"/>
                      </a:endParaRPr>
                    </a:p>
                  </a:txBody>
                  <a:tcPr marT="25400" marB="25400" marR="635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0E1E6">
                          <a:alpha val="0"/>
                        </a:srgbClr>
                      </a:solidFill>
                      <a:prstDash val="solid"/>
                      <a:round/>
                      <a:headEnd len="sm" w="sm" type="none"/>
                      <a:tailEnd len="sm" w="sm" type="none"/>
                    </a:lnT>
                    <a:lnB cap="flat" cmpd="sng" w="9525">
                      <a:solidFill>
                        <a:srgbClr val="E0E1E6">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6181B"/>
                        </a:buClr>
                        <a:buSzPts val="1200"/>
                        <a:buFont typeface="Quattrocento Sans"/>
                        <a:buNone/>
                      </a:pPr>
                      <a:r>
                        <a:rPr lang="en-US" spc="0" sz="1200" u="none" cap="none" strike="noStrike">
                          <a:solidFill>
                            <a:srgbClr val="16181B"/>
                          </a:solidFill>
                        </a:rPr>
                        <a:t>le texte découpé</a:t>
                      </a:r>
                      <a:endParaRPr spc="0" sz="1200" u="none" cap="none" strike="noStrike"/>
                    </a:p>
                  </a:txBody>
                  <a:tcPr marT="25400" marB="25400" marR="635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0E1E6">
                          <a:alpha val="0"/>
                        </a:srgbClr>
                      </a:solidFill>
                      <a:prstDash val="solid"/>
                      <a:round/>
                      <a:headEnd len="sm" w="sm" type="none"/>
                      <a:tailEnd len="sm" w="sm" type="none"/>
                    </a:lnT>
                    <a:lnB cap="flat" cmpd="sng" w="9525">
                      <a:solidFill>
                        <a:srgbClr val="E0E1E6">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6181B"/>
                        </a:buClr>
                        <a:buSzPts val="1200"/>
                        <a:buFont typeface="Quattrocento Sans"/>
                        <a:buNone/>
                      </a:pPr>
                      <a:r>
                        <a:rPr lang="en-US" spc="0" sz="1200" u="none" cap="none" strike="noStrike">
                          <a:solidFill>
                            <a:srgbClr val="16181B"/>
                          </a:solidFill>
                        </a:rPr>
                        <a:t>passage_id</a:t>
                      </a:r>
                      <a:endParaRPr spc="0" sz="1200" u="none" cap="none" strike="noStrike"/>
                    </a:p>
                  </a:txBody>
                  <a:tcPr marT="25400" marB="25400" marR="635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0E1E6">
                          <a:alpha val="0"/>
                        </a:srgbClr>
                      </a:solidFill>
                      <a:prstDash val="solid"/>
                      <a:round/>
                      <a:headEnd len="sm" w="sm" type="none"/>
                      <a:tailEnd len="sm" w="sm" type="none"/>
                    </a:lnT>
                    <a:lnB cap="flat" cmpd="sng" w="9525">
                      <a:solidFill>
                        <a:srgbClr val="E0E1E6">
                          <a:alpha val="0"/>
                        </a:srgbClr>
                      </a:solidFill>
                      <a:prstDash val="solid"/>
                      <a:round/>
                      <a:headEnd len="sm" w="sm" type="none"/>
                      <a:tailEnd len="sm" w="sm" type="none"/>
                    </a:lnB>
                  </a:tcPr>
                </a:tc>
              </a:tr>
              <a:tr h="329175">
                <a:tc>
                  <a:txBody>
                    <a:bodyPr/>
                    <a:lstStyle/>
                    <a:p>
                      <a:pPr indent="0" lvl="0" marL="0" marR="0" rtl="0" algn="l">
                        <a:lnSpc>
                          <a:spcPct val="100000"/>
                        </a:lnSpc>
                        <a:spcBef>
                          <a:spcPts val="0"/>
                        </a:spcBef>
                        <a:spcAft>
                          <a:spcPts val="0"/>
                        </a:spcAft>
                        <a:buClr>
                          <a:srgbClr val="16181B"/>
                        </a:buClr>
                        <a:buSzPts val="1200"/>
                        <a:buFont typeface="Consolas"/>
                        <a:buNone/>
                      </a:pPr>
                      <a:r>
                        <a:rPr b="1" lang="en-US" spc="0" sz="1200" u="none" cap="none" strike="noStrike">
                          <a:solidFill>
                            <a:srgbClr val="16181B"/>
                          </a:solidFill>
                          <a:latin typeface="Consolas"/>
                          <a:ea typeface="Consolas"/>
                          <a:cs typeface="Consolas"/>
                          <a:sym typeface="Consolas"/>
                        </a:rPr>
                        <a:t>extractions</a:t>
                      </a:r>
                      <a:endParaRPr spc="0" sz="1200" u="none" cap="none" strike="noStrike">
                        <a:latin typeface="Consolas"/>
                        <a:ea typeface="Consolas"/>
                        <a:cs typeface="Consolas"/>
                        <a:sym typeface="Consolas"/>
                      </a:endParaRPr>
                    </a:p>
                  </a:txBody>
                  <a:tcPr marT="25400" marB="25400" marR="635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0E1E6">
                          <a:alpha val="0"/>
                        </a:srgbClr>
                      </a:solidFill>
                      <a:prstDash val="solid"/>
                      <a:round/>
                      <a:headEnd len="sm" w="sm" type="none"/>
                      <a:tailEnd len="sm" w="sm" type="none"/>
                    </a:lnT>
                    <a:lnB cap="flat" cmpd="sng" w="9525">
                      <a:solidFill>
                        <a:srgbClr val="E0E1E6">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6181B"/>
                        </a:buClr>
                        <a:buSzPts val="1200"/>
                        <a:buFont typeface="Quattrocento Sans"/>
                        <a:buNone/>
                      </a:pPr>
                      <a:r>
                        <a:rPr lang="en-US" spc="0" sz="1200" u="none" cap="none" strike="noStrike">
                          <a:solidFill>
                            <a:srgbClr val="16181B"/>
                          </a:solidFill>
                        </a:rPr>
                        <a:t>une valeur + sa preuve</a:t>
                      </a:r>
                      <a:endParaRPr spc="0" sz="1200" u="none" cap="none" strike="noStrike"/>
                    </a:p>
                  </a:txBody>
                  <a:tcPr marT="25400" marB="25400" marR="635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0E1E6">
                          <a:alpha val="0"/>
                        </a:srgbClr>
                      </a:solidFill>
                      <a:prstDash val="solid"/>
                      <a:round/>
                      <a:headEnd len="sm" w="sm" type="none"/>
                      <a:tailEnd len="sm" w="sm" type="none"/>
                    </a:lnT>
                    <a:lnB cap="flat" cmpd="sng" w="9525">
                      <a:solidFill>
                        <a:srgbClr val="E0E1E6">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6181B"/>
                        </a:buClr>
                        <a:buSzPts val="1200"/>
                        <a:buFont typeface="Quattrocento Sans"/>
                        <a:buNone/>
                      </a:pPr>
                      <a:r>
                        <a:rPr lang="en-US" spc="0" sz="1200" u="none" cap="none" strike="noStrike">
                          <a:solidFill>
                            <a:srgbClr val="16181B"/>
                          </a:solidFill>
                        </a:rPr>
                        <a:t>doc_id + champ</a:t>
                      </a:r>
                      <a:endParaRPr spc="0" sz="1200" u="none" cap="none" strike="noStrike"/>
                    </a:p>
                  </a:txBody>
                  <a:tcPr marT="25400" marB="25400" marR="635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0E1E6">
                          <a:alpha val="0"/>
                        </a:srgbClr>
                      </a:solidFill>
                      <a:prstDash val="solid"/>
                      <a:round/>
                      <a:headEnd len="sm" w="sm" type="none"/>
                      <a:tailEnd len="sm" w="sm" type="none"/>
                    </a:lnT>
                    <a:lnB cap="flat" cmpd="sng" w="9525">
                      <a:solidFill>
                        <a:srgbClr val="E0E1E6">
                          <a:alpha val="0"/>
                        </a:srgbClr>
                      </a:solidFill>
                      <a:prstDash val="solid"/>
                      <a:round/>
                      <a:headEnd len="sm" w="sm" type="none"/>
                      <a:tailEnd len="sm" w="sm" type="none"/>
                    </a:lnB>
                  </a:tcPr>
                </a:tc>
              </a:tr>
              <a:tr h="329175">
                <a:tc>
                  <a:txBody>
                    <a:bodyPr/>
                    <a:lstStyle/>
                    <a:p>
                      <a:pPr indent="0" lvl="0" marL="0" marR="0" rtl="0" algn="l">
                        <a:lnSpc>
                          <a:spcPct val="100000"/>
                        </a:lnSpc>
                        <a:spcBef>
                          <a:spcPts val="0"/>
                        </a:spcBef>
                        <a:spcAft>
                          <a:spcPts val="0"/>
                        </a:spcAft>
                        <a:buClr>
                          <a:srgbClr val="16181B"/>
                        </a:buClr>
                        <a:buSzPts val="1200"/>
                        <a:buFont typeface="Consolas"/>
                        <a:buNone/>
                      </a:pPr>
                      <a:r>
                        <a:rPr b="1" lang="en-US" spc="0" sz="1200" u="none" cap="none" strike="noStrike">
                          <a:solidFill>
                            <a:srgbClr val="16181B"/>
                          </a:solidFill>
                          <a:latin typeface="Consolas"/>
                          <a:ea typeface="Consolas"/>
                          <a:cs typeface="Consolas"/>
                          <a:sym typeface="Consolas"/>
                        </a:rPr>
                        <a:t>anomalies</a:t>
                      </a:r>
                      <a:endParaRPr spc="0" sz="1200" u="none" cap="none" strike="noStrike">
                        <a:latin typeface="Consolas"/>
                        <a:ea typeface="Consolas"/>
                        <a:cs typeface="Consolas"/>
                        <a:sym typeface="Consolas"/>
                      </a:endParaRPr>
                    </a:p>
                  </a:txBody>
                  <a:tcPr marT="25400" marB="25400" marR="635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0E1E6">
                          <a:alpha val="0"/>
                        </a:srgbClr>
                      </a:solidFill>
                      <a:prstDash val="solid"/>
                      <a:round/>
                      <a:headEnd len="sm" w="sm" type="none"/>
                      <a:tailEnd len="sm" w="sm" type="none"/>
                    </a:lnT>
                    <a:lnB cap="flat" cmpd="sng" w="9525">
                      <a:solidFill>
                        <a:srgbClr val="E0E1E6">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6181B"/>
                        </a:buClr>
                        <a:buSzPts val="1200"/>
                        <a:buFont typeface="Quattrocento Sans"/>
                        <a:buNone/>
                      </a:pPr>
                      <a:r>
                        <a:rPr lang="en-US" spc="0" sz="1200" u="none" cap="none" strike="noStrike">
                          <a:solidFill>
                            <a:srgbClr val="16181B"/>
                          </a:solidFill>
                        </a:rPr>
                        <a:t>les incohérences des chiffres</a:t>
                      </a:r>
                      <a:endParaRPr spc="0" sz="1200" u="none" cap="none" strike="noStrike"/>
                    </a:p>
                  </a:txBody>
                  <a:tcPr marT="25400" marB="25400" marR="635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0E1E6">
                          <a:alpha val="0"/>
                        </a:srgbClr>
                      </a:solidFill>
                      <a:prstDash val="solid"/>
                      <a:round/>
                      <a:headEnd len="sm" w="sm" type="none"/>
                      <a:tailEnd len="sm" w="sm" type="none"/>
                    </a:lnT>
                    <a:lnB cap="flat" cmpd="sng" w="9525">
                      <a:solidFill>
                        <a:srgbClr val="E0E1E6">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6181B"/>
                        </a:buClr>
                        <a:buSzPts val="1200"/>
                        <a:buFont typeface="Quattrocento Sans"/>
                        <a:buNone/>
                      </a:pPr>
                      <a:r>
                        <a:rPr lang="en-US" spc="0" sz="1200" u="none" cap="none" strike="noStrike">
                          <a:solidFill>
                            <a:srgbClr val="16181B"/>
                          </a:solidFill>
                        </a:rPr>
                        <a:t>id</a:t>
                      </a:r>
                      <a:endParaRPr spc="0" sz="1200" u="none" cap="none" strike="noStrike"/>
                    </a:p>
                  </a:txBody>
                  <a:tcPr marT="25400" marB="25400" marR="635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0E1E6">
                          <a:alpha val="0"/>
                        </a:srgbClr>
                      </a:solidFill>
                      <a:prstDash val="solid"/>
                      <a:round/>
                      <a:headEnd len="sm" w="sm" type="none"/>
                      <a:tailEnd len="sm" w="sm" type="none"/>
                    </a:lnT>
                    <a:lnB cap="flat" cmpd="sng" w="9525">
                      <a:solidFill>
                        <a:srgbClr val="E0E1E6">
                          <a:alpha val="0"/>
                        </a:srgbClr>
                      </a:solidFill>
                      <a:prstDash val="solid"/>
                      <a:round/>
                      <a:headEnd len="sm" w="sm" type="none"/>
                      <a:tailEnd len="sm" w="sm" type="none"/>
                    </a:lnB>
                  </a:tcPr>
                </a:tc>
              </a:tr>
              <a:tr h="329175">
                <a:tc>
                  <a:txBody>
                    <a:bodyPr/>
                    <a:lstStyle/>
                    <a:p>
                      <a:pPr indent="0" lvl="0" marL="0" marR="0" rtl="0" algn="l">
                        <a:lnSpc>
                          <a:spcPct val="100000"/>
                        </a:lnSpc>
                        <a:spcBef>
                          <a:spcPts val="0"/>
                        </a:spcBef>
                        <a:spcAft>
                          <a:spcPts val="0"/>
                        </a:spcAft>
                        <a:buClr>
                          <a:srgbClr val="16181B"/>
                        </a:buClr>
                        <a:buSzPts val="1200"/>
                        <a:buFont typeface="Consolas"/>
                        <a:buNone/>
                      </a:pPr>
                      <a:r>
                        <a:rPr b="1" lang="en-US" spc="0" sz="1200" u="none" cap="none" strike="noStrike">
                          <a:solidFill>
                            <a:srgbClr val="16181B"/>
                          </a:solidFill>
                          <a:latin typeface="Consolas"/>
                          <a:ea typeface="Consolas"/>
                          <a:cs typeface="Consolas"/>
                          <a:sym typeface="Consolas"/>
                        </a:rPr>
                        <a:t>dataset_rse</a:t>
                      </a:r>
                      <a:endParaRPr spc="0" sz="1200" u="none" cap="none" strike="noStrike">
                        <a:latin typeface="Consolas"/>
                        <a:ea typeface="Consolas"/>
                        <a:cs typeface="Consolas"/>
                        <a:sym typeface="Consolas"/>
                      </a:endParaRPr>
                    </a:p>
                  </a:txBody>
                  <a:tcPr marT="25400" marB="25400" marR="635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0E1E6">
                          <a:alpha val="0"/>
                        </a:srgbClr>
                      </a:solidFill>
                      <a:prstDash val="solid"/>
                      <a:round/>
                      <a:headEnd len="sm" w="sm" type="none"/>
                      <a:tailEnd len="sm" w="sm" type="none"/>
                    </a:lnT>
                    <a:lnB cap="flat" cmpd="sng" w="9525">
                      <a:solidFill>
                        <a:srgbClr val="E0E1E6">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6181B"/>
                        </a:buClr>
                        <a:buSzPts val="1200"/>
                        <a:buFont typeface="Quattrocento Sans"/>
                        <a:buNone/>
                      </a:pPr>
                      <a:r>
                        <a:rPr lang="en-US" spc="0" sz="1200" u="none" cap="none" strike="noStrike">
                          <a:solidFill>
                            <a:srgbClr val="16181B"/>
                          </a:solidFill>
                        </a:rPr>
                        <a:t>le dataset final</a:t>
                      </a:r>
                      <a:endParaRPr spc="0" sz="1200" u="none" cap="none" strike="noStrike"/>
                    </a:p>
                  </a:txBody>
                  <a:tcPr marT="25400" marB="25400" marR="635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0E1E6">
                          <a:alpha val="0"/>
                        </a:srgbClr>
                      </a:solidFill>
                      <a:prstDash val="solid"/>
                      <a:round/>
                      <a:headEnd len="sm" w="sm" type="none"/>
                      <a:tailEnd len="sm" w="sm" type="none"/>
                    </a:lnT>
                    <a:lnB cap="flat" cmpd="sng" w="9525">
                      <a:solidFill>
                        <a:srgbClr val="E0E1E6">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6181B"/>
                        </a:buClr>
                        <a:buSzPts val="1200"/>
                        <a:buFont typeface="Quattrocento Sans"/>
                        <a:buNone/>
                      </a:pPr>
                      <a:r>
                        <a:rPr lang="en-US" spc="0" sz="1200" u="none" cap="none" strike="noStrike">
                          <a:solidFill>
                            <a:srgbClr val="16181B"/>
                          </a:solidFill>
                        </a:rPr>
                        <a:t>doc_id</a:t>
                      </a:r>
                      <a:endParaRPr spc="0" sz="1200" u="none" cap="none" strike="noStrike"/>
                    </a:p>
                  </a:txBody>
                  <a:tcPr marT="25400" marB="25400" marR="635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0E1E6">
                          <a:alpha val="0"/>
                        </a:srgbClr>
                      </a:solidFill>
                      <a:prstDash val="solid"/>
                      <a:round/>
                      <a:headEnd len="sm" w="sm" type="none"/>
                      <a:tailEnd len="sm" w="sm" type="none"/>
                    </a:lnT>
                    <a:lnB cap="flat" cmpd="sng" w="9525">
                      <a:solidFill>
                        <a:srgbClr val="E0E1E6">
                          <a:alpha val="0"/>
                        </a:srgbClr>
                      </a:solidFill>
                      <a:prstDash val="solid"/>
                      <a:round/>
                      <a:headEnd len="sm" w="sm" type="none"/>
                      <a:tailEnd len="sm" w="sm" type="none"/>
                    </a:lnB>
                  </a:tcPr>
                </a:tc>
              </a:tr>
              <a:tr h="329175">
                <a:tc>
                  <a:txBody>
                    <a:bodyPr/>
                    <a:lstStyle/>
                    <a:p>
                      <a:pPr indent="0" lvl="0" marL="0" marR="0" rtl="0" algn="l">
                        <a:lnSpc>
                          <a:spcPct val="100000"/>
                        </a:lnSpc>
                        <a:spcBef>
                          <a:spcPts val="0"/>
                        </a:spcBef>
                        <a:spcAft>
                          <a:spcPts val="0"/>
                        </a:spcAft>
                        <a:buClr>
                          <a:srgbClr val="16181B"/>
                        </a:buClr>
                        <a:buSzPts val="1200"/>
                        <a:buFont typeface="Consolas"/>
                        <a:buNone/>
                      </a:pPr>
                      <a:r>
                        <a:rPr b="1" lang="en-US" spc="0" sz="1200" u="none" cap="none" strike="noStrike">
                          <a:solidFill>
                            <a:srgbClr val="16181B"/>
                          </a:solidFill>
                          <a:latin typeface="Consolas"/>
                          <a:ea typeface="Consolas"/>
                          <a:cs typeface="Consolas"/>
                          <a:sym typeface="Consolas"/>
                        </a:rPr>
                        <a:t>analyses_toxicite</a:t>
                      </a:r>
                      <a:endParaRPr spc="0" sz="1200" u="none" cap="none" strike="noStrike">
                        <a:latin typeface="Consolas"/>
                        <a:ea typeface="Consolas"/>
                        <a:cs typeface="Consolas"/>
                        <a:sym typeface="Consolas"/>
                      </a:endParaRPr>
                    </a:p>
                  </a:txBody>
                  <a:tcPr marT="25400" marB="25400" marR="635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0E1E6">
                          <a:alpha val="0"/>
                        </a:srgbClr>
                      </a:solidFill>
                      <a:prstDash val="solid"/>
                      <a:round/>
                      <a:headEnd len="sm" w="sm" type="none"/>
                      <a:tailEnd len="sm" w="sm" type="none"/>
                    </a:lnT>
                    <a:lnB cap="flat" cmpd="sng" w="9525">
                      <a:solidFill>
                        <a:srgbClr val="E0E1E6">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6181B"/>
                        </a:buClr>
                        <a:buSzPts val="1200"/>
                        <a:buFont typeface="Quattrocento Sans"/>
                        <a:buNone/>
                      </a:pPr>
                      <a:r>
                        <a:rPr lang="en-US" spc="0" sz="1200" u="none" cap="none" strike="noStrike">
                          <a:solidFill>
                            <a:srgbClr val="16181B"/>
                          </a:solidFill>
                        </a:rPr>
                        <a:t>le jugement d'un passage</a:t>
                      </a:r>
                      <a:endParaRPr spc="0" sz="1200" u="none" cap="none" strike="noStrike"/>
                    </a:p>
                  </a:txBody>
                  <a:tcPr marT="25400" marB="25400" marR="635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0E1E6">
                          <a:alpha val="0"/>
                        </a:srgbClr>
                      </a:solidFill>
                      <a:prstDash val="solid"/>
                      <a:round/>
                      <a:headEnd len="sm" w="sm" type="none"/>
                      <a:tailEnd len="sm" w="sm" type="none"/>
                    </a:lnT>
                    <a:lnB cap="flat" cmpd="sng" w="9525">
                      <a:solidFill>
                        <a:srgbClr val="E0E1E6">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6181B"/>
                        </a:buClr>
                        <a:buSzPts val="1200"/>
                        <a:buFont typeface="Quattrocento Sans"/>
                        <a:buNone/>
                      </a:pPr>
                      <a:r>
                        <a:rPr lang="en-US" spc="0" sz="1200" u="none" cap="none" strike="noStrike">
                          <a:solidFill>
                            <a:srgbClr val="16181B"/>
                          </a:solidFill>
                        </a:rPr>
                        <a:t>passage_id</a:t>
                      </a:r>
                      <a:endParaRPr spc="0" sz="1200" u="none" cap="none" strike="noStrike"/>
                    </a:p>
                  </a:txBody>
                  <a:tcPr marT="25400" marB="25400" marR="635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0E1E6">
                          <a:alpha val="0"/>
                        </a:srgbClr>
                      </a:solidFill>
                      <a:prstDash val="solid"/>
                      <a:round/>
                      <a:headEnd len="sm" w="sm" type="none"/>
                      <a:tailEnd len="sm" w="sm" type="none"/>
                    </a:lnT>
                    <a:lnB cap="flat" cmpd="sng" w="9525">
                      <a:solidFill>
                        <a:srgbClr val="E0E1E6">
                          <a:alpha val="0"/>
                        </a:srgbClr>
                      </a:solidFill>
                      <a:prstDash val="solid"/>
                      <a:round/>
                      <a:headEnd len="sm" w="sm" type="none"/>
                      <a:tailEnd len="sm" w="sm" type="none"/>
                    </a:lnB>
                  </a:tcPr>
                </a:tc>
              </a:tr>
              <a:tr h="329175">
                <a:tc>
                  <a:txBody>
                    <a:bodyPr/>
                    <a:lstStyle/>
                    <a:p>
                      <a:pPr indent="0" lvl="0" marL="0" marR="0" rtl="0" algn="l">
                        <a:lnSpc>
                          <a:spcPct val="100000"/>
                        </a:lnSpc>
                        <a:spcBef>
                          <a:spcPts val="0"/>
                        </a:spcBef>
                        <a:spcAft>
                          <a:spcPts val="0"/>
                        </a:spcAft>
                        <a:buClr>
                          <a:srgbClr val="16181B"/>
                        </a:buClr>
                        <a:buSzPts val="1200"/>
                        <a:buFont typeface="Consolas"/>
                        <a:buNone/>
                      </a:pPr>
                      <a:r>
                        <a:rPr b="1" lang="en-US" spc="0" sz="1200" u="none" cap="none" strike="noStrike">
                          <a:solidFill>
                            <a:srgbClr val="16181B"/>
                          </a:solidFill>
                          <a:latin typeface="Consolas"/>
                          <a:ea typeface="Consolas"/>
                          <a:cs typeface="Consolas"/>
                          <a:sym typeface="Consolas"/>
                        </a:rPr>
                        <a:t>verdicts</a:t>
                      </a:r>
                      <a:endParaRPr spc="0" sz="1200" u="none" cap="none" strike="noStrike">
                        <a:latin typeface="Consolas"/>
                        <a:ea typeface="Consolas"/>
                        <a:cs typeface="Consolas"/>
                        <a:sym typeface="Consolas"/>
                      </a:endParaRPr>
                    </a:p>
                  </a:txBody>
                  <a:tcPr marT="25400" marB="25400" marR="635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0E1E6">
                          <a:alpha val="0"/>
                        </a:srgbClr>
                      </a:solidFill>
                      <a:prstDash val="solid"/>
                      <a:round/>
                      <a:headEnd len="sm" w="sm" type="none"/>
                      <a:tailEnd len="sm" w="sm" type="none"/>
                    </a:lnT>
                    <a:lnB cap="flat" cmpd="sng" w="9525">
                      <a:solidFill>
                        <a:srgbClr val="E0E1E6">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6181B"/>
                        </a:buClr>
                        <a:buSzPts val="1200"/>
                        <a:buFont typeface="Quattrocento Sans"/>
                        <a:buNone/>
                      </a:pPr>
                      <a:r>
                        <a:rPr lang="en-US" spc="0" sz="1200" u="none" cap="none" strike="noStrike">
                          <a:solidFill>
                            <a:srgbClr val="16181B"/>
                          </a:solidFill>
                        </a:rPr>
                        <a:t>le verdict d'un rapport</a:t>
                      </a:r>
                      <a:endParaRPr spc="0" sz="1200" u="none" cap="none" strike="noStrike"/>
                    </a:p>
                  </a:txBody>
                  <a:tcPr marT="25400" marB="25400" marR="635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0E1E6">
                          <a:alpha val="0"/>
                        </a:srgbClr>
                      </a:solidFill>
                      <a:prstDash val="solid"/>
                      <a:round/>
                      <a:headEnd len="sm" w="sm" type="none"/>
                      <a:tailEnd len="sm" w="sm" type="none"/>
                    </a:lnT>
                    <a:lnB cap="flat" cmpd="sng" w="9525">
                      <a:solidFill>
                        <a:srgbClr val="E0E1E6">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6181B"/>
                        </a:buClr>
                        <a:buSzPts val="1200"/>
                        <a:buFont typeface="Quattrocento Sans"/>
                        <a:buNone/>
                      </a:pPr>
                      <a:r>
                        <a:rPr lang="en-US" spc="0" sz="1200" u="none" cap="none" strike="noStrike">
                          <a:solidFill>
                            <a:srgbClr val="16181B"/>
                          </a:solidFill>
                        </a:rPr>
                        <a:t>doc_id</a:t>
                      </a:r>
                      <a:endParaRPr spc="0" sz="1200" u="none" cap="none" strike="noStrike"/>
                    </a:p>
                  </a:txBody>
                  <a:tcPr marT="25400" marB="25400" marR="635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0E1E6">
                          <a:alpha val="0"/>
                        </a:srgbClr>
                      </a:solidFill>
                      <a:prstDash val="solid"/>
                      <a:round/>
                      <a:headEnd len="sm" w="sm" type="none"/>
                      <a:tailEnd len="sm" w="sm" type="none"/>
                    </a:lnT>
                    <a:lnB cap="flat" cmpd="sng" w="9525">
                      <a:solidFill>
                        <a:srgbClr val="E0E1E6">
                          <a:alpha val="0"/>
                        </a:srgbClr>
                      </a:solidFill>
                      <a:prstDash val="solid"/>
                      <a:round/>
                      <a:headEnd len="sm" w="sm" type="none"/>
                      <a:tailEnd len="sm" w="sm" type="none"/>
                    </a:lnB>
                  </a:tcPr>
                </a:tc>
              </a:tr>
              <a:tr h="329175">
                <a:tc>
                  <a:txBody>
                    <a:bodyPr/>
                    <a:lstStyle/>
                    <a:p>
                      <a:pPr indent="0" lvl="0" marL="0" marR="0" rtl="0" algn="l">
                        <a:lnSpc>
                          <a:spcPct val="100000"/>
                        </a:lnSpc>
                        <a:spcBef>
                          <a:spcPts val="0"/>
                        </a:spcBef>
                        <a:spcAft>
                          <a:spcPts val="0"/>
                        </a:spcAft>
                        <a:buClr>
                          <a:srgbClr val="16181B"/>
                        </a:buClr>
                        <a:buSzPts val="1200"/>
                        <a:buFont typeface="Consolas"/>
                        <a:buNone/>
                      </a:pPr>
                      <a:r>
                        <a:rPr b="1" lang="en-US" spc="0" sz="1200" u="none" cap="none" strike="noStrike">
                          <a:solidFill>
                            <a:srgbClr val="16181B"/>
                          </a:solidFill>
                          <a:latin typeface="Consolas"/>
                          <a:ea typeface="Consolas"/>
                          <a:cs typeface="Consolas"/>
                          <a:sym typeface="Consolas"/>
                        </a:rPr>
                        <a:t>echantillon_evaluation</a:t>
                      </a:r>
                      <a:endParaRPr spc="0" sz="1200" u="none" cap="none" strike="noStrike">
                        <a:latin typeface="Consolas"/>
                        <a:ea typeface="Consolas"/>
                        <a:cs typeface="Consolas"/>
                        <a:sym typeface="Consolas"/>
                      </a:endParaRPr>
                    </a:p>
                  </a:txBody>
                  <a:tcPr marT="25400" marB="25400" marR="635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0E1E6">
                          <a:alpha val="0"/>
                        </a:srgbClr>
                      </a:solidFill>
                      <a:prstDash val="solid"/>
                      <a:round/>
                      <a:headEnd len="sm" w="sm" type="none"/>
                      <a:tailEnd len="sm" w="sm" type="none"/>
                    </a:lnT>
                    <a:lnB cap="flat" cmpd="sng" w="9525">
                      <a:solidFill>
                        <a:srgbClr val="E0E1E6">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6181B"/>
                        </a:buClr>
                        <a:buSzPts val="1200"/>
                        <a:buFont typeface="Quattrocento Sans"/>
                        <a:buNone/>
                      </a:pPr>
                      <a:r>
                        <a:rPr lang="en-US" spc="0" sz="1200" u="none" cap="none" strike="noStrike">
                          <a:solidFill>
                            <a:srgbClr val="16181B"/>
                          </a:solidFill>
                        </a:rPr>
                        <a:t>les passages à annoter</a:t>
                      </a:r>
                      <a:endParaRPr spc="0" sz="1200" u="none" cap="none" strike="noStrike"/>
                    </a:p>
                  </a:txBody>
                  <a:tcPr marT="25400" marB="25400" marR="635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0E1E6">
                          <a:alpha val="0"/>
                        </a:srgbClr>
                      </a:solidFill>
                      <a:prstDash val="solid"/>
                      <a:round/>
                      <a:headEnd len="sm" w="sm" type="none"/>
                      <a:tailEnd len="sm" w="sm" type="none"/>
                    </a:lnT>
                    <a:lnB cap="flat" cmpd="sng" w="9525">
                      <a:solidFill>
                        <a:srgbClr val="E0E1E6">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6181B"/>
                        </a:buClr>
                        <a:buSzPts val="1200"/>
                        <a:buFont typeface="Quattrocento Sans"/>
                        <a:buNone/>
                      </a:pPr>
                      <a:r>
                        <a:rPr lang="en-US" spc="0" sz="1200" u="none" cap="none" strike="noStrike">
                          <a:solidFill>
                            <a:srgbClr val="16181B"/>
                          </a:solidFill>
                        </a:rPr>
                        <a:t>passage_id</a:t>
                      </a:r>
                      <a:endParaRPr spc="0" sz="1200" u="none" cap="none" strike="noStrike"/>
                    </a:p>
                  </a:txBody>
                  <a:tcPr marT="25400" marB="25400" marR="635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0E1E6">
                          <a:alpha val="0"/>
                        </a:srgbClr>
                      </a:solidFill>
                      <a:prstDash val="solid"/>
                      <a:round/>
                      <a:headEnd len="sm" w="sm" type="none"/>
                      <a:tailEnd len="sm" w="sm" type="none"/>
                    </a:lnT>
                    <a:lnB cap="flat" cmpd="sng" w="9525">
                      <a:solidFill>
                        <a:srgbClr val="E0E1E6">
                          <a:alpha val="0"/>
                        </a:srgbClr>
                      </a:solidFill>
                      <a:prstDash val="solid"/>
                      <a:round/>
                      <a:headEnd len="sm" w="sm" type="none"/>
                      <a:tailEnd len="sm" w="sm" type="none"/>
                    </a:lnB>
                  </a:tcPr>
                </a:tc>
              </a:tr>
              <a:tr h="329175">
                <a:tc>
                  <a:txBody>
                    <a:bodyPr/>
                    <a:lstStyle/>
                    <a:p>
                      <a:pPr indent="0" lvl="0" marL="0" marR="0" rtl="0" algn="l">
                        <a:lnSpc>
                          <a:spcPct val="100000"/>
                        </a:lnSpc>
                        <a:spcBef>
                          <a:spcPts val="0"/>
                        </a:spcBef>
                        <a:spcAft>
                          <a:spcPts val="0"/>
                        </a:spcAft>
                        <a:buClr>
                          <a:srgbClr val="16181B"/>
                        </a:buClr>
                        <a:buSzPts val="1200"/>
                        <a:buFont typeface="Consolas"/>
                        <a:buNone/>
                      </a:pPr>
                      <a:r>
                        <a:rPr b="1" lang="en-US" spc="0" sz="1200" u="none" cap="none" strike="noStrike">
                          <a:solidFill>
                            <a:srgbClr val="16181B"/>
                          </a:solidFill>
                          <a:latin typeface="Consolas"/>
                          <a:ea typeface="Consolas"/>
                          <a:cs typeface="Consolas"/>
                          <a:sym typeface="Consolas"/>
                        </a:rPr>
                        <a:t>annotations</a:t>
                      </a:r>
                      <a:endParaRPr spc="0" sz="1200" u="none" cap="none" strike="noStrike">
                        <a:latin typeface="Consolas"/>
                        <a:ea typeface="Consolas"/>
                        <a:cs typeface="Consolas"/>
                        <a:sym typeface="Consolas"/>
                      </a:endParaRPr>
                    </a:p>
                  </a:txBody>
                  <a:tcPr marT="25400" marB="25400" marR="635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0E1E6">
                          <a:alpha val="0"/>
                        </a:srgbClr>
                      </a:solidFill>
                      <a:prstDash val="solid"/>
                      <a:round/>
                      <a:headEnd len="sm" w="sm" type="none"/>
                      <a:tailEnd len="sm" w="sm" type="none"/>
                    </a:lnT>
                    <a:lnB cap="flat" cmpd="sng" w="9525">
                      <a:solidFill>
                        <a:srgbClr val="E0E1E6">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6181B"/>
                        </a:buClr>
                        <a:buSzPts val="1200"/>
                        <a:buFont typeface="Quattrocento Sans"/>
                        <a:buNone/>
                      </a:pPr>
                      <a:r>
                        <a:rPr lang="en-US" spc="0" sz="1200" u="none" cap="none" strike="noStrike">
                          <a:solidFill>
                            <a:srgbClr val="16181B"/>
                          </a:solidFill>
                        </a:rPr>
                        <a:t>le jugement humain</a:t>
                      </a:r>
                      <a:endParaRPr spc="0" sz="1200" u="none" cap="none" strike="noStrike"/>
                    </a:p>
                  </a:txBody>
                  <a:tcPr marT="25400" marB="25400" marR="635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0E1E6">
                          <a:alpha val="0"/>
                        </a:srgbClr>
                      </a:solidFill>
                      <a:prstDash val="solid"/>
                      <a:round/>
                      <a:headEnd len="sm" w="sm" type="none"/>
                      <a:tailEnd len="sm" w="sm" type="none"/>
                    </a:lnT>
                    <a:lnB cap="flat" cmpd="sng" w="9525">
                      <a:solidFill>
                        <a:srgbClr val="E0E1E6">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6181B"/>
                        </a:buClr>
                        <a:buSzPts val="1200"/>
                        <a:buFont typeface="Quattrocento Sans"/>
                        <a:buNone/>
                      </a:pPr>
                      <a:r>
                        <a:rPr lang="en-US" spc="0" sz="1200" u="none" cap="none" strike="noStrike">
                          <a:solidFill>
                            <a:srgbClr val="16181B"/>
                          </a:solidFill>
                        </a:rPr>
                        <a:t>passage_id</a:t>
                      </a:r>
                      <a:endParaRPr spc="0" sz="1200" u="none" cap="none" strike="noStrike"/>
                    </a:p>
                  </a:txBody>
                  <a:tcPr marT="25400" marB="25400" marR="635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0E1E6">
                          <a:alpha val="0"/>
                        </a:srgbClr>
                      </a:solidFill>
                      <a:prstDash val="solid"/>
                      <a:round/>
                      <a:headEnd len="sm" w="sm" type="none"/>
                      <a:tailEnd len="sm" w="sm" type="none"/>
                    </a:lnT>
                    <a:lnB cap="flat" cmpd="sng" w="9525">
                      <a:solidFill>
                        <a:srgbClr val="E0E1E6">
                          <a:alpha val="0"/>
                        </a:srgbClr>
                      </a:solidFill>
                      <a:prstDash val="solid"/>
                      <a:round/>
                      <a:headEnd len="sm" w="sm" type="none"/>
                      <a:tailEnd len="sm" w="sm" type="none"/>
                    </a:lnB>
                  </a:tcPr>
                </a:tc>
              </a:tr>
              <a:tr h="329175">
                <a:tc>
                  <a:txBody>
                    <a:bodyPr/>
                    <a:lstStyle/>
                    <a:p>
                      <a:pPr indent="0" lvl="0" marL="0" marR="0" rtl="0" algn="l">
                        <a:lnSpc>
                          <a:spcPct val="100000"/>
                        </a:lnSpc>
                        <a:spcBef>
                          <a:spcPts val="0"/>
                        </a:spcBef>
                        <a:spcAft>
                          <a:spcPts val="0"/>
                        </a:spcAft>
                        <a:buClr>
                          <a:srgbClr val="16181B"/>
                        </a:buClr>
                        <a:buSzPts val="1200"/>
                        <a:buFont typeface="Consolas"/>
                        <a:buNone/>
                      </a:pPr>
                      <a:r>
                        <a:rPr b="1" lang="en-US" spc="0" sz="1200" u="none" cap="none" strike="noStrike">
                          <a:solidFill>
                            <a:srgbClr val="16181B"/>
                          </a:solidFill>
                          <a:latin typeface="Consolas"/>
                          <a:ea typeface="Consolas"/>
                          <a:cs typeface="Consolas"/>
                          <a:sym typeface="Consolas"/>
                        </a:rPr>
                        <a:t>traitements</a:t>
                      </a:r>
                      <a:endParaRPr spc="0" sz="1200" u="none" cap="none" strike="noStrike">
                        <a:latin typeface="Consolas"/>
                        <a:ea typeface="Consolas"/>
                        <a:cs typeface="Consolas"/>
                        <a:sym typeface="Consolas"/>
                      </a:endParaRPr>
                    </a:p>
                  </a:txBody>
                  <a:tcPr marT="25400" marB="25400" marR="635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0E1E6">
                          <a:alpha val="0"/>
                        </a:srgbClr>
                      </a:solidFill>
                      <a:prstDash val="solid"/>
                      <a:round/>
                      <a:headEnd len="sm" w="sm" type="none"/>
                      <a:tailEnd len="sm" w="sm" type="none"/>
                    </a:lnT>
                    <a:lnB cap="flat" cmpd="sng" w="9525">
                      <a:solidFill>
                        <a:srgbClr val="E0E1E6">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6181B"/>
                        </a:buClr>
                        <a:buSzPts val="1200"/>
                        <a:buFont typeface="Quattrocento Sans"/>
                        <a:buNone/>
                      </a:pPr>
                      <a:r>
                        <a:rPr lang="en-US" spc="0" sz="1200" u="none" cap="none" strike="noStrike">
                          <a:solidFill>
                            <a:srgbClr val="16181B"/>
                          </a:solidFill>
                        </a:rPr>
                        <a:t>la file des rapports</a:t>
                      </a:r>
                      <a:endParaRPr spc="0" sz="1200" u="none" cap="none" strike="noStrike"/>
                    </a:p>
                  </a:txBody>
                  <a:tcPr marT="25400" marB="25400" marR="635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0E1E6">
                          <a:alpha val="0"/>
                        </a:srgbClr>
                      </a:solidFill>
                      <a:prstDash val="solid"/>
                      <a:round/>
                      <a:headEnd len="sm" w="sm" type="none"/>
                      <a:tailEnd len="sm" w="sm" type="none"/>
                    </a:lnT>
                    <a:lnB cap="flat" cmpd="sng" w="9525">
                      <a:solidFill>
                        <a:srgbClr val="E0E1E6">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6181B"/>
                        </a:buClr>
                        <a:buSzPts val="1200"/>
                        <a:buFont typeface="Quattrocento Sans"/>
                        <a:buNone/>
                      </a:pPr>
                      <a:r>
                        <a:rPr lang="en-US" spc="0" sz="1200" u="none" cap="none" strike="noStrike">
                          <a:solidFill>
                            <a:srgbClr val="16181B"/>
                          </a:solidFill>
                        </a:rPr>
                        <a:t>id</a:t>
                      </a:r>
                      <a:endParaRPr spc="0" sz="1200" u="none" cap="none" strike="noStrike"/>
                    </a:p>
                  </a:txBody>
                  <a:tcPr marT="25400" marB="25400" marR="635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0E1E6">
                          <a:alpha val="0"/>
                        </a:srgbClr>
                      </a:solidFill>
                      <a:prstDash val="solid"/>
                      <a:round/>
                      <a:headEnd len="sm" w="sm" type="none"/>
                      <a:tailEnd len="sm" w="sm" type="none"/>
                    </a:lnT>
                    <a:lnB cap="flat" cmpd="sng" w="9525">
                      <a:solidFill>
                        <a:srgbClr val="E0E1E6">
                          <a:alpha val="0"/>
                        </a:srgbClr>
                      </a:solidFill>
                      <a:prstDash val="solid"/>
                      <a:round/>
                      <a:headEnd len="sm" w="sm" type="none"/>
                      <a:tailEnd len="sm" w="sm" type="none"/>
                    </a:lnB>
                  </a:tcPr>
                </a:tc>
              </a:tr>
              <a:tr h="329175">
                <a:tc>
                  <a:txBody>
                    <a:bodyPr/>
                    <a:lstStyle/>
                    <a:p>
                      <a:pPr indent="0" lvl="0" marL="0" marR="0" rtl="0" algn="l">
                        <a:lnSpc>
                          <a:spcPct val="100000"/>
                        </a:lnSpc>
                        <a:spcBef>
                          <a:spcPts val="0"/>
                        </a:spcBef>
                        <a:spcAft>
                          <a:spcPts val="0"/>
                        </a:spcAft>
                        <a:buClr>
                          <a:srgbClr val="16181B"/>
                        </a:buClr>
                        <a:buSzPts val="1200"/>
                        <a:buFont typeface="Consolas"/>
                        <a:buNone/>
                      </a:pPr>
                      <a:r>
                        <a:rPr b="1" lang="en-US" spc="0" sz="1200" u="none" cap="none" strike="noStrike">
                          <a:solidFill>
                            <a:srgbClr val="16181B"/>
                          </a:solidFill>
                          <a:latin typeface="Consolas"/>
                          <a:ea typeface="Consolas"/>
                          <a:cs typeface="Consolas"/>
                          <a:sym typeface="Consolas"/>
                        </a:rPr>
                        <a:t>analyses_rapides</a:t>
                      </a:r>
                      <a:endParaRPr spc="0" sz="1200" u="none" cap="none" strike="noStrike">
                        <a:latin typeface="Consolas"/>
                        <a:ea typeface="Consolas"/>
                        <a:cs typeface="Consolas"/>
                        <a:sym typeface="Consolas"/>
                      </a:endParaRPr>
                    </a:p>
                  </a:txBody>
                  <a:tcPr marT="25400" marB="25400" marR="635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0E1E6">
                          <a:alpha val="0"/>
                        </a:srgbClr>
                      </a:solidFill>
                      <a:prstDash val="solid"/>
                      <a:round/>
                      <a:headEnd len="sm" w="sm" type="none"/>
                      <a:tailEnd len="sm" w="sm" type="none"/>
                    </a:lnT>
                    <a:lnB cap="flat" cmpd="sng" w="9525">
                      <a:solidFill>
                        <a:srgbClr val="E0E1E6">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6181B"/>
                        </a:buClr>
                        <a:buSzPts val="1200"/>
                        <a:buFont typeface="Quattrocento Sans"/>
                        <a:buNone/>
                      </a:pPr>
                      <a:r>
                        <a:rPr lang="en-US" spc="0" sz="1200" u="none" cap="none" strike="noStrike">
                          <a:solidFill>
                            <a:srgbClr val="16181B"/>
                          </a:solidFill>
                        </a:rPr>
                        <a:t>les extraits courts</a:t>
                      </a:r>
                      <a:endParaRPr spc="0" sz="1200" u="none" cap="none" strike="noStrike"/>
                    </a:p>
                  </a:txBody>
                  <a:tcPr marT="25400" marB="25400" marR="635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0E1E6">
                          <a:alpha val="0"/>
                        </a:srgbClr>
                      </a:solidFill>
                      <a:prstDash val="solid"/>
                      <a:round/>
                      <a:headEnd len="sm" w="sm" type="none"/>
                      <a:tailEnd len="sm" w="sm" type="none"/>
                    </a:lnT>
                    <a:lnB cap="flat" cmpd="sng" w="9525">
                      <a:solidFill>
                        <a:srgbClr val="E0E1E6">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6181B"/>
                        </a:buClr>
                        <a:buSzPts val="1200"/>
                        <a:buFont typeface="Quattrocento Sans"/>
                        <a:buNone/>
                      </a:pPr>
                      <a:r>
                        <a:rPr lang="en-US" spc="0" sz="1200" u="none" cap="none" strike="noStrike">
                          <a:solidFill>
                            <a:srgbClr val="16181B"/>
                          </a:solidFill>
                        </a:rPr>
                        <a:t>id</a:t>
                      </a:r>
                      <a:endParaRPr spc="0" sz="1200" u="none" cap="none" strike="noStrike"/>
                    </a:p>
                  </a:txBody>
                  <a:tcPr marT="25400" marB="25400" marR="635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0E1E6">
                          <a:alpha val="0"/>
                        </a:srgbClr>
                      </a:solidFill>
                      <a:prstDash val="solid"/>
                      <a:round/>
                      <a:headEnd len="sm" w="sm" type="none"/>
                      <a:tailEnd len="sm" w="sm" type="none"/>
                    </a:lnT>
                    <a:lnB cap="flat" cmpd="sng" w="9525">
                      <a:solidFill>
                        <a:srgbClr val="E0E1E6">
                          <a:alpha val="0"/>
                        </a:srgbClr>
                      </a:solidFill>
                      <a:prstDash val="solid"/>
                      <a:round/>
                      <a:headEnd len="sm" w="sm" type="none"/>
                      <a:tailEnd len="sm" w="sm" type="none"/>
                    </a:lnB>
                  </a:tcPr>
                </a:tc>
              </a:tr>
              <a:tr h="329175">
                <a:tc>
                  <a:txBody>
                    <a:bodyPr/>
                    <a:lstStyle/>
                    <a:p>
                      <a:pPr indent="0" lvl="0" marL="0" marR="0" rtl="0" algn="l">
                        <a:lnSpc>
                          <a:spcPct val="100000"/>
                        </a:lnSpc>
                        <a:spcBef>
                          <a:spcPts val="0"/>
                        </a:spcBef>
                        <a:spcAft>
                          <a:spcPts val="0"/>
                        </a:spcAft>
                        <a:buClr>
                          <a:srgbClr val="16181B"/>
                        </a:buClr>
                        <a:buSzPts val="1200"/>
                        <a:buFont typeface="Consolas"/>
                        <a:buNone/>
                      </a:pPr>
                      <a:r>
                        <a:rPr b="1" lang="en-US" spc="0" sz="1200" u="none" cap="none" strike="noStrike">
                          <a:solidFill>
                            <a:srgbClr val="16181B"/>
                          </a:solidFill>
                          <a:latin typeface="Consolas"/>
                          <a:ea typeface="Consolas"/>
                          <a:cs typeface="Consolas"/>
                          <a:sym typeface="Consolas"/>
                        </a:rPr>
                        <a:t>journal_llm</a:t>
                      </a:r>
                      <a:endParaRPr spc="0" sz="1200" u="none" cap="none" strike="noStrike">
                        <a:latin typeface="Consolas"/>
                        <a:ea typeface="Consolas"/>
                        <a:cs typeface="Consolas"/>
                        <a:sym typeface="Consolas"/>
                      </a:endParaRPr>
                    </a:p>
                  </a:txBody>
                  <a:tcPr marT="25400" marB="25400" marR="635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0E1E6">
                          <a:alpha val="0"/>
                        </a:srgbClr>
                      </a:solidFill>
                      <a:prstDash val="solid"/>
                      <a:round/>
                      <a:headEnd len="sm" w="sm" type="none"/>
                      <a:tailEnd len="sm" w="sm" type="none"/>
                    </a:lnT>
                    <a:lnB cap="flat" cmpd="sng" w="9525">
                      <a:solidFill>
                        <a:srgbClr val="E0E1E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6181B"/>
                        </a:buClr>
                        <a:buSzPts val="1200"/>
                        <a:buFont typeface="Quattrocento Sans"/>
                        <a:buNone/>
                      </a:pPr>
                      <a:r>
                        <a:rPr lang="en-US" spc="0" sz="1200" u="none" cap="none" strike="noStrike">
                          <a:solidFill>
                            <a:srgbClr val="16181B"/>
                          </a:solidFill>
                        </a:rPr>
                        <a:t>les appels au LLM</a:t>
                      </a:r>
                      <a:endParaRPr spc="0" sz="1200" u="none" cap="none" strike="noStrike"/>
                    </a:p>
                  </a:txBody>
                  <a:tcPr marT="25400" marB="25400" marR="635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0E1E6">
                          <a:alpha val="0"/>
                        </a:srgbClr>
                      </a:solidFill>
                      <a:prstDash val="solid"/>
                      <a:round/>
                      <a:headEnd len="sm" w="sm" type="none"/>
                      <a:tailEnd len="sm" w="sm" type="none"/>
                    </a:lnT>
                    <a:lnB cap="flat" cmpd="sng" w="9525">
                      <a:solidFill>
                        <a:srgbClr val="E0E1E6"/>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6181B"/>
                        </a:buClr>
                        <a:buSzPts val="1200"/>
                        <a:buFont typeface="Quattrocento Sans"/>
                        <a:buNone/>
                      </a:pPr>
                      <a:r>
                        <a:rPr lang="en-US" spc="0" sz="1200" u="none" cap="none" strike="noStrike">
                          <a:solidFill>
                            <a:srgbClr val="16181B"/>
                          </a:solidFill>
                        </a:rPr>
                        <a:t>id</a:t>
                      </a:r>
                      <a:endParaRPr spc="0" sz="1200" u="none" cap="none" strike="noStrike"/>
                    </a:p>
                  </a:txBody>
                  <a:tcPr marT="25400" marB="25400" marR="635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0E1E6">
                          <a:alpha val="0"/>
                        </a:srgbClr>
                      </a:solidFill>
                      <a:prstDash val="solid"/>
                      <a:round/>
                      <a:headEnd len="sm" w="sm" type="none"/>
                      <a:tailEnd len="sm" w="sm" type="none"/>
                    </a:lnT>
                    <a:lnB cap="flat" cmpd="sng" w="9525">
                      <a:solidFill>
                        <a:srgbClr val="E0E1E6"/>
                      </a:solidFill>
                      <a:prstDash val="solid"/>
                      <a:round/>
                      <a:headEnd len="sm" w="sm" type="none"/>
                      <a:tailEnd len="sm" w="sm" type="none"/>
                    </a:lnB>
                  </a:tcPr>
                </a:tc>
              </a:tr>
            </a:tbl>
          </a:graphicData>
        </a:graphic>
      </p:graphicFrame>
      <p:sp>
        <p:nvSpPr>
          <p:cNvPr id="237" name="Google Shape;237;p12"/>
          <p:cNvSpPr/>
          <p:nvPr/>
        </p:nvSpPr>
        <p:spPr>
          <a:xfrm>
            <a:off x="8641080" y="1508760"/>
            <a:ext cx="2999232" cy="1371600"/>
          </a:xfrm>
          <a:prstGeom prst="roundRect">
            <a:avLst>
              <a:gd fmla="val 6667" name="adj"/>
            </a:avLst>
          </a:prstGeom>
          <a:solidFill>
            <a:srgbClr val="F9F9FB"/>
          </a:solidFill>
          <a:ln cap="flat" cmpd="sng" w="9525">
            <a:solidFill>
              <a:srgbClr val="E0E1E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38" name="Google Shape;238;p12"/>
          <p:cNvSpPr/>
          <p:nvPr/>
        </p:nvSpPr>
        <p:spPr>
          <a:xfrm>
            <a:off x="8842248" y="1709928"/>
            <a:ext cx="566928" cy="566928"/>
          </a:xfrm>
          <a:prstGeom prst="ellipse">
            <a:avLst/>
          </a:prstGeom>
          <a:solidFill>
            <a:srgbClr val="3657C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239" name="Google Shape;239;p12"/>
          <p:cNvPicPr preferRelativeResize="0"/>
          <p:nvPr/>
        </p:nvPicPr>
        <p:blipFill rotWithShape="1">
          <a:blip r:embed="rId3">
            <a:alphaModFix/>
          </a:blip>
          <a:srcRect b="0" l="0" r="0" t="0"/>
          <a:stretch/>
        </p:blipFill>
        <p:spPr>
          <a:xfrm>
            <a:off x="8970264" y="1837944"/>
            <a:ext cx="310896" cy="310896"/>
          </a:xfrm>
          <a:prstGeom prst="rect">
            <a:avLst/>
          </a:prstGeom>
          <a:noFill/>
          <a:ln>
            <a:noFill/>
          </a:ln>
        </p:spPr>
      </p:pic>
      <p:sp>
        <p:nvSpPr>
          <p:cNvPr id="240" name="Google Shape;240;p12"/>
          <p:cNvSpPr txBox="1"/>
          <p:nvPr/>
        </p:nvSpPr>
        <p:spPr>
          <a:xfrm>
            <a:off x="9555480" y="1691640"/>
            <a:ext cx="1901952"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2"/>
              </a:buClr>
              <a:buSzPts val="1600"/>
              <a:buFont typeface="Quattrocento Sans"/>
              <a:buNone/>
            </a:pPr>
            <a:r>
              <a:rPr b="1" i="0" lang="en-US" spc="0" sz="1600" u="none" cap="none" strike="noStrike">
                <a:solidFill>
                  <a:schemeClr val="dk2"/>
                </a:solidFill>
                <a:latin typeface="Quattrocento Sans"/>
                <a:ea typeface="Quattrocento Sans"/>
                <a:cs typeface="Quattrocento Sans"/>
                <a:sym typeface="Quattrocento Sans"/>
              </a:rPr>
              <a:t>Cœur</a:t>
            </a:r>
            <a:endParaRPr b="0" i="0" spc="0" sz="1600" u="none" cap="none" strike="noStrike">
              <a:solidFill>
                <a:schemeClr val="dk1"/>
              </a:solidFill>
              <a:latin typeface="Quattrocento Sans"/>
              <a:ea typeface="Quattrocento Sans"/>
              <a:cs typeface="Quattrocento Sans"/>
              <a:sym typeface="Quattrocento Sans"/>
            </a:endParaRPr>
          </a:p>
        </p:txBody>
      </p:sp>
      <p:sp>
        <p:nvSpPr>
          <p:cNvPr id="241" name="Google Shape;241;p12"/>
          <p:cNvSpPr txBox="1"/>
          <p:nvPr/>
        </p:nvSpPr>
        <p:spPr>
          <a:xfrm>
            <a:off x="9555480" y="2167128"/>
            <a:ext cx="1901952" cy="594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300"/>
              <a:buFont typeface="Quattrocento Sans"/>
              <a:buNone/>
            </a:pPr>
            <a:r>
              <a:rPr b="0" i="0" lang="en-US" spc="0" sz="1300" u="none" cap="none" strike="noStrike">
                <a:solidFill>
                  <a:schemeClr val="dk1"/>
                </a:solidFill>
                <a:latin typeface="Quattrocento Sans"/>
                <a:ea typeface="Quattrocento Sans"/>
                <a:cs typeface="Quattrocento Sans"/>
                <a:sym typeface="Quattrocento Sans"/>
              </a:rPr>
              <a:t>un document → plusieurs passages</a:t>
            </a:r>
            <a:endParaRPr b="0" i="0" spc="0" sz="1300" u="none" cap="none" strike="noStrike">
              <a:solidFill>
                <a:schemeClr val="dk1"/>
              </a:solidFill>
              <a:latin typeface="Quattrocento Sans"/>
              <a:ea typeface="Quattrocento Sans"/>
              <a:cs typeface="Quattrocento Sans"/>
              <a:sym typeface="Quattrocento Sans"/>
            </a:endParaRPr>
          </a:p>
        </p:txBody>
      </p:sp>
      <p:sp>
        <p:nvSpPr>
          <p:cNvPr id="242" name="Google Shape;242;p12"/>
          <p:cNvSpPr/>
          <p:nvPr/>
        </p:nvSpPr>
        <p:spPr>
          <a:xfrm>
            <a:off x="8641080" y="3017520"/>
            <a:ext cx="2999232" cy="1371600"/>
          </a:xfrm>
          <a:prstGeom prst="roundRect">
            <a:avLst>
              <a:gd fmla="val 6667" name="adj"/>
            </a:avLst>
          </a:prstGeom>
          <a:solidFill>
            <a:srgbClr val="F9F9FB"/>
          </a:solidFill>
          <a:ln cap="flat" cmpd="sng" w="9525">
            <a:solidFill>
              <a:srgbClr val="E0E1E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43" name="Google Shape;243;p12"/>
          <p:cNvSpPr/>
          <p:nvPr/>
        </p:nvSpPr>
        <p:spPr>
          <a:xfrm>
            <a:off x="8842248" y="3218688"/>
            <a:ext cx="566928" cy="566928"/>
          </a:xfrm>
          <a:prstGeom prst="ellipse">
            <a:avLst/>
          </a:prstGeom>
          <a:solidFill>
            <a:srgbClr val="3657C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244" name="Google Shape;244;p12"/>
          <p:cNvPicPr preferRelativeResize="0"/>
          <p:nvPr/>
        </p:nvPicPr>
        <p:blipFill rotWithShape="1">
          <a:blip r:embed="rId4">
            <a:alphaModFix/>
          </a:blip>
          <a:srcRect b="0" l="0" r="0" t="0"/>
          <a:stretch/>
        </p:blipFill>
        <p:spPr>
          <a:xfrm>
            <a:off x="8970264" y="3346704"/>
            <a:ext cx="310896" cy="310896"/>
          </a:xfrm>
          <a:prstGeom prst="rect">
            <a:avLst/>
          </a:prstGeom>
          <a:noFill/>
          <a:ln>
            <a:noFill/>
          </a:ln>
        </p:spPr>
      </p:pic>
      <p:sp>
        <p:nvSpPr>
          <p:cNvPr id="245" name="Google Shape;245;p12"/>
          <p:cNvSpPr txBox="1"/>
          <p:nvPr/>
        </p:nvSpPr>
        <p:spPr>
          <a:xfrm>
            <a:off x="9555480" y="3200400"/>
            <a:ext cx="1901952"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2"/>
              </a:buClr>
              <a:buSzPts val="1600"/>
              <a:buFont typeface="Quattrocento Sans"/>
              <a:buNone/>
            </a:pPr>
            <a:r>
              <a:rPr b="1" i="0" lang="en-US" spc="0" sz="1600" u="none" cap="none" strike="noStrike">
                <a:solidFill>
                  <a:schemeClr val="dk2"/>
                </a:solidFill>
                <a:latin typeface="Quattrocento Sans"/>
                <a:ea typeface="Quattrocento Sans"/>
                <a:cs typeface="Quattrocento Sans"/>
                <a:sym typeface="Quattrocento Sans"/>
              </a:rPr>
              <a:t>Traçabilité</a:t>
            </a:r>
            <a:endParaRPr b="0" i="0" spc="0" sz="1600" u="none" cap="none" strike="noStrike">
              <a:solidFill>
                <a:schemeClr val="dk1"/>
              </a:solidFill>
              <a:latin typeface="Quattrocento Sans"/>
              <a:ea typeface="Quattrocento Sans"/>
              <a:cs typeface="Quattrocento Sans"/>
              <a:sym typeface="Quattrocento Sans"/>
            </a:endParaRPr>
          </a:p>
        </p:txBody>
      </p:sp>
      <p:sp>
        <p:nvSpPr>
          <p:cNvPr id="246" name="Google Shape;246;p12"/>
          <p:cNvSpPr txBox="1"/>
          <p:nvPr/>
        </p:nvSpPr>
        <p:spPr>
          <a:xfrm>
            <a:off x="9555480" y="3675888"/>
            <a:ext cx="1901952" cy="594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300"/>
              <a:buFont typeface="Quattrocento Sans"/>
              <a:buNone/>
            </a:pPr>
            <a:r>
              <a:rPr b="0" i="0" lang="en-US" spc="0" sz="1300" u="none" cap="none" strike="noStrike">
                <a:solidFill>
                  <a:schemeClr val="dk1"/>
                </a:solidFill>
                <a:latin typeface="Quattrocento Sans"/>
                <a:ea typeface="Quattrocento Sans"/>
                <a:cs typeface="Quattrocento Sans"/>
                <a:sym typeface="Quattrocento Sans"/>
              </a:rPr>
              <a:t>valeur, jugement → passage → page</a:t>
            </a:r>
            <a:endParaRPr b="0" i="0" spc="0" sz="1300" u="none" cap="none" strike="noStrike">
              <a:solidFill>
                <a:schemeClr val="dk1"/>
              </a:solidFill>
              <a:latin typeface="Quattrocento Sans"/>
              <a:ea typeface="Quattrocento Sans"/>
              <a:cs typeface="Quattrocento Sans"/>
              <a:sym typeface="Quattrocento Sans"/>
            </a:endParaRPr>
          </a:p>
        </p:txBody>
      </p:sp>
      <p:sp>
        <p:nvSpPr>
          <p:cNvPr id="247" name="Google Shape;247;p12"/>
          <p:cNvSpPr/>
          <p:nvPr/>
        </p:nvSpPr>
        <p:spPr>
          <a:xfrm>
            <a:off x="8641080" y="4526280"/>
            <a:ext cx="2999232" cy="1371600"/>
          </a:xfrm>
          <a:prstGeom prst="roundRect">
            <a:avLst>
              <a:gd fmla="val 6667" name="adj"/>
            </a:avLst>
          </a:prstGeom>
          <a:solidFill>
            <a:srgbClr val="F9F9FB"/>
          </a:solidFill>
          <a:ln cap="flat" cmpd="sng" w="9525">
            <a:solidFill>
              <a:srgbClr val="E0E1E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48" name="Google Shape;248;p12"/>
          <p:cNvSpPr/>
          <p:nvPr/>
        </p:nvSpPr>
        <p:spPr>
          <a:xfrm>
            <a:off x="8842248" y="4727448"/>
            <a:ext cx="566928" cy="566928"/>
          </a:xfrm>
          <a:prstGeom prst="ellipse">
            <a:avLst/>
          </a:prstGeom>
          <a:solidFill>
            <a:srgbClr val="B4441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249" name="Google Shape;249;p12"/>
          <p:cNvPicPr preferRelativeResize="0"/>
          <p:nvPr/>
        </p:nvPicPr>
        <p:blipFill rotWithShape="1">
          <a:blip r:embed="rId5">
            <a:alphaModFix/>
          </a:blip>
          <a:srcRect b="0" l="0" r="0" t="0"/>
          <a:stretch/>
        </p:blipFill>
        <p:spPr>
          <a:xfrm>
            <a:off x="8970264" y="4855464"/>
            <a:ext cx="310896" cy="310896"/>
          </a:xfrm>
          <a:prstGeom prst="rect">
            <a:avLst/>
          </a:prstGeom>
          <a:noFill/>
          <a:ln>
            <a:noFill/>
          </a:ln>
        </p:spPr>
      </p:pic>
      <p:sp>
        <p:nvSpPr>
          <p:cNvPr id="250" name="Google Shape;250;p12"/>
          <p:cNvSpPr txBox="1"/>
          <p:nvPr/>
        </p:nvSpPr>
        <p:spPr>
          <a:xfrm>
            <a:off x="9555480" y="4709160"/>
            <a:ext cx="1901952"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2"/>
              </a:buClr>
              <a:buSzPts val="1600"/>
              <a:buFont typeface="Quattrocento Sans"/>
              <a:buNone/>
            </a:pPr>
            <a:r>
              <a:rPr b="1" i="0" lang="en-US" spc="0" sz="1600" u="none" cap="none" strike="noStrike">
                <a:solidFill>
                  <a:schemeClr val="dk2"/>
                </a:solidFill>
                <a:latin typeface="Quattrocento Sans"/>
                <a:ea typeface="Quattrocento Sans"/>
                <a:cs typeface="Quattrocento Sans"/>
                <a:sym typeface="Quattrocento Sans"/>
              </a:rPr>
              <a:t>Intégrité</a:t>
            </a:r>
            <a:endParaRPr b="0" i="0" spc="0" sz="1600" u="none" cap="none" strike="noStrike">
              <a:solidFill>
                <a:schemeClr val="dk1"/>
              </a:solidFill>
              <a:latin typeface="Quattrocento Sans"/>
              <a:ea typeface="Quattrocento Sans"/>
              <a:cs typeface="Quattrocento Sans"/>
              <a:sym typeface="Quattrocento Sans"/>
            </a:endParaRPr>
          </a:p>
        </p:txBody>
      </p:sp>
      <p:sp>
        <p:nvSpPr>
          <p:cNvPr id="251" name="Google Shape;251;p12"/>
          <p:cNvSpPr txBox="1"/>
          <p:nvPr/>
        </p:nvSpPr>
        <p:spPr>
          <a:xfrm>
            <a:off x="9555480" y="5184648"/>
            <a:ext cx="1901952" cy="594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300"/>
              <a:buFont typeface="Quattrocento Sans"/>
              <a:buNone/>
            </a:pPr>
            <a:r>
              <a:rPr b="0" i="0" lang="en-US" spc="0" sz="1300" u="none" cap="none" strike="noStrike">
                <a:solidFill>
                  <a:schemeClr val="dk1"/>
                </a:solidFill>
                <a:latin typeface="Quattrocento Sans"/>
                <a:ea typeface="Quattrocento Sans"/>
                <a:cs typeface="Quattrocento Sans"/>
                <a:sym typeface="Quattrocento Sans"/>
              </a:rPr>
              <a:t>clés étrangères, suppression en cascade</a:t>
            </a:r>
            <a:endParaRPr b="0" i="0" spc="0" sz="1300" u="none" cap="none" strike="noStrike">
              <a:solidFill>
                <a:schemeClr val="dk1"/>
              </a:solidFill>
              <a:latin typeface="Quattrocento Sans"/>
              <a:ea typeface="Quattrocento Sans"/>
              <a:cs typeface="Quattrocento Sans"/>
              <a:sym typeface="Quattrocento Sans"/>
            </a:endParaRPr>
          </a:p>
        </p:txBody>
      </p:sp>
      <p:sp>
        <p:nvSpPr>
          <p:cNvPr id="252" name="Google Shape;252;p12"/>
          <p:cNvSpPr txBox="1"/>
          <p:nvPr>
            <p:ph idx="4294967295" type="sldNum"/>
          </p:nvPr>
        </p:nvSpPr>
        <p:spPr>
          <a:xfrm>
            <a:off x="11185855" y="6428232"/>
            <a:ext cx="45720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100"/>
              <a:buNone/>
            </a:pPr>
            <a:fld id="{00000000-1234-1234-1234-123412341234}" type="slidenum">
              <a:rPr b="0" i="0" lang="en-US" sz="1100" u="none" cap="none" strike="noStrike">
                <a:solidFill>
                  <a:schemeClr val="accent4"/>
                </a:solidFill>
                <a:latin typeface="Quattrocento Sans"/>
                <a:ea typeface="Quattrocento Sans"/>
                <a:cs typeface="Quattrocento Sans"/>
                <a:sym typeface="Quattrocento Sans"/>
              </a:rPr>
              <a:t>‹#›</a:t>
            </a:fld>
            <a:endParaRPr b="0" i="0" sz="1100" u="none" cap="none" strike="noStrike">
              <a:solidFill>
                <a:schemeClr val="accent4"/>
              </a:solidFill>
              <a:latin typeface="Quattrocento Sans"/>
              <a:ea typeface="Quattrocento Sans"/>
              <a:cs typeface="Quattrocento Sans"/>
              <a:sym typeface="Quattrocento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13"/>
          <p:cNvSpPr txBox="1"/>
          <p:nvPr/>
        </p:nvSpPr>
        <p:spPr>
          <a:xfrm>
            <a:off x="548640" y="274320"/>
            <a:ext cx="73152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200"/>
              <a:buFont typeface="Quattrocento Sans"/>
              <a:buNone/>
            </a:pPr>
            <a:r>
              <a:rPr b="1" i="0" lang="en-US" spc="200" sz="1200" u="none" cap="none" strike="noStrike">
                <a:solidFill>
                  <a:schemeClr val="accent1"/>
                </a:solidFill>
                <a:latin typeface="Quattrocento Sans"/>
                <a:ea typeface="Quattrocento Sans"/>
                <a:cs typeface="Quattrocento Sans"/>
                <a:sym typeface="Quattrocento Sans"/>
              </a:rPr>
              <a:t>DIAGRAMME UML</a:t>
            </a:r>
            <a:endParaRPr b="0" i="0" spc="0" sz="1200" u="none" cap="none" strike="noStrike">
              <a:solidFill>
                <a:schemeClr val="dk1"/>
              </a:solidFill>
              <a:latin typeface="Quattrocento Sans"/>
              <a:ea typeface="Quattrocento Sans"/>
              <a:cs typeface="Quattrocento Sans"/>
              <a:sym typeface="Quattrocento Sans"/>
            </a:endParaRPr>
          </a:p>
        </p:txBody>
      </p:sp>
      <p:sp>
        <p:nvSpPr>
          <p:cNvPr id="259" name="Google Shape;259;p13"/>
          <p:cNvSpPr txBox="1"/>
          <p:nvPr>
            <p:ph type="title"/>
          </p:nvPr>
        </p:nvSpPr>
        <p:spPr>
          <a:xfrm>
            <a:off x="548640" y="566928"/>
            <a:ext cx="11094415" cy="7772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2"/>
              </a:buClr>
              <a:buSzPts val="2800"/>
              <a:buFont typeface="Quattrocento Sans"/>
              <a:buNone/>
            </a:pPr>
            <a:r>
              <a:rPr b="1" lang="en-US" sz="2800">
                <a:solidFill>
                  <a:schemeClr val="dk2"/>
                </a:solidFill>
              </a:rPr>
              <a:t>Le modèle de données prévu : tables, clés et multiplicités</a:t>
            </a:r>
            <a:endParaRPr sz="2800"/>
          </a:p>
        </p:txBody>
      </p:sp>
      <p:sp>
        <p:nvSpPr>
          <p:cNvPr id="260" name="Google Shape;260;p13"/>
          <p:cNvSpPr/>
          <p:nvPr/>
        </p:nvSpPr>
        <p:spPr>
          <a:xfrm>
            <a:off x="8991295" y="219456"/>
            <a:ext cx="2651760" cy="329184"/>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61" name="Google Shape;261;p13"/>
          <p:cNvSpPr txBox="1"/>
          <p:nvPr/>
        </p:nvSpPr>
        <p:spPr>
          <a:xfrm>
            <a:off x="8991295" y="219456"/>
            <a:ext cx="2651760" cy="32918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2"/>
              </a:buClr>
              <a:buSzPts val="1150"/>
              <a:buFont typeface="Quattrocento Sans"/>
              <a:buNone/>
            </a:pPr>
            <a:r>
              <a:rPr b="1" i="0" lang="en-US" spc="0" sz="1150" u="none" cap="none" strike="noStrike">
                <a:solidFill>
                  <a:schemeClr val="dk2"/>
                </a:solidFill>
                <a:latin typeface="Quattrocento Sans"/>
                <a:ea typeface="Quattrocento Sans"/>
                <a:cs typeface="Quattrocento Sans"/>
                <a:sym typeface="Quattrocento Sans"/>
              </a:rPr>
              <a:t>Personne 5 · Fonctionnement</a:t>
            </a:r>
            <a:endParaRPr b="0" i="0" spc="0" sz="1150" u="none" cap="none" strike="noStrike">
              <a:solidFill>
                <a:schemeClr val="dk1"/>
              </a:solidFill>
              <a:latin typeface="Quattrocento Sans"/>
              <a:ea typeface="Quattrocento Sans"/>
              <a:cs typeface="Quattrocento Sans"/>
              <a:sym typeface="Quattrocento Sans"/>
            </a:endParaRPr>
          </a:p>
        </p:txBody>
      </p:sp>
      <p:pic>
        <p:nvPicPr>
          <p:cNvPr descr="Diagramme UML du modèle de données prévu" id="262" name="Google Shape;262;p13"/>
          <p:cNvPicPr preferRelativeResize="0"/>
          <p:nvPr/>
        </p:nvPicPr>
        <p:blipFill rotWithShape="1">
          <a:blip r:embed="rId3">
            <a:alphaModFix/>
          </a:blip>
          <a:srcRect b="0" l="0" r="0" t="0"/>
          <a:stretch/>
        </p:blipFill>
        <p:spPr>
          <a:xfrm>
            <a:off x="548640" y="1463040"/>
            <a:ext cx="7572375" cy="4846320"/>
          </a:xfrm>
          <a:prstGeom prst="rect">
            <a:avLst/>
          </a:prstGeom>
          <a:noFill/>
          <a:ln>
            <a:noFill/>
          </a:ln>
        </p:spPr>
      </p:pic>
      <p:sp>
        <p:nvSpPr>
          <p:cNvPr id="263" name="Google Shape;263;p13"/>
          <p:cNvSpPr txBox="1"/>
          <p:nvPr/>
        </p:nvSpPr>
        <p:spPr>
          <a:xfrm>
            <a:off x="8458200" y="1645920"/>
            <a:ext cx="3182112" cy="4389120"/>
          </a:xfrm>
          <a:prstGeom prst="rect">
            <a:avLst/>
          </a:prstGeom>
          <a:noFill/>
          <a:ln>
            <a:noFill/>
          </a:ln>
        </p:spPr>
        <p:txBody>
          <a:bodyPr anchorCtr="0" anchor="t" bIns="0" lIns="0" spcFirstLastPara="1" rIns="0" wrap="square" tIns="0">
            <a:noAutofit/>
          </a:bodyPr>
          <a:lstStyle/>
          <a:p>
            <a:pPr indent="-203200" lvl="0" marL="203200" marR="0" rtl="0" algn="l">
              <a:lnSpc>
                <a:spcPct val="100000"/>
              </a:lnSpc>
              <a:spcBef>
                <a:spcPts val="0"/>
              </a:spcBef>
              <a:spcAft>
                <a:spcPts val="0"/>
              </a:spcAft>
              <a:buClr>
                <a:schemeClr val="dk1"/>
              </a:buClr>
              <a:buSzPts val="1400"/>
              <a:buFont typeface="Quattrocento Sans"/>
              <a:buChar char="•"/>
            </a:pPr>
            <a:r>
              <a:rPr b="0" i="0" lang="en-US" spc="0" sz="1400" u="none" cap="none" strike="noStrike">
                <a:solidFill>
                  <a:schemeClr val="dk1"/>
                </a:solidFill>
                <a:latin typeface="Quattrocento Sans"/>
                <a:ea typeface="Quattrocento Sans"/>
                <a:cs typeface="Quattrocento Sans"/>
                <a:sym typeface="Quattrocento Sans"/>
              </a:rPr>
              <a:t>Deux classes centrales : documents et passages</a:t>
            </a:r>
            <a:endParaRPr b="0" i="0" spc="0" sz="1400" u="none" cap="none" strike="noStrike">
              <a:solidFill>
                <a:schemeClr val="dk1"/>
              </a:solidFill>
              <a:latin typeface="Quattrocento Sans"/>
              <a:ea typeface="Quattrocento Sans"/>
              <a:cs typeface="Quattrocento Sans"/>
              <a:sym typeface="Quattrocento Sans"/>
            </a:endParaRPr>
          </a:p>
          <a:p>
            <a:pPr indent="-203200" lvl="0" marL="203200" marR="0" rtl="0" algn="l">
              <a:lnSpc>
                <a:spcPct val="100000"/>
              </a:lnSpc>
              <a:spcBef>
                <a:spcPts val="600"/>
              </a:spcBef>
              <a:spcAft>
                <a:spcPts val="0"/>
              </a:spcAft>
              <a:buClr>
                <a:schemeClr val="dk1"/>
              </a:buClr>
              <a:buSzPts val="1400"/>
              <a:buFont typeface="Quattrocento Sans"/>
              <a:buChar char="•"/>
            </a:pPr>
            <a:r>
              <a:rPr b="0" i="0" lang="en-US" spc="0" sz="1400" u="none" cap="none" strike="noStrike">
                <a:solidFill>
                  <a:schemeClr val="dk1"/>
                </a:solidFill>
                <a:latin typeface="Quattrocento Sans"/>
                <a:ea typeface="Quattrocento Sans"/>
                <a:cs typeface="Quattrocento Sans"/>
                <a:sym typeface="Quattrocento Sans"/>
              </a:rPr>
              <a:t>PK : clé primaire · FK : clé étrangère</a:t>
            </a:r>
            <a:endParaRPr b="0" i="0" spc="0" sz="1400" u="none" cap="none" strike="noStrike">
              <a:solidFill>
                <a:schemeClr val="dk1"/>
              </a:solidFill>
              <a:latin typeface="Quattrocento Sans"/>
              <a:ea typeface="Quattrocento Sans"/>
              <a:cs typeface="Quattrocento Sans"/>
              <a:sym typeface="Quattrocento Sans"/>
            </a:endParaRPr>
          </a:p>
          <a:p>
            <a:pPr indent="-203200" lvl="0" marL="203200" marR="0" rtl="0" algn="l">
              <a:lnSpc>
                <a:spcPct val="100000"/>
              </a:lnSpc>
              <a:spcBef>
                <a:spcPts val="600"/>
              </a:spcBef>
              <a:spcAft>
                <a:spcPts val="0"/>
              </a:spcAft>
              <a:buClr>
                <a:schemeClr val="dk1"/>
              </a:buClr>
              <a:buSzPts val="1400"/>
              <a:buFont typeface="Quattrocento Sans"/>
              <a:buChar char="•"/>
            </a:pPr>
            <a:r>
              <a:rPr b="0" i="0" lang="en-US" spc="0" sz="1400" u="none" cap="none" strike="noStrike">
                <a:solidFill>
                  <a:schemeClr val="dk1"/>
                </a:solidFill>
                <a:latin typeface="Quattrocento Sans"/>
                <a:ea typeface="Quattrocento Sans"/>
                <a:cs typeface="Quattrocento Sans"/>
                <a:sym typeface="Quattrocento Sans"/>
              </a:rPr>
              <a:t>Multiplicités : 1, 0..1, 0..*, 1..*</a:t>
            </a:r>
            <a:endParaRPr b="0" i="0" spc="0" sz="1400" u="none" cap="none" strike="noStrike">
              <a:solidFill>
                <a:schemeClr val="dk1"/>
              </a:solidFill>
              <a:latin typeface="Quattrocento Sans"/>
              <a:ea typeface="Quattrocento Sans"/>
              <a:cs typeface="Quattrocento Sans"/>
              <a:sym typeface="Quattrocento Sans"/>
            </a:endParaRPr>
          </a:p>
          <a:p>
            <a:pPr indent="-203200" lvl="0" marL="203200" marR="0" rtl="0" algn="l">
              <a:lnSpc>
                <a:spcPct val="100000"/>
              </a:lnSpc>
              <a:spcBef>
                <a:spcPts val="600"/>
              </a:spcBef>
              <a:spcAft>
                <a:spcPts val="0"/>
              </a:spcAft>
              <a:buClr>
                <a:schemeClr val="dk1"/>
              </a:buClr>
              <a:buSzPts val="1400"/>
              <a:buFont typeface="Quattrocento Sans"/>
              <a:buChar char="•"/>
            </a:pPr>
            <a:r>
              <a:rPr b="0" i="0" lang="en-US" spc="0" sz="1400" u="none" cap="none" strike="noStrike">
                <a:solidFill>
                  <a:schemeClr val="dk1"/>
                </a:solidFill>
                <a:latin typeface="Quattrocento Sans"/>
                <a:ea typeface="Quattrocento Sans"/>
                <a:cs typeface="Quattrocento Sans"/>
                <a:sym typeface="Quattrocento Sans"/>
              </a:rPr>
              <a:t>Trait plein : clé étrangère · pointillés : lien logique</a:t>
            </a:r>
            <a:endParaRPr b="0" i="0" spc="0" sz="1400" u="none" cap="none" strike="noStrike">
              <a:solidFill>
                <a:schemeClr val="dk1"/>
              </a:solidFill>
              <a:latin typeface="Quattrocento Sans"/>
              <a:ea typeface="Quattrocento Sans"/>
              <a:cs typeface="Quattrocento Sans"/>
              <a:sym typeface="Quattrocento Sans"/>
            </a:endParaRPr>
          </a:p>
          <a:p>
            <a:pPr indent="-203200" lvl="0" marL="203200" marR="0" rtl="0" algn="l">
              <a:lnSpc>
                <a:spcPct val="100000"/>
              </a:lnSpc>
              <a:spcBef>
                <a:spcPts val="600"/>
              </a:spcBef>
              <a:spcAft>
                <a:spcPts val="0"/>
              </a:spcAft>
              <a:buClr>
                <a:schemeClr val="dk1"/>
              </a:buClr>
              <a:buSzPts val="1400"/>
              <a:buFont typeface="Quattrocento Sans"/>
              <a:buChar char="•"/>
            </a:pPr>
            <a:r>
              <a:rPr b="0" i="0" lang="en-US" spc="0" sz="1400" u="none" cap="none" strike="noStrike">
                <a:solidFill>
                  <a:schemeClr val="dk1"/>
                </a:solidFill>
                <a:latin typeface="Quattrocento Sans"/>
                <a:ea typeface="Quattrocento Sans"/>
                <a:cs typeface="Quattrocento Sans"/>
                <a:sym typeface="Quattrocento Sans"/>
              </a:rPr>
              <a:t>analyses_rapides : séparée du corpus</a:t>
            </a:r>
            <a:endParaRPr b="0" i="0" spc="0" sz="1400" u="none" cap="none" strike="noStrike">
              <a:solidFill>
                <a:schemeClr val="dk1"/>
              </a:solidFill>
              <a:latin typeface="Quattrocento Sans"/>
              <a:ea typeface="Quattrocento Sans"/>
              <a:cs typeface="Quattrocento Sans"/>
              <a:sym typeface="Quattrocento Sans"/>
            </a:endParaRPr>
          </a:p>
        </p:txBody>
      </p:sp>
      <p:sp>
        <p:nvSpPr>
          <p:cNvPr id="264" name="Google Shape;264;p13"/>
          <p:cNvSpPr txBox="1"/>
          <p:nvPr>
            <p:ph idx="4294967295" type="sldNum"/>
          </p:nvPr>
        </p:nvSpPr>
        <p:spPr>
          <a:xfrm>
            <a:off x="11185855" y="6428232"/>
            <a:ext cx="45720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100"/>
              <a:buNone/>
            </a:pPr>
            <a:fld id="{00000000-1234-1234-1234-123412341234}" type="slidenum">
              <a:rPr b="0" i="0" lang="en-US" sz="1100" u="none" cap="none" strike="noStrike">
                <a:solidFill>
                  <a:schemeClr val="accent4"/>
                </a:solidFill>
                <a:latin typeface="Quattrocento Sans"/>
                <a:ea typeface="Quattrocento Sans"/>
                <a:cs typeface="Quattrocento Sans"/>
                <a:sym typeface="Quattrocento Sans"/>
              </a:rPr>
              <a:t>‹#›</a:t>
            </a:fld>
            <a:endParaRPr b="0" i="0" sz="1100" u="none" cap="none" strike="noStrike">
              <a:solidFill>
                <a:schemeClr val="accent4"/>
              </a:solidFill>
              <a:latin typeface="Quattrocento Sans"/>
              <a:ea typeface="Quattrocento Sans"/>
              <a:cs typeface="Quattrocento Sans"/>
              <a:sym typeface="Quattrocento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14"/>
          <p:cNvSpPr txBox="1"/>
          <p:nvPr/>
        </p:nvSpPr>
        <p:spPr>
          <a:xfrm>
            <a:off x="548640" y="274320"/>
            <a:ext cx="73152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200"/>
              <a:buFont typeface="Quattrocento Sans"/>
              <a:buNone/>
            </a:pPr>
            <a:r>
              <a:rPr b="1" i="0" lang="en-US" spc="200" sz="1200" u="none" cap="none" strike="noStrike">
                <a:solidFill>
                  <a:schemeClr val="accent1"/>
                </a:solidFill>
                <a:latin typeface="Quattrocento Sans"/>
                <a:ea typeface="Quattrocento Sans"/>
                <a:cs typeface="Quattrocento Sans"/>
                <a:sym typeface="Quattrocento Sans"/>
              </a:rPr>
              <a:t>FONCTIONNEMENT PRÉVU</a:t>
            </a:r>
            <a:endParaRPr b="0" i="0" spc="0" sz="1200" u="none" cap="none" strike="noStrike">
              <a:solidFill>
                <a:schemeClr val="dk1"/>
              </a:solidFill>
              <a:latin typeface="Quattrocento Sans"/>
              <a:ea typeface="Quattrocento Sans"/>
              <a:cs typeface="Quattrocento Sans"/>
              <a:sym typeface="Quattrocento Sans"/>
            </a:endParaRPr>
          </a:p>
        </p:txBody>
      </p:sp>
      <p:sp>
        <p:nvSpPr>
          <p:cNvPr id="271" name="Google Shape;271;p14"/>
          <p:cNvSpPr txBox="1"/>
          <p:nvPr>
            <p:ph type="title"/>
          </p:nvPr>
        </p:nvSpPr>
        <p:spPr>
          <a:xfrm>
            <a:off x="548640" y="566928"/>
            <a:ext cx="11094415" cy="7772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2"/>
              </a:buClr>
              <a:buSzPts val="2800"/>
              <a:buFont typeface="Quattrocento Sans"/>
              <a:buNone/>
            </a:pPr>
            <a:r>
              <a:rPr b="1" lang="en-US" sz="2800">
                <a:solidFill>
                  <a:schemeClr val="dk2"/>
                </a:solidFill>
              </a:rPr>
              <a:t>Du dépôt d'un rapport à un verdict justifié</a:t>
            </a:r>
            <a:endParaRPr sz="2800"/>
          </a:p>
        </p:txBody>
      </p:sp>
      <p:sp>
        <p:nvSpPr>
          <p:cNvPr id="272" name="Google Shape;272;p14"/>
          <p:cNvSpPr/>
          <p:nvPr/>
        </p:nvSpPr>
        <p:spPr>
          <a:xfrm>
            <a:off x="8991295" y="219456"/>
            <a:ext cx="2651760" cy="329184"/>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73" name="Google Shape;273;p14"/>
          <p:cNvSpPr txBox="1"/>
          <p:nvPr/>
        </p:nvSpPr>
        <p:spPr>
          <a:xfrm>
            <a:off x="8991295" y="219456"/>
            <a:ext cx="2651760" cy="32918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2"/>
              </a:buClr>
              <a:buSzPts val="1150"/>
              <a:buFont typeface="Quattrocento Sans"/>
              <a:buNone/>
            </a:pPr>
            <a:r>
              <a:rPr b="1" i="0" lang="en-US" spc="0" sz="1150" u="none" cap="none" strike="noStrike">
                <a:solidFill>
                  <a:schemeClr val="dk2"/>
                </a:solidFill>
                <a:latin typeface="Quattrocento Sans"/>
                <a:ea typeface="Quattrocento Sans"/>
                <a:cs typeface="Quattrocento Sans"/>
                <a:sym typeface="Quattrocento Sans"/>
              </a:rPr>
              <a:t>Personne 5 · Fonctionnement</a:t>
            </a:r>
            <a:endParaRPr b="0" i="0" spc="0" sz="1150" u="none" cap="none" strike="noStrike">
              <a:solidFill>
                <a:schemeClr val="dk1"/>
              </a:solidFill>
              <a:latin typeface="Quattrocento Sans"/>
              <a:ea typeface="Quattrocento Sans"/>
              <a:cs typeface="Quattrocento Sans"/>
              <a:sym typeface="Quattrocento Sans"/>
            </a:endParaRPr>
          </a:p>
        </p:txBody>
      </p:sp>
      <p:sp>
        <p:nvSpPr>
          <p:cNvPr id="274" name="Google Shape;274;p14"/>
          <p:cNvSpPr txBox="1"/>
          <p:nvPr/>
        </p:nvSpPr>
        <p:spPr>
          <a:xfrm>
            <a:off x="548640" y="1536192"/>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4"/>
              </a:buClr>
              <a:buSzPts val="1200"/>
              <a:buFont typeface="Quattrocento Sans"/>
              <a:buNone/>
            </a:pPr>
            <a:r>
              <a:rPr b="1" i="0" lang="en-US" spc="200" sz="1200" u="none" cap="none" strike="noStrike">
                <a:solidFill>
                  <a:schemeClr val="accent4"/>
                </a:solidFill>
                <a:latin typeface="Quattrocento Sans"/>
                <a:ea typeface="Quattrocento Sans"/>
                <a:cs typeface="Quattrocento Sans"/>
                <a:sym typeface="Quattrocento Sans"/>
              </a:rPr>
              <a:t>PARCOURS UTILISATEUR</a:t>
            </a:r>
            <a:endParaRPr b="0" i="0" spc="0" sz="1200" u="none" cap="none" strike="noStrike">
              <a:solidFill>
                <a:schemeClr val="dk1"/>
              </a:solidFill>
              <a:latin typeface="Quattrocento Sans"/>
              <a:ea typeface="Quattrocento Sans"/>
              <a:cs typeface="Quattrocento Sans"/>
              <a:sym typeface="Quattrocento Sans"/>
            </a:endParaRPr>
          </a:p>
        </p:txBody>
      </p:sp>
      <p:sp>
        <p:nvSpPr>
          <p:cNvPr id="275" name="Google Shape;275;p14"/>
          <p:cNvSpPr/>
          <p:nvPr/>
        </p:nvSpPr>
        <p:spPr>
          <a:xfrm>
            <a:off x="548640" y="1965960"/>
            <a:ext cx="530352" cy="530352"/>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76" name="Google Shape;276;p14"/>
          <p:cNvSpPr txBox="1"/>
          <p:nvPr/>
        </p:nvSpPr>
        <p:spPr>
          <a:xfrm>
            <a:off x="548640" y="1965960"/>
            <a:ext cx="530352" cy="53035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800"/>
              <a:buFont typeface="Quattrocento Sans"/>
              <a:buNone/>
            </a:pPr>
            <a:r>
              <a:rPr b="1" i="0" lang="en-US" spc="0" sz="1800" u="none" cap="none" strike="noStrike">
                <a:solidFill>
                  <a:schemeClr val="lt1"/>
                </a:solidFill>
                <a:latin typeface="Quattrocento Sans"/>
                <a:ea typeface="Quattrocento Sans"/>
                <a:cs typeface="Quattrocento Sans"/>
                <a:sym typeface="Quattrocento Sans"/>
              </a:rPr>
              <a:t>1</a:t>
            </a:r>
            <a:endParaRPr b="0" i="0" spc="0" sz="1800" u="none" cap="none" strike="noStrike">
              <a:solidFill>
                <a:schemeClr val="dk1"/>
              </a:solidFill>
              <a:latin typeface="Quattrocento Sans"/>
              <a:ea typeface="Quattrocento Sans"/>
              <a:cs typeface="Quattrocento Sans"/>
              <a:sym typeface="Quattrocento Sans"/>
            </a:endParaRPr>
          </a:p>
        </p:txBody>
      </p:sp>
      <p:sp>
        <p:nvSpPr>
          <p:cNvPr id="277" name="Google Shape;277;p14"/>
          <p:cNvSpPr txBox="1"/>
          <p:nvPr/>
        </p:nvSpPr>
        <p:spPr>
          <a:xfrm>
            <a:off x="1261872" y="1874520"/>
            <a:ext cx="4663440" cy="7315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2"/>
              </a:buClr>
              <a:buSzPts val="1600"/>
              <a:buFont typeface="Quattrocento Sans"/>
              <a:buNone/>
            </a:pPr>
            <a:r>
              <a:rPr b="1" i="0" lang="en-US" spc="0" sz="1600" u="none" cap="none" strike="noStrike">
                <a:solidFill>
                  <a:schemeClr val="dk2"/>
                </a:solidFill>
                <a:latin typeface="Quattrocento Sans"/>
                <a:ea typeface="Quattrocento Sans"/>
                <a:cs typeface="Quattrocento Sans"/>
                <a:sym typeface="Quattrocento Sans"/>
              </a:rPr>
              <a:t>Déposer</a:t>
            </a:r>
            <a:endParaRPr b="0" i="0" spc="0" sz="1600" u="none" cap="none" strike="noStrike">
              <a:solidFill>
                <a:schemeClr val="dk1"/>
              </a:solidFill>
              <a:latin typeface="Quattrocento Sans"/>
              <a:ea typeface="Quattrocento Sans"/>
              <a:cs typeface="Quattrocento Sans"/>
              <a:sym typeface="Quattrocento Sans"/>
            </a:endParaRPr>
          </a:p>
          <a:p>
            <a:pPr indent="0" lvl="0" marL="0" marR="0" rtl="0" algn="l">
              <a:lnSpc>
                <a:spcPct val="100000"/>
              </a:lnSpc>
              <a:spcBef>
                <a:spcPts val="0"/>
              </a:spcBef>
              <a:spcAft>
                <a:spcPts val="0"/>
              </a:spcAft>
              <a:buClr>
                <a:schemeClr val="accent4"/>
              </a:buClr>
              <a:buSzPts val="1300"/>
              <a:buFont typeface="Quattrocento Sans"/>
              <a:buNone/>
            </a:pPr>
            <a:r>
              <a:rPr b="0" i="0" lang="en-US" spc="0" sz="1300" u="none" cap="none" strike="noStrike">
                <a:solidFill>
                  <a:schemeClr val="accent4"/>
                </a:solidFill>
                <a:latin typeface="Quattrocento Sans"/>
                <a:ea typeface="Quattrocento Sans"/>
                <a:cs typeface="Quattrocento Sans"/>
                <a:sym typeface="Quattrocento Sans"/>
              </a:rPr>
              <a:t>un rapport complet, ou un court extrait</a:t>
            </a:r>
            <a:endParaRPr b="0" i="0" spc="0" sz="1600" u="none" cap="none" strike="noStrike">
              <a:solidFill>
                <a:schemeClr val="dk1"/>
              </a:solidFill>
              <a:latin typeface="Quattrocento Sans"/>
              <a:ea typeface="Quattrocento Sans"/>
              <a:cs typeface="Quattrocento Sans"/>
              <a:sym typeface="Quattrocento Sans"/>
            </a:endParaRPr>
          </a:p>
        </p:txBody>
      </p:sp>
      <p:sp>
        <p:nvSpPr>
          <p:cNvPr id="278" name="Google Shape;278;p14"/>
          <p:cNvSpPr/>
          <p:nvPr/>
        </p:nvSpPr>
        <p:spPr>
          <a:xfrm>
            <a:off x="548640" y="2880360"/>
            <a:ext cx="530352" cy="530352"/>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79" name="Google Shape;279;p14"/>
          <p:cNvSpPr txBox="1"/>
          <p:nvPr/>
        </p:nvSpPr>
        <p:spPr>
          <a:xfrm>
            <a:off x="548640" y="2880360"/>
            <a:ext cx="530352" cy="53035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800"/>
              <a:buFont typeface="Quattrocento Sans"/>
              <a:buNone/>
            </a:pPr>
            <a:r>
              <a:rPr b="1" i="0" lang="en-US" spc="0" sz="1800" u="none" cap="none" strike="noStrike">
                <a:solidFill>
                  <a:schemeClr val="lt1"/>
                </a:solidFill>
                <a:latin typeface="Quattrocento Sans"/>
                <a:ea typeface="Quattrocento Sans"/>
                <a:cs typeface="Quattrocento Sans"/>
                <a:sym typeface="Quattrocento Sans"/>
              </a:rPr>
              <a:t>2</a:t>
            </a:r>
            <a:endParaRPr b="0" i="0" spc="0" sz="1800" u="none" cap="none" strike="noStrike">
              <a:solidFill>
                <a:schemeClr val="dk1"/>
              </a:solidFill>
              <a:latin typeface="Quattrocento Sans"/>
              <a:ea typeface="Quattrocento Sans"/>
              <a:cs typeface="Quattrocento Sans"/>
              <a:sym typeface="Quattrocento Sans"/>
            </a:endParaRPr>
          </a:p>
        </p:txBody>
      </p:sp>
      <p:sp>
        <p:nvSpPr>
          <p:cNvPr id="280" name="Google Shape;280;p14"/>
          <p:cNvSpPr txBox="1"/>
          <p:nvPr/>
        </p:nvSpPr>
        <p:spPr>
          <a:xfrm>
            <a:off x="1261872" y="2788920"/>
            <a:ext cx="4663440" cy="7315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2"/>
              </a:buClr>
              <a:buSzPts val="1600"/>
              <a:buFont typeface="Quattrocento Sans"/>
              <a:buNone/>
            </a:pPr>
            <a:r>
              <a:rPr b="1" i="0" lang="en-US" spc="0" sz="1600" u="none" cap="none" strike="noStrike">
                <a:solidFill>
                  <a:schemeClr val="dk2"/>
                </a:solidFill>
                <a:latin typeface="Quattrocento Sans"/>
                <a:ea typeface="Quattrocento Sans"/>
                <a:cs typeface="Quattrocento Sans"/>
                <a:sym typeface="Quattrocento Sans"/>
              </a:rPr>
              <a:t>Traiter</a:t>
            </a:r>
            <a:endParaRPr b="0" i="0" spc="0" sz="1600" u="none" cap="none" strike="noStrike">
              <a:solidFill>
                <a:schemeClr val="dk1"/>
              </a:solidFill>
              <a:latin typeface="Quattrocento Sans"/>
              <a:ea typeface="Quattrocento Sans"/>
              <a:cs typeface="Quattrocento Sans"/>
              <a:sym typeface="Quattrocento Sans"/>
            </a:endParaRPr>
          </a:p>
          <a:p>
            <a:pPr indent="0" lvl="0" marL="0" marR="0" rtl="0" algn="l">
              <a:lnSpc>
                <a:spcPct val="100000"/>
              </a:lnSpc>
              <a:spcBef>
                <a:spcPts val="0"/>
              </a:spcBef>
              <a:spcAft>
                <a:spcPts val="0"/>
              </a:spcAft>
              <a:buClr>
                <a:schemeClr val="accent4"/>
              </a:buClr>
              <a:buSzPts val="1300"/>
              <a:buFont typeface="Quattrocento Sans"/>
              <a:buNone/>
            </a:pPr>
            <a:r>
              <a:rPr b="0" i="0" lang="en-US" spc="0" sz="1300" u="none" cap="none" strike="noStrike">
                <a:solidFill>
                  <a:schemeClr val="accent4"/>
                </a:solidFill>
                <a:latin typeface="Quattrocento Sans"/>
                <a:ea typeface="Quattrocento Sans"/>
                <a:cs typeface="Quattrocento Sans"/>
                <a:sym typeface="Quattrocento Sans"/>
              </a:rPr>
              <a:t>en arrière-plan : lecture, extraction, toxicité</a:t>
            </a:r>
            <a:endParaRPr b="0" i="0" spc="0" sz="1600" u="none" cap="none" strike="noStrike">
              <a:solidFill>
                <a:schemeClr val="dk1"/>
              </a:solidFill>
              <a:latin typeface="Quattrocento Sans"/>
              <a:ea typeface="Quattrocento Sans"/>
              <a:cs typeface="Quattrocento Sans"/>
              <a:sym typeface="Quattrocento Sans"/>
            </a:endParaRPr>
          </a:p>
        </p:txBody>
      </p:sp>
      <p:sp>
        <p:nvSpPr>
          <p:cNvPr id="281" name="Google Shape;281;p14"/>
          <p:cNvSpPr/>
          <p:nvPr/>
        </p:nvSpPr>
        <p:spPr>
          <a:xfrm>
            <a:off x="548640" y="3794760"/>
            <a:ext cx="530352" cy="530352"/>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82" name="Google Shape;282;p14"/>
          <p:cNvSpPr txBox="1"/>
          <p:nvPr/>
        </p:nvSpPr>
        <p:spPr>
          <a:xfrm>
            <a:off x="548640" y="3794760"/>
            <a:ext cx="530352" cy="53035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800"/>
              <a:buFont typeface="Quattrocento Sans"/>
              <a:buNone/>
            </a:pPr>
            <a:r>
              <a:rPr b="1" i="0" lang="en-US" spc="0" sz="1800" u="none" cap="none" strike="noStrike">
                <a:solidFill>
                  <a:schemeClr val="lt1"/>
                </a:solidFill>
                <a:latin typeface="Quattrocento Sans"/>
                <a:ea typeface="Quattrocento Sans"/>
                <a:cs typeface="Quattrocento Sans"/>
                <a:sym typeface="Quattrocento Sans"/>
              </a:rPr>
              <a:t>3</a:t>
            </a:r>
            <a:endParaRPr b="0" i="0" spc="0" sz="1800" u="none" cap="none" strike="noStrike">
              <a:solidFill>
                <a:schemeClr val="dk1"/>
              </a:solidFill>
              <a:latin typeface="Quattrocento Sans"/>
              <a:ea typeface="Quattrocento Sans"/>
              <a:cs typeface="Quattrocento Sans"/>
              <a:sym typeface="Quattrocento Sans"/>
            </a:endParaRPr>
          </a:p>
        </p:txBody>
      </p:sp>
      <p:sp>
        <p:nvSpPr>
          <p:cNvPr id="283" name="Google Shape;283;p14"/>
          <p:cNvSpPr txBox="1"/>
          <p:nvPr/>
        </p:nvSpPr>
        <p:spPr>
          <a:xfrm>
            <a:off x="1261872" y="3703320"/>
            <a:ext cx="4663440" cy="7315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2"/>
              </a:buClr>
              <a:buSzPts val="1600"/>
              <a:buFont typeface="Quattrocento Sans"/>
              <a:buNone/>
            </a:pPr>
            <a:r>
              <a:rPr b="1" i="0" lang="en-US" spc="0" sz="1600" u="none" cap="none" strike="noStrike">
                <a:solidFill>
                  <a:schemeClr val="dk2"/>
                </a:solidFill>
                <a:latin typeface="Quattrocento Sans"/>
                <a:ea typeface="Quattrocento Sans"/>
                <a:cs typeface="Quattrocento Sans"/>
                <a:sym typeface="Quattrocento Sans"/>
              </a:rPr>
              <a:t>Consulter</a:t>
            </a:r>
            <a:endParaRPr b="0" i="0" spc="0" sz="1600" u="none" cap="none" strike="noStrike">
              <a:solidFill>
                <a:schemeClr val="dk1"/>
              </a:solidFill>
              <a:latin typeface="Quattrocento Sans"/>
              <a:ea typeface="Quattrocento Sans"/>
              <a:cs typeface="Quattrocento Sans"/>
              <a:sym typeface="Quattrocento Sans"/>
            </a:endParaRPr>
          </a:p>
          <a:p>
            <a:pPr indent="0" lvl="0" marL="0" marR="0" rtl="0" algn="l">
              <a:lnSpc>
                <a:spcPct val="100000"/>
              </a:lnSpc>
              <a:spcBef>
                <a:spcPts val="0"/>
              </a:spcBef>
              <a:spcAft>
                <a:spcPts val="0"/>
              </a:spcAft>
              <a:buClr>
                <a:schemeClr val="accent4"/>
              </a:buClr>
              <a:buSzPts val="1300"/>
              <a:buFont typeface="Quattrocento Sans"/>
              <a:buNone/>
            </a:pPr>
            <a:r>
              <a:rPr b="0" i="0" lang="en-US" spc="0" sz="1300" u="none" cap="none" strike="noStrike">
                <a:solidFill>
                  <a:schemeClr val="accent4"/>
                </a:solidFill>
                <a:latin typeface="Quattrocento Sans"/>
                <a:ea typeface="Quattrocento Sans"/>
                <a:cs typeface="Quattrocento Sans"/>
                <a:sym typeface="Quattrocento Sans"/>
              </a:rPr>
              <a:t>dataset, verdict, passages en cause</a:t>
            </a:r>
            <a:endParaRPr b="0" i="0" spc="0" sz="1600" u="none" cap="none" strike="noStrike">
              <a:solidFill>
                <a:schemeClr val="dk1"/>
              </a:solidFill>
              <a:latin typeface="Quattrocento Sans"/>
              <a:ea typeface="Quattrocento Sans"/>
              <a:cs typeface="Quattrocento Sans"/>
              <a:sym typeface="Quattrocento Sans"/>
            </a:endParaRPr>
          </a:p>
        </p:txBody>
      </p:sp>
      <p:sp>
        <p:nvSpPr>
          <p:cNvPr id="284" name="Google Shape;284;p14"/>
          <p:cNvSpPr/>
          <p:nvPr/>
        </p:nvSpPr>
        <p:spPr>
          <a:xfrm>
            <a:off x="548640" y="4709160"/>
            <a:ext cx="530352" cy="530352"/>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85" name="Google Shape;285;p14"/>
          <p:cNvSpPr txBox="1"/>
          <p:nvPr/>
        </p:nvSpPr>
        <p:spPr>
          <a:xfrm>
            <a:off x="548640" y="4709160"/>
            <a:ext cx="530352" cy="53035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800"/>
              <a:buFont typeface="Quattrocento Sans"/>
              <a:buNone/>
            </a:pPr>
            <a:r>
              <a:rPr b="1" i="0" lang="en-US" spc="0" sz="1800" u="none" cap="none" strike="noStrike">
                <a:solidFill>
                  <a:schemeClr val="lt1"/>
                </a:solidFill>
                <a:latin typeface="Quattrocento Sans"/>
                <a:ea typeface="Quattrocento Sans"/>
                <a:cs typeface="Quattrocento Sans"/>
                <a:sym typeface="Quattrocento Sans"/>
              </a:rPr>
              <a:t>4</a:t>
            </a:r>
            <a:endParaRPr b="0" i="0" spc="0" sz="1800" u="none" cap="none" strike="noStrike">
              <a:solidFill>
                <a:schemeClr val="dk1"/>
              </a:solidFill>
              <a:latin typeface="Quattrocento Sans"/>
              <a:ea typeface="Quattrocento Sans"/>
              <a:cs typeface="Quattrocento Sans"/>
              <a:sym typeface="Quattrocento Sans"/>
            </a:endParaRPr>
          </a:p>
        </p:txBody>
      </p:sp>
      <p:sp>
        <p:nvSpPr>
          <p:cNvPr id="286" name="Google Shape;286;p14"/>
          <p:cNvSpPr txBox="1"/>
          <p:nvPr/>
        </p:nvSpPr>
        <p:spPr>
          <a:xfrm>
            <a:off x="1261872" y="4617720"/>
            <a:ext cx="4663440" cy="7315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2"/>
              </a:buClr>
              <a:buSzPts val="1600"/>
              <a:buFont typeface="Quattrocento Sans"/>
              <a:buNone/>
            </a:pPr>
            <a:r>
              <a:rPr b="1" i="0" lang="en-US" spc="0" sz="1600" u="none" cap="none" strike="noStrike">
                <a:solidFill>
                  <a:schemeClr val="dk2"/>
                </a:solidFill>
                <a:latin typeface="Quattrocento Sans"/>
                <a:ea typeface="Quattrocento Sans"/>
                <a:cs typeface="Quattrocento Sans"/>
                <a:sym typeface="Quattrocento Sans"/>
              </a:rPr>
              <a:t>Comparer et interroger</a:t>
            </a:r>
            <a:endParaRPr b="0" i="0" spc="0" sz="1600" u="none" cap="none" strike="noStrike">
              <a:solidFill>
                <a:schemeClr val="dk1"/>
              </a:solidFill>
              <a:latin typeface="Quattrocento Sans"/>
              <a:ea typeface="Quattrocento Sans"/>
              <a:cs typeface="Quattrocento Sans"/>
              <a:sym typeface="Quattrocento Sans"/>
            </a:endParaRPr>
          </a:p>
          <a:p>
            <a:pPr indent="0" lvl="0" marL="0" marR="0" rtl="0" algn="l">
              <a:lnSpc>
                <a:spcPct val="100000"/>
              </a:lnSpc>
              <a:spcBef>
                <a:spcPts val="0"/>
              </a:spcBef>
              <a:spcAft>
                <a:spcPts val="0"/>
              </a:spcAft>
              <a:buClr>
                <a:schemeClr val="accent4"/>
              </a:buClr>
              <a:buSzPts val="1300"/>
              <a:buFont typeface="Quattrocento Sans"/>
              <a:buNone/>
            </a:pPr>
            <a:r>
              <a:rPr b="0" i="0" lang="en-US" spc="0" sz="1300" u="none" cap="none" strike="noStrike">
                <a:solidFill>
                  <a:schemeClr val="accent4"/>
                </a:solidFill>
                <a:latin typeface="Quattrocento Sans"/>
                <a:ea typeface="Quattrocento Sans"/>
                <a:cs typeface="Quattrocento Sans"/>
                <a:sym typeface="Quattrocento Sans"/>
              </a:rPr>
              <a:t>tableau de bord, assistant questions-réponses</a:t>
            </a:r>
            <a:endParaRPr b="0" i="0" spc="0" sz="1600" u="none" cap="none" strike="noStrike">
              <a:solidFill>
                <a:schemeClr val="dk1"/>
              </a:solidFill>
              <a:latin typeface="Quattrocento Sans"/>
              <a:ea typeface="Quattrocento Sans"/>
              <a:cs typeface="Quattrocento Sans"/>
              <a:sym typeface="Quattrocento Sans"/>
            </a:endParaRPr>
          </a:p>
        </p:txBody>
      </p:sp>
      <p:sp>
        <p:nvSpPr>
          <p:cNvPr id="287" name="Google Shape;287;p14"/>
          <p:cNvSpPr/>
          <p:nvPr/>
        </p:nvSpPr>
        <p:spPr>
          <a:xfrm>
            <a:off x="6263640" y="1536192"/>
            <a:ext cx="5376672" cy="1280160"/>
          </a:xfrm>
          <a:prstGeom prst="roundRect">
            <a:avLst>
              <a:gd fmla="val 7143" name="adj"/>
            </a:avLst>
          </a:prstGeom>
          <a:solidFill>
            <a:srgbClr val="F9F9FB"/>
          </a:solidFill>
          <a:ln cap="flat" cmpd="sng" w="9525">
            <a:solidFill>
              <a:srgbClr val="E0E1E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88" name="Google Shape;288;p14"/>
          <p:cNvSpPr/>
          <p:nvPr/>
        </p:nvSpPr>
        <p:spPr>
          <a:xfrm>
            <a:off x="6464808" y="1737360"/>
            <a:ext cx="566928" cy="566928"/>
          </a:xfrm>
          <a:prstGeom prst="ellipse">
            <a:avLst/>
          </a:prstGeom>
          <a:solidFill>
            <a:srgbClr val="3657C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289" name="Google Shape;289;p14"/>
          <p:cNvPicPr preferRelativeResize="0"/>
          <p:nvPr/>
        </p:nvPicPr>
        <p:blipFill rotWithShape="1">
          <a:blip r:embed="rId3">
            <a:alphaModFix/>
          </a:blip>
          <a:srcRect b="0" l="0" r="0" t="0"/>
          <a:stretch/>
        </p:blipFill>
        <p:spPr>
          <a:xfrm>
            <a:off x="6592824" y="1865376"/>
            <a:ext cx="310896" cy="310896"/>
          </a:xfrm>
          <a:prstGeom prst="rect">
            <a:avLst/>
          </a:prstGeom>
          <a:noFill/>
          <a:ln>
            <a:noFill/>
          </a:ln>
        </p:spPr>
      </p:pic>
      <p:sp>
        <p:nvSpPr>
          <p:cNvPr id="290" name="Google Shape;290;p14"/>
          <p:cNvSpPr txBox="1"/>
          <p:nvPr/>
        </p:nvSpPr>
        <p:spPr>
          <a:xfrm>
            <a:off x="7178040" y="1719072"/>
            <a:ext cx="4279392"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2"/>
              </a:buClr>
              <a:buSzPts val="1550"/>
              <a:buFont typeface="Quattrocento Sans"/>
              <a:buNone/>
            </a:pPr>
            <a:r>
              <a:rPr b="1" i="0" lang="en-US" spc="0" sz="1550" u="none" cap="none" strike="noStrike">
                <a:solidFill>
                  <a:schemeClr val="dk2"/>
                </a:solidFill>
                <a:latin typeface="Quattrocento Sans"/>
                <a:ea typeface="Quattrocento Sans"/>
                <a:cs typeface="Quattrocento Sans"/>
                <a:sym typeface="Quattrocento Sans"/>
              </a:rPr>
              <a:t>Résultats attendus</a:t>
            </a:r>
            <a:endParaRPr b="0" i="0" spc="0" sz="1550" u="none" cap="none" strike="noStrike">
              <a:solidFill>
                <a:schemeClr val="dk1"/>
              </a:solidFill>
              <a:latin typeface="Quattrocento Sans"/>
              <a:ea typeface="Quattrocento Sans"/>
              <a:cs typeface="Quattrocento Sans"/>
              <a:sym typeface="Quattrocento Sans"/>
            </a:endParaRPr>
          </a:p>
        </p:txBody>
      </p:sp>
      <p:sp>
        <p:nvSpPr>
          <p:cNvPr id="291" name="Google Shape;291;p14"/>
          <p:cNvSpPr txBox="1"/>
          <p:nvPr/>
        </p:nvSpPr>
        <p:spPr>
          <a:xfrm>
            <a:off x="7178040" y="2194560"/>
            <a:ext cx="4279392" cy="5029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50"/>
              <a:buFont typeface="Quattrocento Sans"/>
              <a:buNone/>
            </a:pPr>
            <a:r>
              <a:rPr b="0" i="0" lang="en-US" spc="0" sz="1250" u="none" cap="none" strike="noStrike">
                <a:solidFill>
                  <a:schemeClr val="dk1"/>
                </a:solidFill>
                <a:latin typeface="Quattrocento Sans"/>
                <a:ea typeface="Quattrocento Sans"/>
                <a:cs typeface="Quattrocento Sans"/>
                <a:sym typeface="Quattrocento Sans"/>
              </a:rPr>
              <a:t>dataset prouvé (CSV, JSON), verdict expliqué, anomalies des chiffres</a:t>
            </a:r>
            <a:endParaRPr b="0" i="0" spc="0" sz="1250" u="none" cap="none" strike="noStrike">
              <a:solidFill>
                <a:schemeClr val="dk1"/>
              </a:solidFill>
              <a:latin typeface="Quattrocento Sans"/>
              <a:ea typeface="Quattrocento Sans"/>
              <a:cs typeface="Quattrocento Sans"/>
              <a:sym typeface="Quattrocento Sans"/>
            </a:endParaRPr>
          </a:p>
        </p:txBody>
      </p:sp>
      <p:sp>
        <p:nvSpPr>
          <p:cNvPr id="292" name="Google Shape;292;p14"/>
          <p:cNvSpPr/>
          <p:nvPr/>
        </p:nvSpPr>
        <p:spPr>
          <a:xfrm>
            <a:off x="6263640" y="2953512"/>
            <a:ext cx="5376672" cy="1280160"/>
          </a:xfrm>
          <a:prstGeom prst="roundRect">
            <a:avLst>
              <a:gd fmla="val 7143" name="adj"/>
            </a:avLst>
          </a:prstGeom>
          <a:solidFill>
            <a:srgbClr val="F9F9FB"/>
          </a:solidFill>
          <a:ln cap="flat" cmpd="sng" w="9525">
            <a:solidFill>
              <a:srgbClr val="E0E1E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93" name="Google Shape;293;p14"/>
          <p:cNvSpPr/>
          <p:nvPr/>
        </p:nvSpPr>
        <p:spPr>
          <a:xfrm>
            <a:off x="6464808" y="3154680"/>
            <a:ext cx="566928" cy="566928"/>
          </a:xfrm>
          <a:prstGeom prst="ellipse">
            <a:avLst/>
          </a:prstGeom>
          <a:solidFill>
            <a:srgbClr val="3657C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294" name="Google Shape;294;p14"/>
          <p:cNvPicPr preferRelativeResize="0"/>
          <p:nvPr/>
        </p:nvPicPr>
        <p:blipFill rotWithShape="1">
          <a:blip r:embed="rId4">
            <a:alphaModFix/>
          </a:blip>
          <a:srcRect b="0" l="0" r="0" t="0"/>
          <a:stretch/>
        </p:blipFill>
        <p:spPr>
          <a:xfrm>
            <a:off x="6592824" y="3282696"/>
            <a:ext cx="310896" cy="310896"/>
          </a:xfrm>
          <a:prstGeom prst="rect">
            <a:avLst/>
          </a:prstGeom>
          <a:noFill/>
          <a:ln>
            <a:noFill/>
          </a:ln>
        </p:spPr>
      </p:pic>
      <p:sp>
        <p:nvSpPr>
          <p:cNvPr id="295" name="Google Shape;295;p14"/>
          <p:cNvSpPr txBox="1"/>
          <p:nvPr/>
        </p:nvSpPr>
        <p:spPr>
          <a:xfrm>
            <a:off x="7178040" y="3136392"/>
            <a:ext cx="4279392"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2"/>
              </a:buClr>
              <a:buSzPts val="1550"/>
              <a:buFont typeface="Quattrocento Sans"/>
              <a:buNone/>
            </a:pPr>
            <a:r>
              <a:rPr b="1" i="0" lang="en-US" spc="0" sz="1550" u="none" cap="none" strike="noStrike">
                <a:solidFill>
                  <a:schemeClr val="dk2"/>
                </a:solidFill>
                <a:latin typeface="Quattrocento Sans"/>
                <a:ea typeface="Quattrocento Sans"/>
                <a:cs typeface="Quattrocento Sans"/>
                <a:sym typeface="Quattrocento Sans"/>
              </a:rPr>
              <a:t>Tableau de bord envisagé</a:t>
            </a:r>
            <a:endParaRPr b="0" i="0" spc="0" sz="1550" u="none" cap="none" strike="noStrike">
              <a:solidFill>
                <a:schemeClr val="dk1"/>
              </a:solidFill>
              <a:latin typeface="Quattrocento Sans"/>
              <a:ea typeface="Quattrocento Sans"/>
              <a:cs typeface="Quattrocento Sans"/>
              <a:sym typeface="Quattrocento Sans"/>
            </a:endParaRPr>
          </a:p>
        </p:txBody>
      </p:sp>
      <p:sp>
        <p:nvSpPr>
          <p:cNvPr id="296" name="Google Shape;296;p14"/>
          <p:cNvSpPr txBox="1"/>
          <p:nvPr/>
        </p:nvSpPr>
        <p:spPr>
          <a:xfrm>
            <a:off x="7178040" y="3611880"/>
            <a:ext cx="4279392" cy="5029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50"/>
              <a:buFont typeface="Quattrocento Sans"/>
              <a:buNone/>
            </a:pPr>
            <a:r>
              <a:rPr b="0" i="0" lang="en-US" spc="0" sz="1250" u="none" cap="none" strike="noStrike">
                <a:solidFill>
                  <a:schemeClr val="dk1"/>
                </a:solidFill>
                <a:latin typeface="Quattrocento Sans"/>
                <a:ea typeface="Quattrocento Sans"/>
                <a:cs typeface="Quattrocento Sans"/>
                <a:sym typeface="Quattrocento Sans"/>
              </a:rPr>
              <a:t>comparer les rapports : indicateurs, qualité des données, toxicité</a:t>
            </a:r>
            <a:endParaRPr b="0" i="0" spc="0" sz="1250" u="none" cap="none" strike="noStrike">
              <a:solidFill>
                <a:schemeClr val="dk1"/>
              </a:solidFill>
              <a:latin typeface="Quattrocento Sans"/>
              <a:ea typeface="Quattrocento Sans"/>
              <a:cs typeface="Quattrocento Sans"/>
              <a:sym typeface="Quattrocento Sans"/>
            </a:endParaRPr>
          </a:p>
        </p:txBody>
      </p:sp>
      <p:sp>
        <p:nvSpPr>
          <p:cNvPr id="297" name="Google Shape;297;p14"/>
          <p:cNvSpPr/>
          <p:nvPr/>
        </p:nvSpPr>
        <p:spPr>
          <a:xfrm>
            <a:off x="6263640" y="4370832"/>
            <a:ext cx="5376672" cy="1280160"/>
          </a:xfrm>
          <a:prstGeom prst="roundRect">
            <a:avLst>
              <a:gd fmla="val 7143" name="adj"/>
            </a:avLst>
          </a:prstGeom>
          <a:solidFill>
            <a:srgbClr val="F9F9FB"/>
          </a:solidFill>
          <a:ln cap="flat" cmpd="sng" w="9525">
            <a:solidFill>
              <a:srgbClr val="E0E1E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98" name="Google Shape;298;p14"/>
          <p:cNvSpPr/>
          <p:nvPr/>
        </p:nvSpPr>
        <p:spPr>
          <a:xfrm>
            <a:off x="6464808" y="4572000"/>
            <a:ext cx="566928" cy="566928"/>
          </a:xfrm>
          <a:prstGeom prst="ellipse">
            <a:avLst/>
          </a:prstGeom>
          <a:solidFill>
            <a:srgbClr val="B4441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299" name="Google Shape;299;p14"/>
          <p:cNvPicPr preferRelativeResize="0"/>
          <p:nvPr/>
        </p:nvPicPr>
        <p:blipFill rotWithShape="1">
          <a:blip r:embed="rId5">
            <a:alphaModFix/>
          </a:blip>
          <a:srcRect b="0" l="0" r="0" t="0"/>
          <a:stretch/>
        </p:blipFill>
        <p:spPr>
          <a:xfrm>
            <a:off x="6592824" y="4700016"/>
            <a:ext cx="310896" cy="310896"/>
          </a:xfrm>
          <a:prstGeom prst="rect">
            <a:avLst/>
          </a:prstGeom>
          <a:noFill/>
          <a:ln>
            <a:noFill/>
          </a:ln>
        </p:spPr>
      </p:pic>
      <p:sp>
        <p:nvSpPr>
          <p:cNvPr id="300" name="Google Shape;300;p14"/>
          <p:cNvSpPr txBox="1"/>
          <p:nvPr/>
        </p:nvSpPr>
        <p:spPr>
          <a:xfrm>
            <a:off x="7178040" y="4553712"/>
            <a:ext cx="4279392"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2"/>
              </a:buClr>
              <a:buSzPts val="1550"/>
              <a:buFont typeface="Quattrocento Sans"/>
              <a:buNone/>
            </a:pPr>
            <a:r>
              <a:rPr b="1" i="0" lang="en-US" spc="0" sz="1550" u="none" cap="none" strike="noStrike">
                <a:solidFill>
                  <a:schemeClr val="dk2"/>
                </a:solidFill>
                <a:latin typeface="Quattrocento Sans"/>
                <a:ea typeface="Quattrocento Sans"/>
                <a:cs typeface="Quattrocento Sans"/>
                <a:sym typeface="Quattrocento Sans"/>
              </a:rPr>
              <a:t>Évaluation prévue</a:t>
            </a:r>
            <a:endParaRPr b="0" i="0" spc="0" sz="1550" u="none" cap="none" strike="noStrike">
              <a:solidFill>
                <a:schemeClr val="dk1"/>
              </a:solidFill>
              <a:latin typeface="Quattrocento Sans"/>
              <a:ea typeface="Quattrocento Sans"/>
              <a:cs typeface="Quattrocento Sans"/>
              <a:sym typeface="Quattrocento Sans"/>
            </a:endParaRPr>
          </a:p>
        </p:txBody>
      </p:sp>
      <p:sp>
        <p:nvSpPr>
          <p:cNvPr id="301" name="Google Shape;301;p14"/>
          <p:cNvSpPr txBox="1"/>
          <p:nvPr/>
        </p:nvSpPr>
        <p:spPr>
          <a:xfrm>
            <a:off x="7178040" y="5029200"/>
            <a:ext cx="4279392" cy="5029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50"/>
              <a:buFont typeface="Quattrocento Sans"/>
              <a:buNone/>
            </a:pPr>
            <a:r>
              <a:rPr b="0" i="0" lang="en-US" spc="0" sz="1250" u="none" cap="none" strike="noStrike">
                <a:solidFill>
                  <a:schemeClr val="dk1"/>
                </a:solidFill>
                <a:latin typeface="Quattrocento Sans"/>
                <a:ea typeface="Quattrocento Sans"/>
                <a:cs typeface="Quattrocento Sans"/>
                <a:sym typeface="Quattrocento Sans"/>
              </a:rPr>
              <a:t>annotation humaine en aveugle → précision, rappel, F1, kappa</a:t>
            </a:r>
            <a:endParaRPr b="0" i="0" spc="0" sz="1250" u="none" cap="none" strike="noStrike">
              <a:solidFill>
                <a:schemeClr val="dk1"/>
              </a:solidFill>
              <a:latin typeface="Quattrocento Sans"/>
              <a:ea typeface="Quattrocento Sans"/>
              <a:cs typeface="Quattrocento Sans"/>
              <a:sym typeface="Quattrocento Sans"/>
            </a:endParaRPr>
          </a:p>
        </p:txBody>
      </p:sp>
      <p:sp>
        <p:nvSpPr>
          <p:cNvPr id="302" name="Google Shape;302;p14"/>
          <p:cNvSpPr txBox="1"/>
          <p:nvPr>
            <p:ph idx="4294967295" type="sldNum"/>
          </p:nvPr>
        </p:nvSpPr>
        <p:spPr>
          <a:xfrm>
            <a:off x="11185855" y="6428232"/>
            <a:ext cx="45720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100"/>
              <a:buNone/>
            </a:pPr>
            <a:fld id="{00000000-1234-1234-1234-123412341234}" type="slidenum">
              <a:rPr b="0" i="0" lang="en-US" sz="1100" u="none" cap="none" strike="noStrike">
                <a:solidFill>
                  <a:schemeClr val="accent4"/>
                </a:solidFill>
                <a:latin typeface="Quattrocento Sans"/>
                <a:ea typeface="Quattrocento Sans"/>
                <a:cs typeface="Quattrocento Sans"/>
                <a:sym typeface="Quattrocento Sans"/>
              </a:rPr>
              <a:t>‹#›</a:t>
            </a:fld>
            <a:endParaRPr b="0" i="0" sz="1100" u="none" cap="none" strike="noStrike">
              <a:solidFill>
                <a:schemeClr val="accent4"/>
              </a:solidFill>
              <a:latin typeface="Quattrocento Sans"/>
              <a:ea typeface="Quattrocento Sans"/>
              <a:cs typeface="Quattrocento Sans"/>
              <a:sym typeface="Quattrocento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15"/>
          <p:cNvSpPr txBox="1"/>
          <p:nvPr/>
        </p:nvSpPr>
        <p:spPr>
          <a:xfrm>
            <a:off x="548640" y="274320"/>
            <a:ext cx="73152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200"/>
              <a:buFont typeface="Quattrocento Sans"/>
              <a:buNone/>
            </a:pPr>
            <a:r>
              <a:rPr b="1" i="0" lang="en-US" spc="200" sz="1200" u="none" cap="none" strike="noStrike">
                <a:solidFill>
                  <a:schemeClr val="accent1"/>
                </a:solidFill>
                <a:latin typeface="Quattrocento Sans"/>
                <a:ea typeface="Quattrocento Sans"/>
                <a:cs typeface="Quattrocento Sans"/>
                <a:sym typeface="Quattrocento Sans"/>
              </a:rPr>
              <a:t>CONCLUSION ET PERSPECTIVES</a:t>
            </a:r>
            <a:endParaRPr b="0" i="0" spc="0" sz="1200" u="none" cap="none" strike="noStrike">
              <a:solidFill>
                <a:schemeClr val="dk1"/>
              </a:solidFill>
              <a:latin typeface="Quattrocento Sans"/>
              <a:ea typeface="Quattrocento Sans"/>
              <a:cs typeface="Quattrocento Sans"/>
              <a:sym typeface="Quattrocento Sans"/>
            </a:endParaRPr>
          </a:p>
        </p:txBody>
      </p:sp>
      <p:sp>
        <p:nvSpPr>
          <p:cNvPr id="309" name="Google Shape;309;p15"/>
          <p:cNvSpPr txBox="1"/>
          <p:nvPr>
            <p:ph type="title"/>
          </p:nvPr>
        </p:nvSpPr>
        <p:spPr>
          <a:xfrm>
            <a:off x="548640" y="566928"/>
            <a:ext cx="11094415" cy="7772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2"/>
              </a:buClr>
              <a:buSzPts val="2800"/>
              <a:buFont typeface="Quattrocento Sans"/>
              <a:buNone/>
            </a:pPr>
            <a:r>
              <a:rPr b="1" lang="en-US" sz="2800">
                <a:solidFill>
                  <a:schemeClr val="dk2"/>
                </a:solidFill>
              </a:rPr>
              <a:t>Les étapes de développement prévues</a:t>
            </a:r>
            <a:endParaRPr sz="2800"/>
          </a:p>
        </p:txBody>
      </p:sp>
      <p:sp>
        <p:nvSpPr>
          <p:cNvPr id="310" name="Google Shape;310;p15"/>
          <p:cNvSpPr/>
          <p:nvPr/>
        </p:nvSpPr>
        <p:spPr>
          <a:xfrm>
            <a:off x="8991295" y="219456"/>
            <a:ext cx="2651760" cy="329184"/>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11" name="Google Shape;311;p15"/>
          <p:cNvSpPr txBox="1"/>
          <p:nvPr/>
        </p:nvSpPr>
        <p:spPr>
          <a:xfrm>
            <a:off x="8991295" y="219456"/>
            <a:ext cx="2651760" cy="32918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2"/>
              </a:buClr>
              <a:buSzPts val="1150"/>
              <a:buFont typeface="Quattrocento Sans"/>
              <a:buNone/>
            </a:pPr>
            <a:r>
              <a:rPr b="1" i="0" lang="en-US" spc="0" sz="1150" u="none" cap="none" strike="noStrike">
                <a:solidFill>
                  <a:schemeClr val="dk2"/>
                </a:solidFill>
                <a:latin typeface="Quattrocento Sans"/>
                <a:ea typeface="Quattrocento Sans"/>
                <a:cs typeface="Quattrocento Sans"/>
                <a:sym typeface="Quattrocento Sans"/>
              </a:rPr>
              <a:t>Personne 6 · Conclusion</a:t>
            </a:r>
            <a:endParaRPr b="0" i="0" spc="0" sz="1150" u="none" cap="none" strike="noStrike">
              <a:solidFill>
                <a:schemeClr val="dk1"/>
              </a:solidFill>
              <a:latin typeface="Quattrocento Sans"/>
              <a:ea typeface="Quattrocento Sans"/>
              <a:cs typeface="Quattrocento Sans"/>
              <a:sym typeface="Quattrocento Sans"/>
            </a:endParaRPr>
          </a:p>
        </p:txBody>
      </p:sp>
      <p:sp>
        <p:nvSpPr>
          <p:cNvPr id="312" name="Google Shape;312;p15"/>
          <p:cNvSpPr/>
          <p:nvPr/>
        </p:nvSpPr>
        <p:spPr>
          <a:xfrm>
            <a:off x="548640" y="1600200"/>
            <a:ext cx="1755648" cy="868680"/>
          </a:xfrm>
          <a:prstGeom prst="chevron">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13" name="Google Shape;313;p15"/>
          <p:cNvSpPr txBox="1"/>
          <p:nvPr/>
        </p:nvSpPr>
        <p:spPr>
          <a:xfrm>
            <a:off x="804672" y="1600200"/>
            <a:ext cx="1298448" cy="8686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200"/>
              <a:buFont typeface="Quattrocento Sans"/>
              <a:buNone/>
            </a:pPr>
            <a:r>
              <a:rPr b="1" i="0" lang="en-US" spc="0" sz="1200" u="none" cap="none" strike="noStrike">
                <a:solidFill>
                  <a:schemeClr val="lt1"/>
                </a:solidFill>
                <a:latin typeface="Quattrocento Sans"/>
                <a:ea typeface="Quattrocento Sans"/>
                <a:cs typeface="Quattrocento Sans"/>
                <a:sym typeface="Quattrocento Sans"/>
              </a:rPr>
              <a:t>Conception</a:t>
            </a:r>
            <a:endParaRPr b="0" i="0" spc="0" sz="1200" u="none" cap="none" strike="noStrike">
              <a:solidFill>
                <a:schemeClr val="dk1"/>
              </a:solidFill>
              <a:latin typeface="Quattrocento Sans"/>
              <a:ea typeface="Quattrocento Sans"/>
              <a:cs typeface="Quattrocento Sans"/>
              <a:sym typeface="Quattrocento Sans"/>
            </a:endParaRPr>
          </a:p>
        </p:txBody>
      </p:sp>
      <p:sp>
        <p:nvSpPr>
          <p:cNvPr id="314" name="Google Shape;314;p15"/>
          <p:cNvSpPr/>
          <p:nvPr/>
        </p:nvSpPr>
        <p:spPr>
          <a:xfrm>
            <a:off x="2415845" y="1600200"/>
            <a:ext cx="1755648" cy="868680"/>
          </a:xfrm>
          <a:prstGeom prst="chevron">
            <a:avLst>
              <a:gd fmla="val 50000"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15" name="Google Shape;315;p15"/>
          <p:cNvSpPr txBox="1"/>
          <p:nvPr/>
        </p:nvSpPr>
        <p:spPr>
          <a:xfrm>
            <a:off x="2671877" y="1600200"/>
            <a:ext cx="1298448" cy="8686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2"/>
              </a:buClr>
              <a:buSzPts val="1200"/>
              <a:buFont typeface="Quattrocento Sans"/>
              <a:buNone/>
            </a:pPr>
            <a:r>
              <a:rPr b="1" i="0" lang="en-US" spc="0" sz="1200" u="none" cap="none" strike="noStrike">
                <a:solidFill>
                  <a:schemeClr val="dk2"/>
                </a:solidFill>
                <a:latin typeface="Quattrocento Sans"/>
                <a:ea typeface="Quattrocento Sans"/>
                <a:cs typeface="Quattrocento Sans"/>
                <a:sym typeface="Quattrocento Sans"/>
              </a:rPr>
              <a:t>Lecture et découpage</a:t>
            </a:r>
            <a:endParaRPr b="0" i="0" spc="0" sz="1200" u="none" cap="none" strike="noStrike">
              <a:solidFill>
                <a:schemeClr val="dk1"/>
              </a:solidFill>
              <a:latin typeface="Quattrocento Sans"/>
              <a:ea typeface="Quattrocento Sans"/>
              <a:cs typeface="Quattrocento Sans"/>
              <a:sym typeface="Quattrocento Sans"/>
            </a:endParaRPr>
          </a:p>
        </p:txBody>
      </p:sp>
      <p:sp>
        <p:nvSpPr>
          <p:cNvPr id="316" name="Google Shape;316;p15"/>
          <p:cNvSpPr/>
          <p:nvPr/>
        </p:nvSpPr>
        <p:spPr>
          <a:xfrm>
            <a:off x="4283050" y="1600200"/>
            <a:ext cx="1755648" cy="868680"/>
          </a:xfrm>
          <a:prstGeom prst="chevron">
            <a:avLst>
              <a:gd fmla="val 50000"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17" name="Google Shape;317;p15"/>
          <p:cNvSpPr txBox="1"/>
          <p:nvPr/>
        </p:nvSpPr>
        <p:spPr>
          <a:xfrm>
            <a:off x="4539082" y="1600200"/>
            <a:ext cx="1298448" cy="8686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2"/>
              </a:buClr>
              <a:buSzPts val="1200"/>
              <a:buFont typeface="Quattrocento Sans"/>
              <a:buNone/>
            </a:pPr>
            <a:r>
              <a:rPr b="1" i="0" lang="en-US" spc="0" sz="1200" u="none" cap="none" strike="noStrike">
                <a:solidFill>
                  <a:schemeClr val="dk2"/>
                </a:solidFill>
                <a:latin typeface="Quattrocento Sans"/>
                <a:ea typeface="Quattrocento Sans"/>
                <a:cs typeface="Quattrocento Sans"/>
                <a:sym typeface="Quattrocento Sans"/>
              </a:rPr>
              <a:t>Extraction du dataset</a:t>
            </a:r>
            <a:endParaRPr b="0" i="0" spc="0" sz="1200" u="none" cap="none" strike="noStrike">
              <a:solidFill>
                <a:schemeClr val="dk1"/>
              </a:solidFill>
              <a:latin typeface="Quattrocento Sans"/>
              <a:ea typeface="Quattrocento Sans"/>
              <a:cs typeface="Quattrocento Sans"/>
              <a:sym typeface="Quattrocento Sans"/>
            </a:endParaRPr>
          </a:p>
        </p:txBody>
      </p:sp>
      <p:sp>
        <p:nvSpPr>
          <p:cNvPr id="318" name="Google Shape;318;p15"/>
          <p:cNvSpPr/>
          <p:nvPr/>
        </p:nvSpPr>
        <p:spPr>
          <a:xfrm>
            <a:off x="6150254" y="1600200"/>
            <a:ext cx="1755648" cy="868680"/>
          </a:xfrm>
          <a:prstGeom prst="chevron">
            <a:avLst>
              <a:gd fmla="val 50000"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19" name="Google Shape;319;p15"/>
          <p:cNvSpPr txBox="1"/>
          <p:nvPr/>
        </p:nvSpPr>
        <p:spPr>
          <a:xfrm>
            <a:off x="6406286" y="1600200"/>
            <a:ext cx="1298448" cy="8686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2"/>
              </a:buClr>
              <a:buSzPts val="1200"/>
              <a:buFont typeface="Quattrocento Sans"/>
              <a:buNone/>
            </a:pPr>
            <a:r>
              <a:rPr b="1" i="0" lang="en-US" spc="0" sz="1200" u="none" cap="none" strike="noStrike">
                <a:solidFill>
                  <a:schemeClr val="dk2"/>
                </a:solidFill>
                <a:latin typeface="Quattrocento Sans"/>
                <a:ea typeface="Quattrocento Sans"/>
                <a:cs typeface="Quattrocento Sans"/>
                <a:sym typeface="Quattrocento Sans"/>
              </a:rPr>
              <a:t>Détection de toxicité</a:t>
            </a:r>
            <a:endParaRPr b="0" i="0" spc="0" sz="1200" u="none" cap="none" strike="noStrike">
              <a:solidFill>
                <a:schemeClr val="dk1"/>
              </a:solidFill>
              <a:latin typeface="Quattrocento Sans"/>
              <a:ea typeface="Quattrocento Sans"/>
              <a:cs typeface="Quattrocento Sans"/>
              <a:sym typeface="Quattrocento Sans"/>
            </a:endParaRPr>
          </a:p>
        </p:txBody>
      </p:sp>
      <p:sp>
        <p:nvSpPr>
          <p:cNvPr id="320" name="Google Shape;320;p15"/>
          <p:cNvSpPr/>
          <p:nvPr/>
        </p:nvSpPr>
        <p:spPr>
          <a:xfrm>
            <a:off x="8017459" y="1600200"/>
            <a:ext cx="1755648" cy="868680"/>
          </a:xfrm>
          <a:prstGeom prst="chevron">
            <a:avLst>
              <a:gd fmla="val 50000"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21" name="Google Shape;321;p15"/>
          <p:cNvSpPr txBox="1"/>
          <p:nvPr/>
        </p:nvSpPr>
        <p:spPr>
          <a:xfrm>
            <a:off x="8273491" y="1600200"/>
            <a:ext cx="1298448" cy="8686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2"/>
              </a:buClr>
              <a:buSzPts val="1200"/>
              <a:buFont typeface="Quattrocento Sans"/>
              <a:buNone/>
            </a:pPr>
            <a:r>
              <a:rPr b="1" i="0" lang="en-US" spc="0" sz="1200" u="none" cap="none" strike="noStrike">
                <a:solidFill>
                  <a:schemeClr val="dk2"/>
                </a:solidFill>
                <a:latin typeface="Quattrocento Sans"/>
                <a:ea typeface="Quattrocento Sans"/>
                <a:cs typeface="Quattrocento Sans"/>
                <a:sym typeface="Quattrocento Sans"/>
              </a:rPr>
              <a:t>Interface et tableau de bord</a:t>
            </a:r>
            <a:endParaRPr b="0" i="0" spc="0" sz="1200" u="none" cap="none" strike="noStrike">
              <a:solidFill>
                <a:schemeClr val="dk1"/>
              </a:solidFill>
              <a:latin typeface="Quattrocento Sans"/>
              <a:ea typeface="Quattrocento Sans"/>
              <a:cs typeface="Quattrocento Sans"/>
              <a:sym typeface="Quattrocento Sans"/>
            </a:endParaRPr>
          </a:p>
        </p:txBody>
      </p:sp>
      <p:sp>
        <p:nvSpPr>
          <p:cNvPr id="322" name="Google Shape;322;p15"/>
          <p:cNvSpPr/>
          <p:nvPr/>
        </p:nvSpPr>
        <p:spPr>
          <a:xfrm>
            <a:off x="9884664" y="1600200"/>
            <a:ext cx="1755648" cy="868680"/>
          </a:xfrm>
          <a:prstGeom prst="chevron">
            <a:avLst>
              <a:gd fmla="val 50000"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23" name="Google Shape;323;p15"/>
          <p:cNvSpPr txBox="1"/>
          <p:nvPr/>
        </p:nvSpPr>
        <p:spPr>
          <a:xfrm>
            <a:off x="10140696" y="1600200"/>
            <a:ext cx="1298448" cy="8686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2"/>
              </a:buClr>
              <a:buSzPts val="1200"/>
              <a:buFont typeface="Quattrocento Sans"/>
              <a:buNone/>
            </a:pPr>
            <a:r>
              <a:rPr b="1" i="0" lang="en-US" spc="0" sz="1200" u="none" cap="none" strike="noStrike">
                <a:solidFill>
                  <a:schemeClr val="dk2"/>
                </a:solidFill>
                <a:latin typeface="Quattrocento Sans"/>
                <a:ea typeface="Quattrocento Sans"/>
                <a:cs typeface="Quattrocento Sans"/>
                <a:sym typeface="Quattrocento Sans"/>
              </a:rPr>
              <a:t>Évaluation et ajustements</a:t>
            </a:r>
            <a:endParaRPr b="0" i="0" spc="0" sz="1200" u="none" cap="none" strike="noStrike">
              <a:solidFill>
                <a:schemeClr val="dk1"/>
              </a:solidFill>
              <a:latin typeface="Quattrocento Sans"/>
              <a:ea typeface="Quattrocento Sans"/>
              <a:cs typeface="Quattrocento Sans"/>
              <a:sym typeface="Quattrocento Sans"/>
            </a:endParaRPr>
          </a:p>
        </p:txBody>
      </p:sp>
      <p:sp>
        <p:nvSpPr>
          <p:cNvPr id="324" name="Google Shape;324;p15"/>
          <p:cNvSpPr txBox="1"/>
          <p:nvPr/>
        </p:nvSpPr>
        <p:spPr>
          <a:xfrm>
            <a:off x="548640" y="2560320"/>
            <a:ext cx="7315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300"/>
              <a:buFont typeface="Quattrocento Sans"/>
              <a:buNone/>
            </a:pPr>
            <a:r>
              <a:rPr b="1" i="0" lang="en-US" spc="0" sz="1300" u="none" cap="none" strike="noStrike">
                <a:solidFill>
                  <a:schemeClr val="accent1"/>
                </a:solidFill>
                <a:latin typeface="Quattrocento Sans"/>
                <a:ea typeface="Quattrocento Sans"/>
                <a:cs typeface="Quattrocento Sans"/>
                <a:sym typeface="Quattrocento Sans"/>
              </a:rPr>
              <a:t>Nous sommes ici : </a:t>
            </a:r>
            <a:r>
              <a:rPr b="0" i="0" lang="en-US" spc="0" sz="1300" u="none" cap="none" strike="noStrike">
                <a:solidFill>
                  <a:schemeClr val="dk1"/>
                </a:solidFill>
                <a:latin typeface="Quattrocento Sans"/>
                <a:ea typeface="Quattrocento Sans"/>
                <a:cs typeface="Quattrocento Sans"/>
                <a:sym typeface="Quattrocento Sans"/>
              </a:rPr>
              <a:t>conception de la solution et choix techniques</a:t>
            </a:r>
            <a:endParaRPr b="0" i="0" spc="0" sz="1300" u="none" cap="none" strike="noStrike">
              <a:solidFill>
                <a:schemeClr val="dk1"/>
              </a:solidFill>
              <a:latin typeface="Quattrocento Sans"/>
              <a:ea typeface="Quattrocento Sans"/>
              <a:cs typeface="Quattrocento Sans"/>
              <a:sym typeface="Quattrocento Sans"/>
            </a:endParaRPr>
          </a:p>
        </p:txBody>
      </p:sp>
      <p:sp>
        <p:nvSpPr>
          <p:cNvPr id="325" name="Google Shape;325;p15"/>
          <p:cNvSpPr/>
          <p:nvPr/>
        </p:nvSpPr>
        <p:spPr>
          <a:xfrm>
            <a:off x="548640" y="3017520"/>
            <a:ext cx="5468112" cy="2240280"/>
          </a:xfrm>
          <a:prstGeom prst="roundRect">
            <a:avLst>
              <a:gd fmla="val 4082" name="adj"/>
            </a:avLst>
          </a:prstGeom>
          <a:solidFill>
            <a:srgbClr val="F9F9FB"/>
          </a:solidFill>
          <a:ln cap="flat" cmpd="sng" w="9525">
            <a:solidFill>
              <a:srgbClr val="E0E1E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26" name="Google Shape;326;p15"/>
          <p:cNvSpPr/>
          <p:nvPr/>
        </p:nvSpPr>
        <p:spPr>
          <a:xfrm>
            <a:off x="777240" y="3246120"/>
            <a:ext cx="548640" cy="548640"/>
          </a:xfrm>
          <a:prstGeom prst="ellipse">
            <a:avLst/>
          </a:prstGeom>
          <a:solidFill>
            <a:srgbClr val="B4441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327" name="Google Shape;327;p15"/>
          <p:cNvPicPr preferRelativeResize="0"/>
          <p:nvPr/>
        </p:nvPicPr>
        <p:blipFill rotWithShape="1">
          <a:blip r:embed="rId3">
            <a:alphaModFix/>
          </a:blip>
          <a:srcRect b="0" l="0" r="0" t="0"/>
          <a:stretch/>
        </p:blipFill>
        <p:spPr>
          <a:xfrm>
            <a:off x="900684" y="3369564"/>
            <a:ext cx="301752" cy="301752"/>
          </a:xfrm>
          <a:prstGeom prst="rect">
            <a:avLst/>
          </a:prstGeom>
          <a:noFill/>
          <a:ln>
            <a:noFill/>
          </a:ln>
        </p:spPr>
      </p:pic>
      <p:sp>
        <p:nvSpPr>
          <p:cNvPr id="328" name="Google Shape;328;p15"/>
          <p:cNvSpPr txBox="1"/>
          <p:nvPr/>
        </p:nvSpPr>
        <p:spPr>
          <a:xfrm>
            <a:off x="777240" y="3913632"/>
            <a:ext cx="5010912"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2"/>
              </a:buClr>
              <a:buSzPts val="1550"/>
              <a:buFont typeface="Quattrocento Sans"/>
              <a:buNone/>
            </a:pPr>
            <a:r>
              <a:rPr b="1" i="0" lang="en-US" spc="0" sz="1550" u="none" cap="none" strike="noStrike">
                <a:solidFill>
                  <a:schemeClr val="dk2"/>
                </a:solidFill>
                <a:latin typeface="Quattrocento Sans"/>
                <a:ea typeface="Quattrocento Sans"/>
                <a:cs typeface="Quattrocento Sans"/>
                <a:sym typeface="Quattrocento Sans"/>
              </a:rPr>
              <a:t>Limites et risques identifiés</a:t>
            </a:r>
            <a:endParaRPr b="0" i="0" spc="0" sz="1550" u="none" cap="none" strike="noStrike">
              <a:solidFill>
                <a:schemeClr val="dk1"/>
              </a:solidFill>
              <a:latin typeface="Quattrocento Sans"/>
              <a:ea typeface="Quattrocento Sans"/>
              <a:cs typeface="Quattrocento Sans"/>
              <a:sym typeface="Quattrocento Sans"/>
            </a:endParaRPr>
          </a:p>
        </p:txBody>
      </p:sp>
      <p:sp>
        <p:nvSpPr>
          <p:cNvPr id="329" name="Google Shape;329;p15"/>
          <p:cNvSpPr txBox="1"/>
          <p:nvPr/>
        </p:nvSpPr>
        <p:spPr>
          <a:xfrm>
            <a:off x="777240" y="4343400"/>
            <a:ext cx="5010912" cy="822960"/>
          </a:xfrm>
          <a:prstGeom prst="rect">
            <a:avLst/>
          </a:prstGeom>
          <a:noFill/>
          <a:ln>
            <a:noFill/>
          </a:ln>
        </p:spPr>
        <p:txBody>
          <a:bodyPr anchorCtr="0" anchor="t" bIns="0" lIns="0" spcFirstLastPara="1" rIns="0" wrap="square" tIns="0">
            <a:noAutofit/>
          </a:bodyPr>
          <a:lstStyle/>
          <a:p>
            <a:pPr indent="-203200" lvl="0" marL="203200" marR="0" rtl="0" algn="l">
              <a:lnSpc>
                <a:spcPct val="100000"/>
              </a:lnSpc>
              <a:spcBef>
                <a:spcPts val="0"/>
              </a:spcBef>
              <a:spcAft>
                <a:spcPts val="0"/>
              </a:spcAft>
              <a:buClr>
                <a:schemeClr val="dk1"/>
              </a:buClr>
              <a:buSzPts val="1250"/>
              <a:buFont typeface="Quattrocento Sans"/>
              <a:buChar char="•"/>
            </a:pPr>
            <a:r>
              <a:rPr b="0" i="0" lang="en-US" spc="0" sz="1250" u="none" cap="none" strike="noStrike">
                <a:solidFill>
                  <a:schemeClr val="dk1"/>
                </a:solidFill>
                <a:latin typeface="Quattrocento Sans"/>
                <a:ea typeface="Quattrocento Sans"/>
                <a:cs typeface="Quattrocento Sans"/>
                <a:sym typeface="Quattrocento Sans"/>
              </a:rPr>
              <a:t>Un LLM local pourrait surestimer la toxicité</a:t>
            </a:r>
            <a:endParaRPr b="0" i="0" spc="0" sz="1250" u="none" cap="none" strike="noStrike">
              <a:solidFill>
                <a:schemeClr val="dk1"/>
              </a:solidFill>
              <a:latin typeface="Quattrocento Sans"/>
              <a:ea typeface="Quattrocento Sans"/>
              <a:cs typeface="Quattrocento Sans"/>
              <a:sym typeface="Quattrocento Sans"/>
            </a:endParaRPr>
          </a:p>
          <a:p>
            <a:pPr indent="-203200" lvl="0" marL="203200" marR="0" rtl="0" algn="l">
              <a:lnSpc>
                <a:spcPct val="100000"/>
              </a:lnSpc>
              <a:spcBef>
                <a:spcPts val="600"/>
              </a:spcBef>
              <a:spcAft>
                <a:spcPts val="0"/>
              </a:spcAft>
              <a:buClr>
                <a:schemeClr val="dk1"/>
              </a:buClr>
              <a:buSzPts val="1250"/>
              <a:buFont typeface="Quattrocento Sans"/>
              <a:buChar char="•"/>
            </a:pPr>
            <a:r>
              <a:rPr b="0" i="0" lang="en-US" spc="0" sz="1250" u="none" cap="none" strike="noStrike">
                <a:solidFill>
                  <a:schemeClr val="dk1"/>
                </a:solidFill>
                <a:latin typeface="Quattrocento Sans"/>
                <a:ea typeface="Quattrocento Sans"/>
                <a:cs typeface="Quattrocento Sans"/>
                <a:sym typeface="Quattrocento Sans"/>
              </a:rPr>
              <a:t>Calcul lent sur un PC sans carte graphique</a:t>
            </a:r>
            <a:endParaRPr b="0" i="0" spc="0" sz="1250" u="none" cap="none" strike="noStrike">
              <a:solidFill>
                <a:schemeClr val="dk1"/>
              </a:solidFill>
              <a:latin typeface="Quattrocento Sans"/>
              <a:ea typeface="Quattrocento Sans"/>
              <a:cs typeface="Quattrocento Sans"/>
              <a:sym typeface="Quattrocento Sans"/>
            </a:endParaRPr>
          </a:p>
          <a:p>
            <a:pPr indent="-203200" lvl="0" marL="203200" marR="0" rtl="0" algn="l">
              <a:lnSpc>
                <a:spcPct val="100000"/>
              </a:lnSpc>
              <a:spcBef>
                <a:spcPts val="600"/>
              </a:spcBef>
              <a:spcAft>
                <a:spcPts val="0"/>
              </a:spcAft>
              <a:buClr>
                <a:schemeClr val="dk1"/>
              </a:buClr>
              <a:buSzPts val="1250"/>
              <a:buFont typeface="Quattrocento Sans"/>
              <a:buChar char="•"/>
            </a:pPr>
            <a:r>
              <a:rPr b="0" i="0" lang="en-US" spc="0" sz="1250" u="none" cap="none" strike="noStrike">
                <a:solidFill>
                  <a:schemeClr val="dk1"/>
                </a:solidFill>
                <a:latin typeface="Quattrocento Sans"/>
                <a:ea typeface="Quattrocento Sans"/>
                <a:cs typeface="Quattrocento Sans"/>
                <a:sym typeface="Quattrocento Sans"/>
              </a:rPr>
              <a:t>Formats et tableaux hétérogènes, PDF scannés</a:t>
            </a:r>
            <a:endParaRPr b="0" i="0" spc="0" sz="1250" u="none" cap="none" strike="noStrike">
              <a:solidFill>
                <a:schemeClr val="dk1"/>
              </a:solidFill>
              <a:latin typeface="Quattrocento Sans"/>
              <a:ea typeface="Quattrocento Sans"/>
              <a:cs typeface="Quattrocento Sans"/>
              <a:sym typeface="Quattrocento Sans"/>
            </a:endParaRPr>
          </a:p>
        </p:txBody>
      </p:sp>
      <p:sp>
        <p:nvSpPr>
          <p:cNvPr id="330" name="Google Shape;330;p15"/>
          <p:cNvSpPr/>
          <p:nvPr/>
        </p:nvSpPr>
        <p:spPr>
          <a:xfrm>
            <a:off x="6172200" y="3017520"/>
            <a:ext cx="5468112" cy="2240280"/>
          </a:xfrm>
          <a:prstGeom prst="roundRect">
            <a:avLst>
              <a:gd fmla="val 4082" name="adj"/>
            </a:avLst>
          </a:prstGeom>
          <a:solidFill>
            <a:srgbClr val="F9F9FB"/>
          </a:solidFill>
          <a:ln cap="flat" cmpd="sng" w="9525">
            <a:solidFill>
              <a:srgbClr val="E0E1E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31" name="Google Shape;331;p15"/>
          <p:cNvSpPr/>
          <p:nvPr/>
        </p:nvSpPr>
        <p:spPr>
          <a:xfrm>
            <a:off x="6400800" y="3246120"/>
            <a:ext cx="548640" cy="548640"/>
          </a:xfrm>
          <a:prstGeom prst="ellipse">
            <a:avLst/>
          </a:prstGeom>
          <a:solidFill>
            <a:srgbClr val="3657C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332" name="Google Shape;332;p15"/>
          <p:cNvPicPr preferRelativeResize="0"/>
          <p:nvPr/>
        </p:nvPicPr>
        <p:blipFill rotWithShape="1">
          <a:blip r:embed="rId4">
            <a:alphaModFix/>
          </a:blip>
          <a:srcRect b="0" l="0" r="0" t="0"/>
          <a:stretch/>
        </p:blipFill>
        <p:spPr>
          <a:xfrm>
            <a:off x="6524244" y="3369564"/>
            <a:ext cx="301752" cy="301752"/>
          </a:xfrm>
          <a:prstGeom prst="rect">
            <a:avLst/>
          </a:prstGeom>
          <a:noFill/>
          <a:ln>
            <a:noFill/>
          </a:ln>
        </p:spPr>
      </p:pic>
      <p:sp>
        <p:nvSpPr>
          <p:cNvPr id="333" name="Google Shape;333;p15"/>
          <p:cNvSpPr txBox="1"/>
          <p:nvPr/>
        </p:nvSpPr>
        <p:spPr>
          <a:xfrm>
            <a:off x="6400800" y="3913632"/>
            <a:ext cx="5010912"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2"/>
              </a:buClr>
              <a:buSzPts val="1550"/>
              <a:buFont typeface="Quattrocento Sans"/>
              <a:buNone/>
            </a:pPr>
            <a:r>
              <a:rPr b="1" i="0" lang="en-US" spc="0" sz="1550" u="none" cap="none" strike="noStrike">
                <a:solidFill>
                  <a:schemeClr val="dk2"/>
                </a:solidFill>
                <a:latin typeface="Quattrocento Sans"/>
                <a:ea typeface="Quattrocento Sans"/>
                <a:cs typeface="Quattrocento Sans"/>
                <a:sym typeface="Quattrocento Sans"/>
              </a:rPr>
              <a:t>Perspectives</a:t>
            </a:r>
            <a:endParaRPr b="0" i="0" spc="0" sz="1550" u="none" cap="none" strike="noStrike">
              <a:solidFill>
                <a:schemeClr val="dk1"/>
              </a:solidFill>
              <a:latin typeface="Quattrocento Sans"/>
              <a:ea typeface="Quattrocento Sans"/>
              <a:cs typeface="Quattrocento Sans"/>
              <a:sym typeface="Quattrocento Sans"/>
            </a:endParaRPr>
          </a:p>
        </p:txBody>
      </p:sp>
      <p:sp>
        <p:nvSpPr>
          <p:cNvPr id="334" name="Google Shape;334;p15"/>
          <p:cNvSpPr txBox="1"/>
          <p:nvPr/>
        </p:nvSpPr>
        <p:spPr>
          <a:xfrm>
            <a:off x="6400800" y="4343400"/>
            <a:ext cx="5010912" cy="822960"/>
          </a:xfrm>
          <a:prstGeom prst="rect">
            <a:avLst/>
          </a:prstGeom>
          <a:noFill/>
          <a:ln>
            <a:noFill/>
          </a:ln>
        </p:spPr>
        <p:txBody>
          <a:bodyPr anchorCtr="0" anchor="t" bIns="0" lIns="0" spcFirstLastPara="1" rIns="0" wrap="square" tIns="0">
            <a:noAutofit/>
          </a:bodyPr>
          <a:lstStyle/>
          <a:p>
            <a:pPr indent="-203200" lvl="0" marL="203200" marR="0" rtl="0" algn="l">
              <a:lnSpc>
                <a:spcPct val="100000"/>
              </a:lnSpc>
              <a:spcBef>
                <a:spcPts val="0"/>
              </a:spcBef>
              <a:spcAft>
                <a:spcPts val="0"/>
              </a:spcAft>
              <a:buClr>
                <a:schemeClr val="dk1"/>
              </a:buClr>
              <a:buSzPts val="1250"/>
              <a:buFont typeface="Quattrocento Sans"/>
              <a:buChar char="•"/>
            </a:pPr>
            <a:r>
              <a:rPr b="0" i="0" lang="en-US" spc="0" sz="1250" u="none" cap="none" strike="noStrike">
                <a:solidFill>
                  <a:schemeClr val="dk1"/>
                </a:solidFill>
                <a:latin typeface="Quattrocento Sans"/>
                <a:ea typeface="Quattrocento Sans"/>
                <a:cs typeface="Quattrocento Sans"/>
                <a:sym typeface="Quattrocento Sans"/>
              </a:rPr>
              <a:t>Annotation humaine pour mesurer la fiabilité</a:t>
            </a:r>
            <a:endParaRPr b="0" i="0" spc="0" sz="1250" u="none" cap="none" strike="noStrike">
              <a:solidFill>
                <a:schemeClr val="dk1"/>
              </a:solidFill>
              <a:latin typeface="Quattrocento Sans"/>
              <a:ea typeface="Quattrocento Sans"/>
              <a:cs typeface="Quattrocento Sans"/>
              <a:sym typeface="Quattrocento Sans"/>
            </a:endParaRPr>
          </a:p>
          <a:p>
            <a:pPr indent="-203200" lvl="0" marL="203200" marR="0" rtl="0" algn="l">
              <a:lnSpc>
                <a:spcPct val="100000"/>
              </a:lnSpc>
              <a:spcBef>
                <a:spcPts val="600"/>
              </a:spcBef>
              <a:spcAft>
                <a:spcPts val="0"/>
              </a:spcAft>
              <a:buClr>
                <a:schemeClr val="dk1"/>
              </a:buClr>
              <a:buSzPts val="1250"/>
              <a:buFont typeface="Quattrocento Sans"/>
              <a:buChar char="•"/>
            </a:pPr>
            <a:r>
              <a:rPr b="0" i="0" lang="en-US" spc="0" sz="1250" u="none" cap="none" strike="noStrike">
                <a:solidFill>
                  <a:schemeClr val="dk1"/>
                </a:solidFill>
                <a:latin typeface="Quattrocento Sans"/>
                <a:ea typeface="Quattrocento Sans"/>
                <a:cs typeface="Quattrocento Sans"/>
                <a:sym typeface="Quattrocento Sans"/>
              </a:rPr>
              <a:t>Agent de rattrapage des données manquantes</a:t>
            </a:r>
            <a:endParaRPr b="0" i="0" spc="0" sz="1250" u="none" cap="none" strike="noStrike">
              <a:solidFill>
                <a:schemeClr val="dk1"/>
              </a:solidFill>
              <a:latin typeface="Quattrocento Sans"/>
              <a:ea typeface="Quattrocento Sans"/>
              <a:cs typeface="Quattrocento Sans"/>
              <a:sym typeface="Quattrocento Sans"/>
            </a:endParaRPr>
          </a:p>
          <a:p>
            <a:pPr indent="-203200" lvl="0" marL="203200" marR="0" rtl="0" algn="l">
              <a:lnSpc>
                <a:spcPct val="100000"/>
              </a:lnSpc>
              <a:spcBef>
                <a:spcPts val="600"/>
              </a:spcBef>
              <a:spcAft>
                <a:spcPts val="0"/>
              </a:spcAft>
              <a:buClr>
                <a:schemeClr val="dk1"/>
              </a:buClr>
              <a:buSzPts val="1250"/>
              <a:buFont typeface="Quattrocento Sans"/>
              <a:buChar char="•"/>
            </a:pPr>
            <a:r>
              <a:rPr b="0" i="0" lang="en-US" spc="0" sz="1250" u="none" cap="none" strike="noStrike">
                <a:solidFill>
                  <a:schemeClr val="dk1"/>
                </a:solidFill>
                <a:latin typeface="Quattrocento Sans"/>
                <a:ea typeface="Quattrocento Sans"/>
                <a:cs typeface="Quattrocento Sans"/>
                <a:sym typeface="Quattrocento Sans"/>
              </a:rPr>
              <a:t>Tests sur des rapports de plusieurs secteurs</a:t>
            </a:r>
            <a:endParaRPr b="0" i="0" spc="0" sz="1250" u="none" cap="none" strike="noStrike">
              <a:solidFill>
                <a:schemeClr val="dk1"/>
              </a:solidFill>
              <a:latin typeface="Quattrocento Sans"/>
              <a:ea typeface="Quattrocento Sans"/>
              <a:cs typeface="Quattrocento Sans"/>
              <a:sym typeface="Quattrocento Sans"/>
            </a:endParaRPr>
          </a:p>
        </p:txBody>
      </p:sp>
      <p:sp>
        <p:nvSpPr>
          <p:cNvPr id="335" name="Google Shape;335;p15"/>
          <p:cNvSpPr/>
          <p:nvPr/>
        </p:nvSpPr>
        <p:spPr>
          <a:xfrm>
            <a:off x="548640" y="5394960"/>
            <a:ext cx="11094415" cy="548640"/>
          </a:xfrm>
          <a:prstGeom prst="roundRect">
            <a:avLst>
              <a:gd fmla="val 13333"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36" name="Google Shape;336;p15"/>
          <p:cNvSpPr txBox="1"/>
          <p:nvPr/>
        </p:nvSpPr>
        <p:spPr>
          <a:xfrm>
            <a:off x="822960" y="5394960"/>
            <a:ext cx="10545775"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D8A8"/>
              </a:buClr>
              <a:buSzPts val="1500"/>
              <a:buFont typeface="Quattrocento Sans"/>
              <a:buNone/>
            </a:pPr>
            <a:r>
              <a:rPr b="1" i="0" lang="en-US" spc="0" sz="1500" u="none" cap="none" strike="noStrike">
                <a:solidFill>
                  <a:srgbClr val="FFD8A8"/>
                </a:solidFill>
                <a:latin typeface="Quattrocento Sans"/>
                <a:ea typeface="Quattrocento Sans"/>
                <a:cs typeface="Quattrocento Sans"/>
                <a:sym typeface="Quattrocento Sans"/>
              </a:rPr>
              <a:t>Prochaine étape : </a:t>
            </a:r>
            <a:r>
              <a:rPr b="0" i="0" lang="en-US" spc="0" sz="1500" u="none" cap="none" strike="noStrike">
                <a:solidFill>
                  <a:schemeClr val="lt1"/>
                </a:solidFill>
                <a:latin typeface="Quattrocento Sans"/>
                <a:ea typeface="Quattrocento Sans"/>
                <a:cs typeface="Quattrocento Sans"/>
                <a:sym typeface="Quattrocento Sans"/>
              </a:rPr>
              <a:t>développer la lecture et le découpage des rapports, puis l'extraction du dataset</a:t>
            </a:r>
            <a:endParaRPr b="0" i="0" spc="0" sz="1500" u="none" cap="none" strike="noStrike">
              <a:solidFill>
                <a:schemeClr val="dk1"/>
              </a:solidFill>
              <a:latin typeface="Quattrocento Sans"/>
              <a:ea typeface="Quattrocento Sans"/>
              <a:cs typeface="Quattrocento Sans"/>
              <a:sym typeface="Quattrocento Sans"/>
            </a:endParaRPr>
          </a:p>
        </p:txBody>
      </p:sp>
      <p:sp>
        <p:nvSpPr>
          <p:cNvPr id="337" name="Google Shape;337;p15"/>
          <p:cNvSpPr txBox="1"/>
          <p:nvPr>
            <p:ph idx="4294967295" type="sldNum"/>
          </p:nvPr>
        </p:nvSpPr>
        <p:spPr>
          <a:xfrm>
            <a:off x="11185855" y="6428232"/>
            <a:ext cx="45720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100"/>
              <a:buNone/>
            </a:pPr>
            <a:fld id="{00000000-1234-1234-1234-123412341234}" type="slidenum">
              <a:rPr b="0" i="0" lang="en-US" sz="1100" u="none" cap="none" strike="noStrike">
                <a:solidFill>
                  <a:schemeClr val="accent4"/>
                </a:solidFill>
                <a:latin typeface="Quattrocento Sans"/>
                <a:ea typeface="Quattrocento Sans"/>
                <a:cs typeface="Quattrocento Sans"/>
                <a:sym typeface="Quattrocento Sans"/>
              </a:rPr>
              <a:t>‹#›</a:t>
            </a:fld>
            <a:endParaRPr b="0" i="0" sz="1100" u="none" cap="none" strike="noStrike">
              <a:solidFill>
                <a:schemeClr val="accent4"/>
              </a:solidFill>
              <a:latin typeface="Quattrocento Sans"/>
              <a:ea typeface="Quattrocento Sans"/>
              <a:cs typeface="Quattrocento Sans"/>
              <a:sym typeface="Quattrocento Sans"/>
            </a:endParaRPr>
          </a:p>
        </p:txBody>
      </p:sp>
    </p:spTree>
  </p:cSld>
  <p:clrMapOvr>
    <a:masterClrMapping/>
  </p:clrMapOvr>
</p:sld>
</file>

<file path=ppt/theme/theme1.xml><?xml version="1.0" encoding="utf-8"?>
<a:theme xmlns:a="http://schemas.openxmlformats.org/drawingml/2006/main" xmlns:r="http://schemas.openxmlformats.org/officeDocument/2006/relationships" name="ETICS universitaire">
  <a:themeElements>
    <a:clrScheme name="ETICS universitaire">
      <a:dk1>
        <a:srgbClr val="16181B"/>
      </a:dk1>
      <a:lt1>
        <a:srgbClr val="FFFFFF"/>
      </a:lt1>
      <a:dk2>
        <a:srgbClr val="1D2E5C"/>
      </a:dk2>
      <a:lt2>
        <a:srgbClr val="F9F9FB"/>
      </a:lt2>
      <a:accent1>
        <a:srgbClr val="3657C3"/>
      </a:accent1>
      <a:accent2>
        <a:srgbClr val="B4441A"/>
      </a:accent2>
      <a:accent3>
        <a:srgbClr val="EDF2FE"/>
      </a:accent3>
      <a:accent4>
        <a:srgbClr val="62636C"/>
      </a:accent4>
      <a:accent5>
        <a:srgbClr val="E0E1E6"/>
      </a:accent5>
      <a:accent6>
        <a:srgbClr val="5B3FA8"/>
      </a:accent6>
      <a:hlink>
        <a:srgbClr val="3657C3"/>
      </a:hlink>
      <a:folHlink>
        <a:srgbClr val="62636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ETICS universitaire">
  <a:themeElements>
    <a:clrScheme name="ETICS universitaire">
      <a:dk1>
        <a:srgbClr val="16181B"/>
      </a:dk1>
      <a:lt1>
        <a:srgbClr val="FFFFFF"/>
      </a:lt1>
      <a:dk2>
        <a:srgbClr val="1D2E5C"/>
      </a:dk2>
      <a:lt2>
        <a:srgbClr val="F9F9FB"/>
      </a:lt2>
      <a:accent1>
        <a:srgbClr val="3657C3"/>
      </a:accent1>
      <a:accent2>
        <a:srgbClr val="B4441A"/>
      </a:accent2>
      <a:accent3>
        <a:srgbClr val="EDF2FE"/>
      </a:accent3>
      <a:accent4>
        <a:srgbClr val="62636C"/>
      </a:accent4>
      <a:accent5>
        <a:srgbClr val="E0E1E6"/>
      </a:accent5>
      <a:accent6>
        <a:srgbClr val="5B3FA8"/>
      </a:accent6>
      <a:hlink>
        <a:srgbClr val="3657C3"/>
      </a:hlink>
      <a:folHlink>
        <a:srgbClr val="62636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